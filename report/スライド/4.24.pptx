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00" r:id="rId2"/>
    <p:sldId id="309" r:id="rId3"/>
    <p:sldId id="310" r:id="rId4"/>
    <p:sldId id="311" r:id="rId5"/>
    <p:sldId id="312" r:id="rId6"/>
    <p:sldId id="313" r:id="rId7"/>
    <p:sldId id="314" r:id="rId8"/>
    <p:sldId id="315" r:id="rId9"/>
    <p:sldId id="316" r:id="rId10"/>
    <p:sldId id="317" r:id="rId11"/>
    <p:sldId id="320" r:id="rId12"/>
    <p:sldId id="318" r:id="rId13"/>
    <p:sldId id="319" r:id="rId14"/>
    <p:sldId id="324" r:id="rId15"/>
    <p:sldId id="325" r:id="rId16"/>
    <p:sldId id="322" r:id="rId17"/>
    <p:sldId id="308"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061" autoAdjust="0"/>
  </p:normalViewPr>
  <p:slideViewPr>
    <p:cSldViewPr snapToGrid="0">
      <p:cViewPr varScale="1">
        <p:scale>
          <a:sx n="49" d="100"/>
          <a:sy n="49" d="100"/>
        </p:scale>
        <p:origin x="846"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595CE7-CED7-4DB8-936B-A085A8912BE4}" type="datetimeFigureOut">
              <a:rPr lang="zh-CN" altLang="en-US" smtClean="0"/>
              <a:t>2024/4/24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3530DB-82B1-4C9E-9881-3F9048813B19}" type="slidenum">
              <a:rPr lang="zh-CN" altLang="en-US" smtClean="0"/>
              <a:t>‹#›</a:t>
            </a:fld>
            <a:endParaRPr lang="zh-CN" altLang="en-US"/>
          </a:p>
        </p:txBody>
      </p:sp>
    </p:spTree>
    <p:extLst>
      <p:ext uri="{BB962C8B-B14F-4D97-AF65-F5344CB8AC3E}">
        <p14:creationId xmlns:p14="http://schemas.microsoft.com/office/powerpoint/2010/main" val="3160862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では、発表させていただきます。</a:t>
            </a:r>
            <a:endParaRPr dirty="0"/>
          </a:p>
        </p:txBody>
      </p:sp>
    </p:spTree>
    <p:extLst>
      <p:ext uri="{BB962C8B-B14F-4D97-AF65-F5344CB8AC3E}">
        <p14:creationId xmlns:p14="http://schemas.microsoft.com/office/powerpoint/2010/main" val="3000343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今回四つ部分に分けています。</a:t>
            </a:r>
            <a:endParaRPr dirty="0"/>
          </a:p>
        </p:txBody>
      </p:sp>
    </p:spTree>
    <p:extLst>
      <p:ext uri="{BB962C8B-B14F-4D97-AF65-F5344CB8AC3E}">
        <p14:creationId xmlns:p14="http://schemas.microsoft.com/office/powerpoint/2010/main" val="93568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ja-JP" altLang="en-US" sz="1200" dirty="0"/>
              <a:t>これまでの研究では、セグメンテーションに深層学習の畳み込みニューラルネットワーク（</a:t>
            </a:r>
            <a:r>
              <a:rPr lang="en-US" altLang="ja-JP" sz="1200" dirty="0"/>
              <a:t>CNN</a:t>
            </a:r>
            <a:r>
              <a:rPr lang="ja-JP" altLang="en-US" sz="1200" dirty="0"/>
              <a:t>）を用いることが一般的であったが、計算原理の制限で、画像の全体的な情報を抽出することが困難である。 </a:t>
            </a:r>
            <a:endParaRPr lang="en-US" altLang="ja-JP" sz="1200" dirty="0"/>
          </a:p>
          <a:p>
            <a:r>
              <a:rPr lang="ja-JP" altLang="en-US" sz="1200" dirty="0"/>
              <a:t>近年、</a:t>
            </a:r>
            <a:r>
              <a:rPr lang="en-US" altLang="zh-CN" sz="1200" dirty="0"/>
              <a:t>Transformer</a:t>
            </a:r>
            <a:r>
              <a:rPr lang="ja-JP" altLang="en-US" sz="1200" dirty="0"/>
              <a:t>に基づく新たなモデルが提案され、医療画像セグメンテーション分野への応用が可能になった。</a:t>
            </a:r>
            <a:endParaRPr lang="en-US" altLang="ja-JP" sz="1200" dirty="0"/>
          </a:p>
          <a:p>
            <a:r>
              <a:rPr lang="ja-JP" altLang="en-US" sz="1200" dirty="0"/>
              <a:t>本研究では、</a:t>
            </a:r>
            <a:r>
              <a:rPr lang="en-US" altLang="ja-JP" sz="1200" dirty="0"/>
              <a:t>TransUnet</a:t>
            </a:r>
            <a:r>
              <a:rPr lang="ja-JP" altLang="en-US" sz="1200" dirty="0"/>
              <a:t>、</a:t>
            </a:r>
            <a:r>
              <a:rPr lang="en-US" altLang="ja-JP" sz="1200" dirty="0" err="1"/>
              <a:t>SwinTransformer</a:t>
            </a:r>
            <a:r>
              <a:rPr lang="ja-JP" altLang="en-US" sz="1200" dirty="0"/>
              <a:t>、</a:t>
            </a:r>
            <a:r>
              <a:rPr lang="en-US" altLang="ja-JP" sz="1200" dirty="0" err="1"/>
              <a:t>TransDeeplab</a:t>
            </a:r>
            <a:r>
              <a:rPr lang="ja-JP" altLang="en-US" sz="1200" dirty="0"/>
              <a:t>、</a:t>
            </a:r>
            <a:r>
              <a:rPr lang="en-US" altLang="ja-JP" sz="1200" dirty="0" err="1"/>
              <a:t>DeepTransUnet</a:t>
            </a:r>
            <a:r>
              <a:rPr lang="ja-JP" altLang="en-US" sz="1200" dirty="0"/>
              <a:t>をベースに、</a:t>
            </a:r>
            <a:r>
              <a:rPr lang="en-US" altLang="ja-JP" sz="1200" dirty="0"/>
              <a:t>CNN</a:t>
            </a:r>
            <a:r>
              <a:rPr lang="ja-JP" altLang="en-US" sz="1200" dirty="0"/>
              <a:t>と</a:t>
            </a:r>
            <a:r>
              <a:rPr lang="en-US" altLang="zh-CN" sz="1200" dirty="0"/>
              <a:t>T</a:t>
            </a:r>
            <a:r>
              <a:rPr lang="en-US" altLang="ja-JP" sz="1200" dirty="0"/>
              <a:t>ransformer</a:t>
            </a:r>
            <a:r>
              <a:rPr lang="ja-JP" altLang="en-US" sz="1200" dirty="0"/>
              <a:t>の長所を組み合わせた</a:t>
            </a:r>
            <a:r>
              <a:rPr lang="en-US" altLang="ja-JP" sz="1200" dirty="0"/>
              <a:t>3</a:t>
            </a:r>
            <a:r>
              <a:rPr lang="ja-JP" altLang="en-US" sz="1200" dirty="0"/>
              <a:t>つの新しいアーキテクチャを提案し、</a:t>
            </a:r>
            <a:r>
              <a:rPr lang="en-US" altLang="ja-JP" sz="1200" dirty="0"/>
              <a:t>ISLES2018</a:t>
            </a:r>
            <a:r>
              <a:rPr lang="ja-JP" altLang="en-US" sz="1200" dirty="0"/>
              <a:t>データセットで評価する予定である。</a:t>
            </a:r>
            <a:endParaRPr lang="en-US" altLang="ja-JP" sz="1200" dirty="0"/>
          </a:p>
        </p:txBody>
      </p:sp>
    </p:spTree>
    <p:extLst>
      <p:ext uri="{BB962C8B-B14F-4D97-AF65-F5344CB8AC3E}">
        <p14:creationId xmlns:p14="http://schemas.microsoft.com/office/powerpoint/2010/main" val="4066575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まず、従来研究を簡単に説明します。</a:t>
            </a:r>
            <a:endParaRPr dirty="0"/>
          </a:p>
        </p:txBody>
      </p:sp>
    </p:spTree>
    <p:extLst>
      <p:ext uri="{BB962C8B-B14F-4D97-AF65-F5344CB8AC3E}">
        <p14:creationId xmlns:p14="http://schemas.microsoft.com/office/powerpoint/2010/main" val="4000570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Lenet</a:t>
            </a:r>
            <a:r>
              <a:rPr lang="ja-JP" altLang="en-US" dirty="0"/>
              <a:t>は手書き数字を認識するタスクを解決するために</a:t>
            </a:r>
            <a:r>
              <a:rPr lang="en-US" altLang="ja-JP" dirty="0"/>
              <a:t>1998</a:t>
            </a:r>
            <a:r>
              <a:rPr lang="ja-JP" altLang="en-US" dirty="0"/>
              <a:t>年に提案されました。 その特徴は、各層が畳み込み、プーリング、非線形活性化関数（</a:t>
            </a:r>
            <a:r>
              <a:rPr lang="en-US" altLang="ja-JP" dirty="0"/>
              <a:t>Tanh</a:t>
            </a:r>
            <a:r>
              <a:rPr lang="ja-JP" altLang="en-US" dirty="0"/>
              <a:t>）を含み、畳み込みカーネルを用いて特徴を抽出し、最後に分類器として</a:t>
            </a:r>
            <a:r>
              <a:rPr lang="en-US" altLang="ja-JP" dirty="0"/>
              <a:t>MLP</a:t>
            </a:r>
            <a:r>
              <a:rPr lang="ja-JP" altLang="en-US" dirty="0"/>
              <a:t>を用いることです。 </a:t>
            </a:r>
            <a:endParaRPr lang="en-US" altLang="ja-JP" dirty="0"/>
          </a:p>
          <a:p>
            <a:pPr marL="0" lvl="0" indent="0" algn="l" rtl="0">
              <a:spcBef>
                <a:spcPts val="0"/>
              </a:spcBef>
              <a:spcAft>
                <a:spcPts val="0"/>
              </a:spcAft>
              <a:buNone/>
            </a:pPr>
            <a:r>
              <a:rPr lang="ja-JP" altLang="en-US" dirty="0"/>
              <a:t>残念ながら、当時の計算能力の制限で、効果は十分ではなく、注目されることはなりませんでした。</a:t>
            </a:r>
            <a:endParaRPr dirty="0"/>
          </a:p>
        </p:txBody>
      </p:sp>
    </p:spTree>
    <p:extLst>
      <p:ext uri="{BB962C8B-B14F-4D97-AF65-F5344CB8AC3E}">
        <p14:creationId xmlns:p14="http://schemas.microsoft.com/office/powerpoint/2010/main" val="432228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2012</a:t>
            </a:r>
            <a:r>
              <a:rPr lang="ja-JP" altLang="en-US" dirty="0"/>
              <a:t>年の</a:t>
            </a:r>
            <a:r>
              <a:rPr lang="en-US" altLang="ja-JP" dirty="0"/>
              <a:t>ImageNet</a:t>
            </a:r>
            <a:r>
              <a:rPr lang="ja-JP" altLang="en-US" dirty="0"/>
              <a:t>コンペティションで、</a:t>
            </a:r>
            <a:r>
              <a:rPr lang="en-US" altLang="ja-JP" dirty="0"/>
              <a:t>AlexNet</a:t>
            </a:r>
            <a:r>
              <a:rPr lang="ja-JP" altLang="en-US" dirty="0"/>
              <a:t>は</a:t>
            </a:r>
            <a:r>
              <a:rPr lang="en-US" altLang="ja-JP" dirty="0"/>
              <a:t>11</a:t>
            </a:r>
            <a:r>
              <a:rPr lang="ja-JP" altLang="en-US" dirty="0"/>
              <a:t>％のマージンで優勝し、コンピュータビジョンモデルが学術的（がくじゅつてき）デモから商業製品へと転換する節目（ふしめ）となりました。</a:t>
            </a:r>
            <a:endParaRPr lang="en-US" altLang="ja-JP" dirty="0"/>
          </a:p>
          <a:p>
            <a:pPr marL="0" lvl="0" indent="0" algn="l" rtl="0">
              <a:spcBef>
                <a:spcPts val="0"/>
              </a:spcBef>
              <a:spcAft>
                <a:spcPts val="0"/>
              </a:spcAft>
              <a:buNone/>
            </a:pPr>
            <a:r>
              <a:rPr lang="en-US" altLang="ja-JP" dirty="0"/>
              <a:t>AlexNet</a:t>
            </a:r>
            <a:r>
              <a:rPr lang="ja-JP" altLang="en-US" dirty="0"/>
              <a:t>は</a:t>
            </a:r>
            <a:r>
              <a:rPr lang="en-US" altLang="ja-JP" dirty="0"/>
              <a:t>8</a:t>
            </a:r>
            <a:r>
              <a:rPr lang="ja-JP" altLang="en-US" dirty="0"/>
              <a:t>層の深い</a:t>
            </a:r>
            <a:r>
              <a:rPr lang="en-US" altLang="ja-JP" dirty="0"/>
              <a:t>CNN</a:t>
            </a:r>
            <a:r>
              <a:rPr lang="ja-JP" altLang="en-US" dirty="0"/>
              <a:t>ネットワークで、</a:t>
            </a:r>
            <a:r>
              <a:rPr lang="en-US" altLang="ja-JP" dirty="0"/>
              <a:t>5</a:t>
            </a:r>
            <a:r>
              <a:rPr lang="ja-JP" altLang="en-US" dirty="0"/>
              <a:t>つの畳み込み層と</a:t>
            </a:r>
            <a:r>
              <a:rPr lang="en-US" altLang="ja-JP" dirty="0"/>
              <a:t>3</a:t>
            </a:r>
            <a:r>
              <a:rPr lang="ja-JP" altLang="en-US" dirty="0"/>
              <a:t>つの</a:t>
            </a:r>
            <a:r>
              <a:rPr lang="en-US" altLang="ja-JP" dirty="0"/>
              <a:t>Full-Connection</a:t>
            </a:r>
            <a:r>
              <a:rPr lang="ja-JP" altLang="en-US" dirty="0"/>
              <a:t>から構成されています。</a:t>
            </a:r>
            <a:endParaRPr lang="en-US" altLang="ja-JP" dirty="0"/>
          </a:p>
          <a:p>
            <a:pPr marL="0" lvl="0" indent="0" algn="l" rtl="0">
              <a:spcBef>
                <a:spcPts val="0"/>
              </a:spcBef>
              <a:spcAft>
                <a:spcPts val="0"/>
              </a:spcAft>
              <a:buNone/>
            </a:pPr>
            <a:r>
              <a:rPr lang="en-US" altLang="ja-JP" dirty="0"/>
              <a:t>Lenet</a:t>
            </a:r>
            <a:r>
              <a:rPr lang="ja-JP" altLang="en-US" dirty="0"/>
              <a:t>と比較して、</a:t>
            </a:r>
            <a:r>
              <a:rPr lang="en-US" altLang="ja-JP" dirty="0"/>
              <a:t>ReLU</a:t>
            </a:r>
            <a:r>
              <a:rPr lang="ja-JP" altLang="en-US" dirty="0"/>
              <a:t>を活性化関数として使用したこと、過学習を防ぐために</a:t>
            </a:r>
            <a:r>
              <a:rPr lang="en-US" altLang="ja-JP" dirty="0"/>
              <a:t>Dropout</a:t>
            </a:r>
            <a:r>
              <a:rPr lang="ja-JP" altLang="en-US" dirty="0"/>
              <a:t>を使用したこと、</a:t>
            </a:r>
            <a:r>
              <a:rPr lang="en-US" altLang="ja-JP" dirty="0"/>
              <a:t>GPU</a:t>
            </a:r>
            <a:r>
              <a:rPr lang="ja-JP" altLang="en-US" dirty="0"/>
              <a:t>を利用して訓練を加速したことが主な貢献です。</a:t>
            </a:r>
            <a:endParaRPr dirty="0"/>
          </a:p>
        </p:txBody>
      </p:sp>
    </p:spTree>
    <p:extLst>
      <p:ext uri="{BB962C8B-B14F-4D97-AF65-F5344CB8AC3E}">
        <p14:creationId xmlns:p14="http://schemas.microsoft.com/office/powerpoint/2010/main" val="2788224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VGG</a:t>
            </a:r>
            <a:r>
              <a:rPr lang="ja-JP" altLang="en-US" dirty="0"/>
              <a:t>モデルは、</a:t>
            </a:r>
            <a:r>
              <a:rPr lang="en-US" altLang="ja-JP" dirty="0"/>
              <a:t>AlexNet</a:t>
            </a:r>
            <a:r>
              <a:rPr lang="ja-JP" altLang="en-US" dirty="0"/>
              <a:t>の基礎の上で新しいアプローチを提案しました。</a:t>
            </a:r>
            <a:endParaRPr lang="en-US" altLang="ja-JP" dirty="0"/>
          </a:p>
          <a:p>
            <a:pPr marL="0" lvl="0" indent="0" algn="l" rtl="0">
              <a:spcBef>
                <a:spcPts val="0"/>
              </a:spcBef>
              <a:spcAft>
                <a:spcPts val="0"/>
              </a:spcAft>
              <a:buNone/>
            </a:pPr>
            <a:r>
              <a:rPr lang="ja-JP" altLang="en-US" dirty="0"/>
              <a:t>大きな畳み込みカーネルを使用する代わりに、複数の小さな畳み込みカーネルを積み重ねることで、計算コストを削減しました。</a:t>
            </a:r>
            <a:endParaRPr lang="en-US" altLang="ja-JP" dirty="0"/>
          </a:p>
          <a:p>
            <a:pPr marL="0" lvl="0" indent="0" algn="l" rtl="0">
              <a:spcBef>
                <a:spcPts val="0"/>
              </a:spcBef>
              <a:spcAft>
                <a:spcPts val="0"/>
              </a:spcAft>
              <a:buNone/>
            </a:pPr>
            <a:r>
              <a:rPr lang="ja-JP" altLang="en-US" dirty="0"/>
              <a:t>このような手法は今日でもよく使われている。</a:t>
            </a:r>
            <a:endParaRPr lang="en-US" altLang="ja-JP" dirty="0"/>
          </a:p>
          <a:p>
            <a:pPr marL="0" lvl="0" indent="0" algn="l" rtl="0">
              <a:spcBef>
                <a:spcPts val="0"/>
              </a:spcBef>
              <a:spcAft>
                <a:spcPts val="0"/>
              </a:spcAft>
              <a:buNone/>
            </a:pPr>
            <a:r>
              <a:rPr lang="ja-JP" altLang="en-US" dirty="0"/>
              <a:t>このモデルは当時最もバランスが取れており、最も効果的な分類ネットワークの一つでした。</a:t>
            </a:r>
            <a:endParaRPr dirty="0"/>
          </a:p>
        </p:txBody>
      </p:sp>
    </p:spTree>
    <p:extLst>
      <p:ext uri="{BB962C8B-B14F-4D97-AF65-F5344CB8AC3E}">
        <p14:creationId xmlns:p14="http://schemas.microsoft.com/office/powerpoint/2010/main" val="2890211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FCN</a:t>
            </a:r>
            <a:r>
              <a:rPr lang="ja-JP" altLang="en-US" dirty="0"/>
              <a:t>は、セグメンテーション分野の先駆け（さきがけ）とされています。</a:t>
            </a:r>
            <a:endParaRPr lang="en-US" altLang="ja-JP" dirty="0"/>
          </a:p>
          <a:p>
            <a:pPr marL="0" lvl="0" indent="0" algn="l" rtl="0">
              <a:spcBef>
                <a:spcPts val="0"/>
              </a:spcBef>
              <a:spcAft>
                <a:spcPts val="0"/>
              </a:spcAft>
              <a:buNone/>
            </a:pPr>
            <a:r>
              <a:rPr lang="ja-JP" altLang="en-US" dirty="0"/>
              <a:t>以前提案された</a:t>
            </a:r>
            <a:r>
              <a:rPr lang="en-US" altLang="ja-JP" dirty="0"/>
              <a:t>VGG</a:t>
            </a:r>
            <a:r>
              <a:rPr lang="ja-JP" altLang="en-US" dirty="0"/>
              <a:t>などの畳み込み層＋</a:t>
            </a:r>
            <a:r>
              <a:rPr lang="en-US" altLang="ja-JP" dirty="0"/>
              <a:t>Full-Connection</a:t>
            </a:r>
            <a:r>
              <a:rPr lang="ja-JP" altLang="en-US" dirty="0"/>
              <a:t>のネットワーク構造と比較して、</a:t>
            </a:r>
            <a:r>
              <a:rPr lang="en-US" altLang="ja-JP" dirty="0"/>
              <a:t>FCN</a:t>
            </a:r>
            <a:r>
              <a:rPr lang="ja-JP" altLang="en-US" dirty="0"/>
              <a:t>は</a:t>
            </a:r>
            <a:r>
              <a:rPr lang="en-US" altLang="ja-JP" dirty="0"/>
              <a:t>Full-Connection</a:t>
            </a:r>
            <a:r>
              <a:rPr lang="ja-JP" altLang="en-US" dirty="0"/>
              <a:t>を畳み込み層で置き換えてセグメンテーション問題を処理することを提案しました。</a:t>
            </a:r>
            <a:endParaRPr lang="en-US" altLang="ja-JP" dirty="0"/>
          </a:p>
          <a:p>
            <a:pPr marL="0" lvl="0" indent="0" algn="l" rtl="0">
              <a:spcBef>
                <a:spcPts val="0"/>
              </a:spcBef>
              <a:spcAft>
                <a:spcPts val="0"/>
              </a:spcAft>
              <a:buNone/>
            </a:pPr>
            <a:r>
              <a:rPr lang="ja-JP" altLang="en-US" dirty="0"/>
              <a:t>このような変更することで、モデルの最終出力が一次元から二次元に変わり、その二次元出力の各ピクセルをソフトマックス分類することで最後の結果が得られます。</a:t>
            </a:r>
            <a:endParaRPr lang="en-US" altLang="ja-JP" dirty="0"/>
          </a:p>
          <a:p>
            <a:pPr marL="0" lvl="0" indent="0" algn="l" rtl="0">
              <a:spcBef>
                <a:spcPts val="0"/>
              </a:spcBef>
              <a:spcAft>
                <a:spcPts val="0"/>
              </a:spcAft>
              <a:buNone/>
            </a:pPr>
            <a:r>
              <a:rPr lang="ja-JP" altLang="en-US" dirty="0"/>
              <a:t>さらに、</a:t>
            </a:r>
            <a:r>
              <a:rPr lang="en-US" altLang="ja-JP" dirty="0"/>
              <a:t>FCN</a:t>
            </a:r>
            <a:r>
              <a:rPr lang="ja-JP" altLang="en-US" dirty="0"/>
              <a:t>は特徴融合（ゆうごう）のための</a:t>
            </a:r>
            <a:r>
              <a:rPr lang="en-US" altLang="ja-JP" dirty="0"/>
              <a:t>Skip-connection</a:t>
            </a:r>
            <a:r>
              <a:rPr lang="ja-JP" altLang="en-US" dirty="0"/>
              <a:t>も提案し、以降のセグメンテーション分野に大きな影響を与えました。</a:t>
            </a:r>
            <a:endParaRPr dirty="0"/>
          </a:p>
        </p:txBody>
      </p:sp>
    </p:spTree>
    <p:extLst>
      <p:ext uri="{BB962C8B-B14F-4D97-AF65-F5344CB8AC3E}">
        <p14:creationId xmlns:p14="http://schemas.microsoft.com/office/powerpoint/2010/main" val="3499416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早期の深層学習に基づく画像セグメンテーションは、</a:t>
            </a:r>
            <a:r>
              <a:rPr lang="en-US" altLang="ja-JP" dirty="0"/>
              <a:t>FCN</a:t>
            </a:r>
            <a:r>
              <a:rPr lang="ja-JP" altLang="en-US" dirty="0"/>
              <a:t>を中心に展開され、畳み込みのダウンサンプリングから情報の損失をどう回復するかに焦点（しょうてん）を当てていました。</a:t>
            </a:r>
            <a:endParaRPr lang="en-US" altLang="ja-JP" dirty="0"/>
          </a:p>
          <a:p>
            <a:pPr marL="0" lvl="0" indent="0" algn="l" rtl="0">
              <a:spcBef>
                <a:spcPts val="0"/>
              </a:spcBef>
              <a:spcAft>
                <a:spcPts val="0"/>
              </a:spcAft>
              <a:buNone/>
            </a:pPr>
            <a:r>
              <a:rPr lang="ja-JP" altLang="en-US" dirty="0"/>
              <a:t>その後、</a:t>
            </a:r>
            <a:r>
              <a:rPr lang="en-US" altLang="ja-JP" dirty="0" err="1"/>
              <a:t>UNet</a:t>
            </a:r>
            <a:r>
              <a:rPr lang="ja-JP" altLang="en-US" dirty="0"/>
              <a:t>を中心としたエンコーダーとデコーダーが対称（たいしょう）の</a:t>
            </a:r>
            <a:r>
              <a:rPr lang="en-US" altLang="ja-JP" dirty="0"/>
              <a:t>U</a:t>
            </a:r>
            <a:r>
              <a:rPr lang="ja-JP" altLang="en-US" dirty="0"/>
              <a:t>字型（</a:t>
            </a:r>
            <a:r>
              <a:rPr lang="en-US" altLang="ja-JP" dirty="0"/>
              <a:t>U</a:t>
            </a:r>
            <a:r>
              <a:rPr lang="ja-JP" altLang="en-US" dirty="0"/>
              <a:t>じがた）構造が徐々に形成されました。</a:t>
            </a:r>
            <a:endParaRPr lang="en-US" altLang="ja-JP" dirty="0"/>
          </a:p>
          <a:p>
            <a:pPr marL="0" lvl="0" indent="0" algn="l" rtl="0">
              <a:spcBef>
                <a:spcPts val="0"/>
              </a:spcBef>
              <a:spcAft>
                <a:spcPts val="0"/>
              </a:spcAft>
              <a:buNone/>
            </a:pPr>
            <a:r>
              <a:rPr lang="en-US" altLang="ja-JP" dirty="0" err="1"/>
              <a:t>UNet</a:t>
            </a:r>
            <a:r>
              <a:rPr lang="ja-JP" altLang="en-US" dirty="0"/>
              <a:t>のキーは、エンコーダーの特徴抽出、デコーダーの情報回復、そして</a:t>
            </a:r>
            <a:r>
              <a:rPr lang="en-US" altLang="ja-JP" dirty="0"/>
              <a:t>Skip-connection</a:t>
            </a:r>
            <a:r>
              <a:rPr lang="ja-JP" altLang="en-US" dirty="0"/>
              <a:t>による特徴融合（ゆうごう）の三部分に分かれています。</a:t>
            </a:r>
            <a:endParaRPr lang="en-US" altLang="ja-JP" dirty="0"/>
          </a:p>
          <a:p>
            <a:pPr marL="0" lvl="0" indent="0" algn="l" rtl="0">
              <a:spcBef>
                <a:spcPts val="0"/>
              </a:spcBef>
              <a:spcAft>
                <a:spcPts val="0"/>
              </a:spcAft>
              <a:buNone/>
            </a:pPr>
            <a:r>
              <a:rPr lang="ja-JP" altLang="en-US" dirty="0"/>
              <a:t>浅い層のダウンサンプリングの倍率が小さく、特徴マップはより詳細（しょうさい）な特徴を持っています。</a:t>
            </a:r>
            <a:endParaRPr lang="en-US" altLang="ja-JP" dirty="0"/>
          </a:p>
          <a:p>
            <a:pPr marL="0" lvl="0" indent="0" algn="l" rtl="0">
              <a:spcBef>
                <a:spcPts val="0"/>
              </a:spcBef>
              <a:spcAft>
                <a:spcPts val="0"/>
              </a:spcAft>
              <a:buNone/>
            </a:pPr>
            <a:r>
              <a:rPr lang="ja-JP" altLang="en-US" dirty="0"/>
              <a:t>深い層のダウンサンプリングの倍率が高く、情報が大量に圧縮され、空間の損失が大きいですが、目標領域（りょういき）の分類に役立ちます。</a:t>
            </a:r>
            <a:endParaRPr lang="en-US" altLang="ja-JP" dirty="0"/>
          </a:p>
          <a:p>
            <a:pPr marL="0" lvl="0" indent="0" algn="l" rtl="0">
              <a:spcBef>
                <a:spcPts val="0"/>
              </a:spcBef>
              <a:spcAft>
                <a:spcPts val="0"/>
              </a:spcAft>
              <a:buNone/>
            </a:pPr>
            <a:r>
              <a:rPr lang="ja-JP" altLang="en-US" dirty="0"/>
              <a:t>浅い層と深い層の特徴が融合（ゆうごう）すると、セグメンテーション効果は非常に良くなります。</a:t>
            </a:r>
            <a:endParaRPr lang="en-US" altLang="ja-JP" dirty="0"/>
          </a:p>
          <a:p>
            <a:pPr marL="0" lvl="0" indent="0" algn="l" rtl="0">
              <a:spcBef>
                <a:spcPts val="0"/>
              </a:spcBef>
              <a:spcAft>
                <a:spcPts val="0"/>
              </a:spcAft>
              <a:buNone/>
            </a:pPr>
            <a:r>
              <a:rPr lang="en-US" altLang="ja-JP" dirty="0"/>
              <a:t>2015</a:t>
            </a:r>
            <a:r>
              <a:rPr lang="ja-JP" altLang="en-US" dirty="0"/>
              <a:t>年から現在まで、医療セグメンテーション分野のモデル設計は基本的にこの構造に基づいています。</a:t>
            </a:r>
            <a:endParaRPr dirty="0"/>
          </a:p>
        </p:txBody>
      </p:sp>
    </p:spTree>
    <p:extLst>
      <p:ext uri="{BB962C8B-B14F-4D97-AF65-F5344CB8AC3E}">
        <p14:creationId xmlns:p14="http://schemas.microsoft.com/office/powerpoint/2010/main" val="2138335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2017</a:t>
            </a:r>
            <a:r>
              <a:rPr lang="ja-JP" altLang="en-US" dirty="0"/>
              <a:t>年に提案された</a:t>
            </a:r>
            <a:r>
              <a:rPr lang="en-US" altLang="ja-JP" dirty="0"/>
              <a:t>Transformer</a:t>
            </a:r>
            <a:r>
              <a:rPr lang="ja-JP" altLang="en-US" dirty="0"/>
              <a:t>は、特徴抽出の新たな方法を提案しました。</a:t>
            </a:r>
            <a:endParaRPr lang="en-US" altLang="ja-JP" dirty="0"/>
          </a:p>
          <a:p>
            <a:pPr marL="0" lvl="0" indent="0" algn="l" rtl="0">
              <a:spcBef>
                <a:spcPts val="0"/>
              </a:spcBef>
              <a:spcAft>
                <a:spcPts val="0"/>
              </a:spcAft>
              <a:buNone/>
            </a:pPr>
            <a:r>
              <a:rPr lang="en-US" altLang="ja-JP" dirty="0"/>
              <a:t>attention</a:t>
            </a:r>
            <a:r>
              <a:rPr lang="ja-JP" altLang="en-US" dirty="0"/>
              <a:t>機構は、入力シーケンス中の各要素が現在の出力に対する貢献を計算することで、モデルが最も重要な部分に集中するようにします。</a:t>
            </a:r>
            <a:endParaRPr lang="en-US" altLang="ja-JP" dirty="0"/>
          </a:p>
          <a:p>
            <a:pPr marL="0" lvl="0" indent="0" algn="l" rtl="0">
              <a:spcBef>
                <a:spcPts val="0"/>
              </a:spcBef>
              <a:spcAft>
                <a:spcPts val="0"/>
              </a:spcAft>
              <a:buNone/>
            </a:pPr>
            <a:r>
              <a:rPr lang="en-US" altLang="ja-JP" dirty="0"/>
              <a:t>Self-attention</a:t>
            </a:r>
            <a:r>
              <a:rPr lang="ja-JP" altLang="en-US" dirty="0"/>
              <a:t>機構は、シーケンス内の長距離依存関係をより直接的に捕捉し（ほそく）、入力の全体的な特徴を抽出することができます。</a:t>
            </a:r>
            <a:endParaRPr lang="en-US" altLang="ja-JP" dirty="0"/>
          </a:p>
          <a:p>
            <a:pPr marL="0" lvl="0" indent="0" algn="l" rtl="0">
              <a:spcBef>
                <a:spcPts val="0"/>
              </a:spcBef>
              <a:spcAft>
                <a:spcPts val="0"/>
              </a:spcAft>
              <a:buNone/>
            </a:pPr>
            <a:r>
              <a:rPr lang="ja-JP" altLang="en-US" dirty="0"/>
              <a:t>これに対して、</a:t>
            </a:r>
            <a:r>
              <a:rPr lang="en-US" altLang="ja-JP" dirty="0"/>
              <a:t>CNN</a:t>
            </a:r>
            <a:r>
              <a:rPr lang="ja-JP" altLang="en-US" dirty="0"/>
              <a:t>ネットワークは、低層（ていそう）特徴や視覚構造の抽出に大きな利点があります。</a:t>
            </a:r>
            <a:endParaRPr lang="en-US" altLang="ja-JP" dirty="0"/>
          </a:p>
          <a:p>
            <a:pPr marL="0" lvl="0" indent="0" algn="l" rtl="0">
              <a:spcBef>
                <a:spcPts val="0"/>
              </a:spcBef>
              <a:spcAft>
                <a:spcPts val="0"/>
              </a:spcAft>
              <a:buNone/>
            </a:pPr>
            <a:r>
              <a:rPr lang="ja-JP" altLang="en-US" dirty="0"/>
              <a:t>これらの低層特徴は、パッチレベルでのキーポイント、線、およびいくつかの基本的な画像構造を構成しており、平行（へいこう）移動や回転などの変換に対する一貫性など、明確（めいかく）な幾何学的（きかがく）特性を持っています。</a:t>
            </a:r>
            <a:endParaRPr lang="en-US" altLang="ja-JP" dirty="0"/>
          </a:p>
          <a:p>
            <a:pPr marL="0" lvl="0" indent="0" algn="l" rtl="0">
              <a:spcBef>
                <a:spcPts val="0"/>
              </a:spcBef>
              <a:spcAft>
                <a:spcPts val="0"/>
              </a:spcAft>
              <a:buNone/>
            </a:pPr>
            <a:r>
              <a:rPr lang="ja-JP" altLang="en-US" dirty="0"/>
              <a:t>近年の研究によると、両者を組み合わせることで、画像特徴をより良く抽出し、モデルの精度を向上（こうじょう）させることができます。</a:t>
            </a:r>
          </a:p>
          <a:p>
            <a:pPr marL="0" lvl="0" indent="0" algn="l" rtl="0">
              <a:spcBef>
                <a:spcPts val="0"/>
              </a:spcBef>
              <a:spcAft>
                <a:spcPts val="0"/>
              </a:spcAft>
              <a:buNone/>
            </a:pPr>
            <a:r>
              <a:rPr lang="en-US" altLang="ja-JP" dirty="0"/>
              <a:t>ViT</a:t>
            </a:r>
            <a:r>
              <a:rPr lang="ja-JP" altLang="en-US" dirty="0"/>
              <a:t>は、</a:t>
            </a:r>
            <a:r>
              <a:rPr lang="en-US" altLang="ja-JP" dirty="0"/>
              <a:t>Transformer</a:t>
            </a:r>
            <a:r>
              <a:rPr lang="ja-JP" altLang="en-US" dirty="0"/>
              <a:t>を視覚領域に適用したもので、画像をブロックに分割（ぶんかつ）し、</a:t>
            </a:r>
            <a:r>
              <a:rPr lang="en-US" altLang="ja-JP" dirty="0"/>
              <a:t>Position </a:t>
            </a:r>
            <a:r>
              <a:rPr lang="en-US" altLang="ja-JP" dirty="0" err="1"/>
              <a:t>Rmbedding</a:t>
            </a:r>
            <a:r>
              <a:rPr lang="ja-JP" altLang="en-US" dirty="0"/>
              <a:t>を通じて位置情報を保持しながら計算を行うことで、</a:t>
            </a:r>
            <a:r>
              <a:rPr lang="en-US" altLang="ja-JP" dirty="0"/>
              <a:t>Transformer</a:t>
            </a:r>
            <a:r>
              <a:rPr lang="ja-JP" altLang="en-US" dirty="0"/>
              <a:t>と基本的に同様の設計をしています。</a:t>
            </a:r>
            <a:endParaRPr lang="en-US" altLang="ja-JP" dirty="0"/>
          </a:p>
          <a:p>
            <a:pPr marL="0" lvl="0" indent="0" algn="l" rtl="0">
              <a:spcBef>
                <a:spcPts val="0"/>
              </a:spcBef>
              <a:spcAft>
                <a:spcPts val="0"/>
              </a:spcAft>
              <a:buNone/>
            </a:pPr>
            <a:r>
              <a:rPr lang="ja-JP" altLang="en-US" dirty="0"/>
              <a:t>しかし、分割された各ブロックの間で情報の交換が行われないという問題があります。</a:t>
            </a:r>
            <a:endParaRPr dirty="0"/>
          </a:p>
        </p:txBody>
      </p:sp>
    </p:spTree>
    <p:extLst>
      <p:ext uri="{BB962C8B-B14F-4D97-AF65-F5344CB8AC3E}">
        <p14:creationId xmlns:p14="http://schemas.microsoft.com/office/powerpoint/2010/main" val="3757133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err="1"/>
              <a:t>Swin</a:t>
            </a:r>
            <a:r>
              <a:rPr lang="en-US" altLang="ja-JP" dirty="0"/>
              <a:t>-Transformer</a:t>
            </a:r>
            <a:r>
              <a:rPr lang="ja-JP" altLang="en-US" dirty="0"/>
              <a:t>は</a:t>
            </a:r>
            <a:r>
              <a:rPr lang="en-US" altLang="ja-JP" dirty="0"/>
              <a:t>2021</a:t>
            </a:r>
            <a:r>
              <a:rPr lang="ja-JP" altLang="en-US" dirty="0"/>
              <a:t>年の</a:t>
            </a:r>
            <a:r>
              <a:rPr lang="en-US" altLang="ja-JP" dirty="0"/>
              <a:t>ICCV</a:t>
            </a:r>
            <a:r>
              <a:rPr lang="ja-JP" altLang="en-US" dirty="0"/>
              <a:t>で最優秀論文賞を受賞しました。</a:t>
            </a:r>
            <a:endParaRPr lang="en-US" altLang="ja-JP" dirty="0"/>
          </a:p>
          <a:p>
            <a:pPr marL="0" lvl="0" indent="0" algn="l" rtl="0">
              <a:spcBef>
                <a:spcPts val="0"/>
              </a:spcBef>
              <a:spcAft>
                <a:spcPts val="0"/>
              </a:spcAft>
              <a:buNone/>
            </a:pPr>
            <a:r>
              <a:rPr lang="ja-JP" altLang="en-US" dirty="0"/>
              <a:t>このモデルは</a:t>
            </a:r>
            <a:r>
              <a:rPr lang="en-US" altLang="ja-JP" dirty="0"/>
              <a:t>shift-window self-attention</a:t>
            </a:r>
            <a:r>
              <a:rPr lang="ja-JP" altLang="en-US" dirty="0"/>
              <a:t>アーキテクチャを提案し、これによって異なるブロックの間で情報交換が可能となりました。</a:t>
            </a:r>
            <a:endParaRPr lang="en-US" altLang="ja-JP" dirty="0"/>
          </a:p>
          <a:p>
            <a:pPr marL="0" lvl="0" indent="0" algn="l" rtl="0">
              <a:spcBef>
                <a:spcPts val="0"/>
              </a:spcBef>
              <a:spcAft>
                <a:spcPts val="0"/>
              </a:spcAft>
              <a:buNone/>
            </a:pPr>
            <a:r>
              <a:rPr lang="ja-JP" altLang="en-US" dirty="0"/>
              <a:t>また、階層化された構築方法を使用することで、特徴抽出能力が強化されています。</a:t>
            </a:r>
            <a:endParaRPr lang="en-US" altLang="ja-JP" dirty="0"/>
          </a:p>
          <a:p>
            <a:pPr marL="0" lvl="0" indent="0" algn="l" rtl="0">
              <a:spcBef>
                <a:spcPts val="0"/>
              </a:spcBef>
              <a:spcAft>
                <a:spcPts val="0"/>
              </a:spcAft>
              <a:buNone/>
            </a:pPr>
            <a:r>
              <a:rPr lang="ja-JP" altLang="en-US" dirty="0"/>
              <a:t>これにより、以前の</a:t>
            </a:r>
            <a:r>
              <a:rPr lang="en-US" altLang="ja-JP" dirty="0"/>
              <a:t>Transformer</a:t>
            </a:r>
            <a:r>
              <a:rPr lang="ja-JP" altLang="en-US" dirty="0"/>
              <a:t>がコンピュータビジョン（</a:t>
            </a:r>
            <a:r>
              <a:rPr lang="en-US" altLang="ja-JP" dirty="0"/>
              <a:t>CV</a:t>
            </a:r>
            <a:r>
              <a:rPr lang="ja-JP" altLang="en-US" dirty="0"/>
              <a:t>）領域で適用された際の欠点が解決され、当時の視覚タスクで最高の精度を達成しました。</a:t>
            </a:r>
            <a:endParaRPr lang="en-US" altLang="ja-JP" dirty="0"/>
          </a:p>
          <a:p>
            <a:pPr marL="0" lvl="0" indent="0" algn="l" rtl="0">
              <a:spcBef>
                <a:spcPts val="0"/>
              </a:spcBef>
              <a:spcAft>
                <a:spcPts val="0"/>
              </a:spcAft>
              <a:buNone/>
            </a:pPr>
            <a:r>
              <a:rPr lang="en-US" altLang="ja-JP" dirty="0" err="1"/>
              <a:t>Swin</a:t>
            </a:r>
            <a:r>
              <a:rPr lang="en-US" altLang="ja-JP" dirty="0"/>
              <a:t>-Transformer</a:t>
            </a:r>
            <a:r>
              <a:rPr lang="ja-JP" altLang="en-US" dirty="0"/>
              <a:t>は、画像中の局部（きょくぶ）領域に対する計算を段階的に拡大することで、効率的かつ効果的な方法で特徴を集約（しゅうやく）し、</a:t>
            </a:r>
            <a:r>
              <a:rPr lang="en-US" altLang="ja-JP" dirty="0"/>
              <a:t>CV</a:t>
            </a:r>
            <a:r>
              <a:rPr lang="ja-JP" altLang="en-US" dirty="0"/>
              <a:t>タスクにおいて優れた（すぐれた）パフォーマンスを示します。</a:t>
            </a:r>
            <a:endParaRPr dirty="0"/>
          </a:p>
        </p:txBody>
      </p:sp>
    </p:spTree>
    <p:extLst>
      <p:ext uri="{BB962C8B-B14F-4D97-AF65-F5344CB8AC3E}">
        <p14:creationId xmlns:p14="http://schemas.microsoft.com/office/powerpoint/2010/main" val="299751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TransUnet</a:t>
            </a:r>
            <a:r>
              <a:rPr lang="ja-JP" altLang="en-US" dirty="0"/>
              <a:t>と</a:t>
            </a:r>
            <a:r>
              <a:rPr lang="en-US" altLang="ja-JP" dirty="0"/>
              <a:t>Swin-</a:t>
            </a:r>
            <a:r>
              <a:rPr lang="en-US" altLang="ja-JP" dirty="0" err="1"/>
              <a:t>Unet</a:t>
            </a:r>
            <a:r>
              <a:rPr lang="ja-JP" altLang="en-US" dirty="0"/>
              <a:t>は、最近</a:t>
            </a:r>
            <a:r>
              <a:rPr lang="en-US" altLang="ja-JP" dirty="0"/>
              <a:t>CNN</a:t>
            </a:r>
            <a:r>
              <a:rPr lang="ja-JP" altLang="en-US" dirty="0"/>
              <a:t>と</a:t>
            </a:r>
            <a:r>
              <a:rPr lang="en-US" altLang="ja-JP" dirty="0"/>
              <a:t>Transformer</a:t>
            </a:r>
            <a:r>
              <a:rPr lang="ja-JP" altLang="en-US" dirty="0"/>
              <a:t>を組み合わせる試み（こころみ）の一例です。</a:t>
            </a:r>
            <a:endParaRPr lang="en-US" altLang="ja-JP" dirty="0"/>
          </a:p>
          <a:p>
            <a:pPr marL="0" lvl="0" indent="0" algn="l" rtl="0">
              <a:spcBef>
                <a:spcPts val="0"/>
              </a:spcBef>
              <a:spcAft>
                <a:spcPts val="0"/>
              </a:spcAft>
              <a:buNone/>
            </a:pPr>
            <a:r>
              <a:rPr lang="en-US" altLang="ja-JP" dirty="0"/>
              <a:t>TransUnet</a:t>
            </a:r>
            <a:r>
              <a:rPr lang="ja-JP" altLang="en-US" dirty="0"/>
              <a:t>は、</a:t>
            </a:r>
            <a:r>
              <a:rPr lang="en-US" altLang="ja-JP" dirty="0"/>
              <a:t>Transformer</a:t>
            </a:r>
            <a:r>
              <a:rPr lang="ja-JP" altLang="en-US" dirty="0"/>
              <a:t>がもたらす細部（さいぶ）の損失を補う（おぎなう）ために、混合（こんごう）アーキテクチャを採用しています。</a:t>
            </a:r>
            <a:endParaRPr lang="en-US" altLang="ja-JP" dirty="0"/>
          </a:p>
          <a:p>
            <a:pPr marL="0" lvl="0" indent="0" algn="l" rtl="0">
              <a:spcBef>
                <a:spcPts val="0"/>
              </a:spcBef>
              <a:spcAft>
                <a:spcPts val="0"/>
              </a:spcAft>
              <a:buNone/>
            </a:pPr>
            <a:r>
              <a:rPr lang="ja-JP" altLang="en-US" dirty="0"/>
              <a:t>まず</a:t>
            </a:r>
            <a:r>
              <a:rPr lang="en-US" altLang="ja-JP" dirty="0"/>
              <a:t>CNN</a:t>
            </a:r>
            <a:r>
              <a:rPr lang="ja-JP" altLang="en-US" dirty="0"/>
              <a:t>を用いて細部（さいぶ）特徴を抽出し、その後で</a:t>
            </a:r>
            <a:r>
              <a:rPr lang="en-US" altLang="ja-JP" dirty="0"/>
              <a:t>Transformer</a:t>
            </a:r>
            <a:r>
              <a:rPr lang="ja-JP" altLang="en-US" dirty="0"/>
              <a:t>を用いて全体的な分析を行います。</a:t>
            </a:r>
            <a:endParaRPr lang="en-US" altLang="ja-JP" dirty="0"/>
          </a:p>
          <a:p>
            <a:pPr marL="0" lvl="0" indent="0" algn="l" rtl="0">
              <a:spcBef>
                <a:spcPts val="0"/>
              </a:spcBef>
              <a:spcAft>
                <a:spcPts val="0"/>
              </a:spcAft>
              <a:buNone/>
            </a:pPr>
            <a:r>
              <a:rPr lang="ja-JP" altLang="en-US" dirty="0"/>
              <a:t>このモデルでは、</a:t>
            </a:r>
            <a:r>
              <a:rPr lang="en-US" altLang="ja-JP" dirty="0"/>
              <a:t>Unet</a:t>
            </a:r>
            <a:r>
              <a:rPr lang="ja-JP" altLang="en-US" dirty="0"/>
              <a:t>の</a:t>
            </a:r>
            <a:r>
              <a:rPr lang="en-US" altLang="ja-JP" dirty="0"/>
              <a:t>Encoder</a:t>
            </a:r>
            <a:r>
              <a:rPr lang="ja-JP" altLang="en-US" dirty="0"/>
              <a:t>部分に</a:t>
            </a:r>
            <a:r>
              <a:rPr lang="en-US" altLang="ja-JP" dirty="0"/>
              <a:t>12</a:t>
            </a:r>
            <a:r>
              <a:rPr lang="ja-JP" altLang="en-US" dirty="0"/>
              <a:t>層の</a:t>
            </a:r>
            <a:r>
              <a:rPr lang="en-US" altLang="ja-JP" dirty="0"/>
              <a:t>Transformer</a:t>
            </a:r>
            <a:r>
              <a:rPr lang="ja-JP" altLang="en-US" dirty="0"/>
              <a:t>層を追加しました。実験結果は、このアプローチの有効性を示しました。</a:t>
            </a:r>
          </a:p>
          <a:p>
            <a:pPr marL="0" lvl="0" indent="0" algn="l" rtl="0">
              <a:spcBef>
                <a:spcPts val="0"/>
              </a:spcBef>
              <a:spcAft>
                <a:spcPts val="0"/>
              </a:spcAft>
              <a:buNone/>
            </a:pPr>
            <a:r>
              <a:rPr lang="ja-JP" altLang="en-US" dirty="0"/>
              <a:t>一方、</a:t>
            </a:r>
            <a:r>
              <a:rPr lang="en-US" altLang="ja-JP" dirty="0"/>
              <a:t>Swin-Unet</a:t>
            </a:r>
            <a:r>
              <a:rPr lang="ja-JP" altLang="en-US" dirty="0"/>
              <a:t>はラディカルな試み（こころみ）であり、特徴抽出のために完全に</a:t>
            </a:r>
            <a:r>
              <a:rPr lang="en-US" altLang="ja-JP" dirty="0"/>
              <a:t>Transformer</a:t>
            </a:r>
            <a:r>
              <a:rPr lang="ja-JP" altLang="en-US" dirty="0"/>
              <a:t>を用いて</a:t>
            </a:r>
            <a:r>
              <a:rPr lang="en-US" altLang="ja-JP" dirty="0"/>
              <a:t>CNN</a:t>
            </a:r>
            <a:r>
              <a:rPr lang="ja-JP" altLang="en-US" dirty="0"/>
              <a:t>を置き換えています。</a:t>
            </a:r>
            <a:endParaRPr lang="en-US" altLang="ja-JP" dirty="0"/>
          </a:p>
          <a:p>
            <a:pPr marL="0" lvl="0" indent="0" algn="l" rtl="0">
              <a:spcBef>
                <a:spcPts val="0"/>
              </a:spcBef>
              <a:spcAft>
                <a:spcPts val="0"/>
              </a:spcAft>
              <a:buNone/>
            </a:pPr>
            <a:r>
              <a:rPr lang="ja-JP" altLang="en-US" dirty="0"/>
              <a:t>しかし、純粋な</a:t>
            </a:r>
            <a:r>
              <a:rPr lang="en-US" altLang="ja-JP" dirty="0"/>
              <a:t>Transformer</a:t>
            </a:r>
            <a:r>
              <a:rPr lang="ja-JP" altLang="en-US" dirty="0"/>
              <a:t>を用いた結果は細部（さいぶ）が不足しているとされ、最適化のスペースがあるとされています。</a:t>
            </a:r>
            <a:endParaRPr lang="en-US" altLang="ja-JP" dirty="0"/>
          </a:p>
          <a:p>
            <a:pPr marL="0" lvl="0" indent="0" algn="l" rtl="0">
              <a:spcBef>
                <a:spcPts val="0"/>
              </a:spcBef>
              <a:spcAft>
                <a:spcPts val="0"/>
              </a:spcAft>
              <a:buNone/>
            </a:pPr>
            <a:endParaRPr lang="ja-JP" altLang="en-US" dirty="0"/>
          </a:p>
          <a:p>
            <a:pPr marL="0" lvl="0" indent="0" algn="l" rtl="0">
              <a:spcBef>
                <a:spcPts val="0"/>
              </a:spcBef>
              <a:spcAft>
                <a:spcPts val="0"/>
              </a:spcAft>
              <a:buNone/>
            </a:pPr>
            <a:r>
              <a:rPr lang="ja-JP" altLang="en-US" dirty="0"/>
              <a:t>これまでの研究を総合（そうごう）すると、</a:t>
            </a:r>
            <a:r>
              <a:rPr lang="en-US" altLang="ja-JP" dirty="0"/>
              <a:t>CNN</a:t>
            </a:r>
            <a:r>
              <a:rPr lang="ja-JP" altLang="en-US" dirty="0"/>
              <a:t>と</a:t>
            </a:r>
            <a:r>
              <a:rPr lang="en-US" altLang="ja-JP" dirty="0"/>
              <a:t>Transformer</a:t>
            </a:r>
            <a:r>
              <a:rPr lang="ja-JP" altLang="en-US" dirty="0"/>
              <a:t>の組み合わせが最も効果的であると考えています。</a:t>
            </a:r>
            <a:endParaRPr lang="en-US" altLang="ja-JP" dirty="0"/>
          </a:p>
          <a:p>
            <a:pPr marL="0" lvl="0" indent="0" algn="l" rtl="0">
              <a:spcBef>
                <a:spcPts val="0"/>
              </a:spcBef>
              <a:spcAft>
                <a:spcPts val="0"/>
              </a:spcAft>
              <a:buNone/>
            </a:pPr>
            <a:r>
              <a:rPr lang="ja-JP" altLang="en-US" dirty="0"/>
              <a:t>そのため、新たに三種類の新しいアーキテクチャを提案し、各々（おのおの）の強みをいかしながら、精度と効率を向上（じょうこう）させることが期待しています。</a:t>
            </a:r>
            <a:endParaRPr dirty="0"/>
          </a:p>
        </p:txBody>
      </p:sp>
    </p:spTree>
    <p:extLst>
      <p:ext uri="{BB962C8B-B14F-4D97-AF65-F5344CB8AC3E}">
        <p14:creationId xmlns:p14="http://schemas.microsoft.com/office/powerpoint/2010/main" val="39890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まずは</a:t>
            </a:r>
            <a:r>
              <a:rPr lang="en-US" altLang="ja-JP" dirty="0"/>
              <a:t>TransUnet</a:t>
            </a:r>
            <a:r>
              <a:rPr lang="ja-JP" altLang="en-US" dirty="0"/>
              <a:t>の微調整（びちょうせい）を基にしているモデルです。</a:t>
            </a:r>
            <a:endParaRPr lang="en-US" altLang="ja-JP" dirty="0"/>
          </a:p>
          <a:p>
            <a:pPr marL="0" lvl="0" indent="0" algn="l" rtl="0">
              <a:spcBef>
                <a:spcPts val="0"/>
              </a:spcBef>
              <a:spcAft>
                <a:spcPts val="0"/>
              </a:spcAft>
              <a:buNone/>
            </a:pPr>
            <a:r>
              <a:rPr lang="ja-JP" altLang="en-US" dirty="0"/>
              <a:t>この中で、</a:t>
            </a:r>
            <a:r>
              <a:rPr lang="en-US" altLang="ja-JP" dirty="0"/>
              <a:t>Transformer</a:t>
            </a:r>
            <a:r>
              <a:rPr lang="ja-JP" altLang="en-US" dirty="0"/>
              <a:t>層を最近提案された</a:t>
            </a:r>
            <a:r>
              <a:rPr lang="en-US" altLang="ja-JP" dirty="0"/>
              <a:t>Swin-Transformer</a:t>
            </a:r>
            <a:r>
              <a:rPr lang="ja-JP" altLang="en-US" dirty="0"/>
              <a:t>層に変更し、基準モデルとして利用します。</a:t>
            </a:r>
            <a:endParaRPr lang="en-US" altLang="ja-JP" dirty="0"/>
          </a:p>
          <a:p>
            <a:pPr marL="0" lvl="0" indent="0" algn="l" rtl="0">
              <a:spcBef>
                <a:spcPts val="0"/>
              </a:spcBef>
              <a:spcAft>
                <a:spcPts val="0"/>
              </a:spcAft>
              <a:buNone/>
            </a:pPr>
            <a:r>
              <a:rPr lang="ja-JP" altLang="en-US" dirty="0"/>
              <a:t>このような変更は、</a:t>
            </a:r>
            <a:r>
              <a:rPr lang="en-US" altLang="ja-JP" dirty="0"/>
              <a:t>Swin-Transformer</a:t>
            </a:r>
            <a:r>
              <a:rPr lang="ja-JP" altLang="en-US" dirty="0"/>
              <a:t>が</a:t>
            </a:r>
            <a:r>
              <a:rPr lang="en-US" altLang="ja-JP" dirty="0"/>
              <a:t>ViT</a:t>
            </a:r>
            <a:r>
              <a:rPr lang="ja-JP" altLang="en-US" dirty="0"/>
              <a:t>（</a:t>
            </a:r>
            <a:r>
              <a:rPr lang="en-US" altLang="ja-JP" dirty="0"/>
              <a:t>Vision Transformer</a:t>
            </a:r>
            <a:r>
              <a:rPr lang="ja-JP" altLang="en-US" dirty="0"/>
              <a:t>）に比べて持つ利点を検証することができ、セグメンテーションの精度を向上させることが期待しています。</a:t>
            </a:r>
            <a:endParaRPr dirty="0"/>
          </a:p>
        </p:txBody>
      </p:sp>
    </p:spTree>
    <p:extLst>
      <p:ext uri="{BB962C8B-B14F-4D97-AF65-F5344CB8AC3E}">
        <p14:creationId xmlns:p14="http://schemas.microsoft.com/office/powerpoint/2010/main" val="3232889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つぎの提案は、エンコーダの構造を大幅に変更し、入力部分を</a:t>
            </a:r>
            <a:r>
              <a:rPr lang="en-US" altLang="ja-JP" dirty="0"/>
              <a:t>CNN</a:t>
            </a:r>
            <a:r>
              <a:rPr lang="ja-JP" altLang="en-US" dirty="0"/>
              <a:t>と</a:t>
            </a:r>
            <a:r>
              <a:rPr lang="en-US" altLang="ja-JP" dirty="0"/>
              <a:t>Transformer</a:t>
            </a:r>
            <a:r>
              <a:rPr lang="ja-JP" altLang="en-US" dirty="0"/>
              <a:t>のブランチに分けて入力します。</a:t>
            </a:r>
            <a:endParaRPr lang="en-US" altLang="ja-JP" dirty="0"/>
          </a:p>
          <a:p>
            <a:pPr marL="0" lvl="0" indent="0" algn="l" rtl="0">
              <a:spcBef>
                <a:spcPts val="0"/>
              </a:spcBef>
              <a:spcAft>
                <a:spcPts val="0"/>
              </a:spcAft>
              <a:buNone/>
            </a:pPr>
            <a:r>
              <a:rPr lang="ja-JP" altLang="en-US" dirty="0"/>
              <a:t>これにより、細部（さいぶ）の特徴と全体的な特徴をそれぞれ取得することができます。その後、結果を結合（けつごう）して処理し、アップサンプリングを使用して元の画像サイズに戻します。</a:t>
            </a:r>
            <a:endParaRPr lang="en-US" altLang="ja-JP" dirty="0"/>
          </a:p>
          <a:p>
            <a:pPr marL="0" lvl="0" indent="0" algn="l" rtl="0">
              <a:spcBef>
                <a:spcPts val="0"/>
              </a:spcBef>
              <a:spcAft>
                <a:spcPts val="0"/>
              </a:spcAft>
              <a:buNone/>
            </a:pPr>
            <a:r>
              <a:rPr lang="ja-JP" altLang="en-US" dirty="0"/>
              <a:t>また、各層の</a:t>
            </a:r>
            <a:r>
              <a:rPr lang="en-US" altLang="ja-JP" dirty="0"/>
              <a:t>CNN</a:t>
            </a:r>
            <a:r>
              <a:rPr lang="ja-JP" altLang="en-US" dirty="0"/>
              <a:t>と</a:t>
            </a:r>
            <a:r>
              <a:rPr lang="en-US" altLang="ja-JP" dirty="0"/>
              <a:t>Transformer</a:t>
            </a:r>
            <a:r>
              <a:rPr lang="ja-JP" altLang="en-US" dirty="0"/>
              <a:t>の出力結果を</a:t>
            </a:r>
            <a:r>
              <a:rPr lang="en-US" altLang="ja-JP" dirty="0"/>
              <a:t>Skip-connection</a:t>
            </a:r>
            <a:r>
              <a:rPr lang="ja-JP" altLang="en-US" dirty="0"/>
              <a:t>で</a:t>
            </a:r>
            <a:r>
              <a:rPr lang="en-US" altLang="ja-JP" dirty="0" err="1"/>
              <a:t>concat</a:t>
            </a:r>
            <a:r>
              <a:rPr lang="ja-JP" altLang="en-US" dirty="0"/>
              <a:t>し、それをアップサンプリング結果と統合（とうごう）します。これにより、ダウンサンプリング時に失われた情報を最大限に回復することを目指します。</a:t>
            </a:r>
          </a:p>
          <a:p>
            <a:pPr marL="0" lvl="0" indent="0" algn="l" rtl="0">
              <a:spcBef>
                <a:spcPts val="0"/>
              </a:spcBef>
              <a:spcAft>
                <a:spcPts val="0"/>
              </a:spcAft>
              <a:buNone/>
            </a:pPr>
            <a:r>
              <a:rPr lang="ja-JP" altLang="en-US" dirty="0"/>
              <a:t>このアーキテクチャでは、</a:t>
            </a:r>
            <a:r>
              <a:rPr lang="en-US" altLang="ja-JP" dirty="0"/>
              <a:t>CNN</a:t>
            </a:r>
            <a:r>
              <a:rPr lang="ja-JP" altLang="en-US" dirty="0"/>
              <a:t>が局部的（きょくぶ）な特徴を捉える（とらえる）に対し、</a:t>
            </a:r>
            <a:r>
              <a:rPr lang="en-US" altLang="ja-JP" dirty="0"/>
              <a:t>Transformer</a:t>
            </a:r>
            <a:r>
              <a:rPr lang="ja-JP" altLang="en-US" dirty="0"/>
              <a:t>が全体的な特徴を捕捉（ほそく）ため、二つの異なるアプローチを効果的に融合（ゆうごう）させることができると考えています</a:t>
            </a:r>
            <a:endParaRPr lang="en-US" altLang="ja-JP" dirty="0"/>
          </a:p>
        </p:txBody>
      </p:sp>
    </p:spTree>
    <p:extLst>
      <p:ext uri="{BB962C8B-B14F-4D97-AF65-F5344CB8AC3E}">
        <p14:creationId xmlns:p14="http://schemas.microsoft.com/office/powerpoint/2010/main" val="3679618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最後の提案は、エンコーダの各層で</a:t>
            </a:r>
            <a:r>
              <a:rPr lang="en-US" altLang="ja-JP" dirty="0"/>
              <a:t>CNN</a:t>
            </a:r>
            <a:r>
              <a:rPr lang="ja-JP" altLang="en-US" dirty="0"/>
              <a:t>と</a:t>
            </a:r>
            <a:r>
              <a:rPr lang="en-US" altLang="ja-JP" dirty="0"/>
              <a:t>Transformer</a:t>
            </a:r>
            <a:r>
              <a:rPr lang="ja-JP" altLang="en-US" dirty="0"/>
              <a:t>モジュールを組み合わせて使用することを考えています。</a:t>
            </a:r>
            <a:endParaRPr lang="en-US" altLang="ja-JP" dirty="0"/>
          </a:p>
          <a:p>
            <a:pPr marL="0" lvl="0" indent="0" algn="l" rtl="0">
              <a:spcBef>
                <a:spcPts val="0"/>
              </a:spcBef>
              <a:spcAft>
                <a:spcPts val="0"/>
              </a:spcAft>
              <a:buNone/>
            </a:pPr>
            <a:r>
              <a:rPr lang="ja-JP" altLang="en-US" dirty="0"/>
              <a:t>このアプローチでは、各層にまず細部（さいぶ）の特徴を抽出し、次に全体的な特徴を総合的（そうごうてき）に抽出することを目指します。</a:t>
            </a:r>
            <a:endParaRPr lang="en-US" altLang="ja-JP" dirty="0"/>
          </a:p>
          <a:p>
            <a:pPr marL="0" lvl="0" indent="0" algn="l" rtl="0">
              <a:spcBef>
                <a:spcPts val="0"/>
              </a:spcBef>
              <a:spcAft>
                <a:spcPts val="0"/>
              </a:spcAft>
              <a:buNone/>
            </a:pPr>
            <a:r>
              <a:rPr lang="ja-JP" altLang="en-US" dirty="0"/>
              <a:t>この提案は</a:t>
            </a:r>
            <a:r>
              <a:rPr lang="en-US" altLang="ja-JP" dirty="0"/>
              <a:t>Unet</a:t>
            </a:r>
            <a:r>
              <a:rPr lang="ja-JP" altLang="en-US" dirty="0"/>
              <a:t>構造に基づいて設計されており、</a:t>
            </a:r>
            <a:r>
              <a:rPr lang="en-US" altLang="ja-JP" dirty="0"/>
              <a:t>Transformer</a:t>
            </a:r>
            <a:r>
              <a:rPr lang="ja-JP" altLang="en-US" dirty="0"/>
              <a:t>モジュールの事前学習への依存を避けることを期待しています。</a:t>
            </a:r>
          </a:p>
          <a:p>
            <a:pPr marL="0" lvl="0" indent="0" algn="l" rtl="0">
              <a:spcBef>
                <a:spcPts val="0"/>
              </a:spcBef>
              <a:spcAft>
                <a:spcPts val="0"/>
              </a:spcAft>
              <a:buNone/>
            </a:pPr>
            <a:r>
              <a:rPr lang="ja-JP" altLang="en-US" dirty="0"/>
              <a:t>この構造において、各層での</a:t>
            </a:r>
            <a:r>
              <a:rPr lang="en-US" altLang="ja-JP" dirty="0"/>
              <a:t>CNN</a:t>
            </a:r>
            <a:r>
              <a:rPr lang="ja-JP" altLang="en-US" dirty="0"/>
              <a:t>と</a:t>
            </a:r>
            <a:r>
              <a:rPr lang="en-US" altLang="ja-JP" dirty="0"/>
              <a:t>Transformer</a:t>
            </a:r>
            <a:r>
              <a:rPr lang="ja-JP" altLang="en-US" dirty="0"/>
              <a:t>の組み合わせは、細部と全体的への識別能力を強化しつつ、大規模なコンテキスト情報を効率的に統合（とうごう）することが可能と考えています。</a:t>
            </a:r>
            <a:endParaRPr lang="en-US" altLang="ja-JP" dirty="0"/>
          </a:p>
          <a:p>
            <a:pPr marL="0" lvl="0" indent="0" algn="l" rtl="0">
              <a:spcBef>
                <a:spcPts val="0"/>
              </a:spcBef>
              <a:spcAft>
                <a:spcPts val="0"/>
              </a:spcAft>
              <a:buNone/>
            </a:pPr>
            <a:r>
              <a:rPr lang="ja-JP" altLang="en-US" dirty="0"/>
              <a:t>これにより、より高度な特徴の融合が可能となり、セグメンテーションの精度が向上に期待しています。</a:t>
            </a:r>
          </a:p>
        </p:txBody>
      </p:sp>
    </p:spTree>
    <p:extLst>
      <p:ext uri="{BB962C8B-B14F-4D97-AF65-F5344CB8AC3E}">
        <p14:creationId xmlns:p14="http://schemas.microsoft.com/office/powerpoint/2010/main" val="4293342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最後は予定です。</a:t>
            </a:r>
            <a:endParaRPr lang="en-US" altLang="ja-JP" dirty="0"/>
          </a:p>
          <a:p>
            <a:pPr marL="0" lvl="0" indent="0" algn="l" rtl="0">
              <a:spcBef>
                <a:spcPts val="0"/>
              </a:spcBef>
              <a:spcAft>
                <a:spcPts val="0"/>
              </a:spcAft>
              <a:buNone/>
            </a:pPr>
            <a:r>
              <a:rPr lang="ja-JP" altLang="en-US" dirty="0"/>
              <a:t>まず、</a:t>
            </a:r>
            <a:r>
              <a:rPr lang="en-US" altLang="ja-JP" dirty="0" err="1"/>
              <a:t>Swin</a:t>
            </a:r>
            <a:r>
              <a:rPr lang="en-US" altLang="ja-JP" dirty="0"/>
              <a:t>-Transformer</a:t>
            </a:r>
            <a:r>
              <a:rPr lang="ja-JP" altLang="en-US" dirty="0"/>
              <a:t>をモジュール化し、畳み込みモジュールのように使用することを目指します。</a:t>
            </a:r>
            <a:endParaRPr lang="en-US" altLang="ja-JP" dirty="0"/>
          </a:p>
          <a:p>
            <a:pPr marL="0" lvl="0" indent="0" algn="l" rtl="0">
              <a:spcBef>
                <a:spcPts val="0"/>
              </a:spcBef>
              <a:spcAft>
                <a:spcPts val="0"/>
              </a:spcAft>
              <a:buNone/>
            </a:pPr>
            <a:r>
              <a:rPr lang="ja-JP" altLang="en-US" dirty="0"/>
              <a:t>次に、開発されたモジュールを使用してモデルを構築します。</a:t>
            </a:r>
            <a:endParaRPr lang="en-US" altLang="ja-JP" dirty="0"/>
          </a:p>
          <a:p>
            <a:pPr marL="0" lvl="0" indent="0" algn="l" rtl="0">
              <a:spcBef>
                <a:spcPts val="0"/>
              </a:spcBef>
              <a:spcAft>
                <a:spcPts val="0"/>
              </a:spcAft>
              <a:buNone/>
            </a:pPr>
            <a:r>
              <a:rPr lang="ja-JP" altLang="en-US" dirty="0"/>
              <a:t>最後に、トレーニング結果に基づいてモデルパラメータを調整し、トレーニング結果を最適化します。</a:t>
            </a:r>
            <a:endParaRPr lang="en-US" altLang="ja-JP" dirty="0"/>
          </a:p>
          <a:p>
            <a:pPr marL="0" lvl="0" indent="0" algn="l" rtl="0">
              <a:spcBef>
                <a:spcPts val="0"/>
              </a:spcBef>
              <a:spcAft>
                <a:spcPts val="0"/>
              </a:spcAft>
              <a:buNone/>
            </a:pPr>
            <a:endParaRPr lang="en-US" altLang="ja-JP" dirty="0"/>
          </a:p>
          <a:p>
            <a:pPr marL="0" lvl="0" indent="0" algn="l" rtl="0">
              <a:spcBef>
                <a:spcPts val="0"/>
              </a:spcBef>
              <a:spcAft>
                <a:spcPts val="0"/>
              </a:spcAft>
              <a:buNone/>
            </a:pPr>
            <a:r>
              <a:rPr lang="ja-JP" altLang="en-US" dirty="0"/>
              <a:t>生成系手法の利用と訓練データの変換はまだ検討しています。</a:t>
            </a:r>
            <a:endParaRPr lang="en-US" altLang="ja-JP" dirty="0"/>
          </a:p>
        </p:txBody>
      </p:sp>
    </p:spTree>
    <p:extLst>
      <p:ext uri="{BB962C8B-B14F-4D97-AF65-F5344CB8AC3E}">
        <p14:creationId xmlns:p14="http://schemas.microsoft.com/office/powerpoint/2010/main" val="1854181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ja-JP" altLang="en-US" sz="1200" dirty="0"/>
              <a:t>ご清聴ありがとうございました。</a:t>
            </a:r>
            <a:endParaRPr kumimoji="1" lang="ja-JP" altLang="en-US" dirty="0"/>
          </a:p>
        </p:txBody>
      </p:sp>
      <p:sp>
        <p:nvSpPr>
          <p:cNvPr id="4" name="灯片编号占位符 3"/>
          <p:cNvSpPr>
            <a:spLocks noGrp="1"/>
          </p:cNvSpPr>
          <p:nvPr>
            <p:ph type="sldNum" sz="quarter" idx="5"/>
          </p:nvPr>
        </p:nvSpPr>
        <p:spPr/>
        <p:txBody>
          <a:bodyPr/>
          <a:lstStyle/>
          <a:p>
            <a:fld id="{4B3530DB-82B1-4C9E-9881-3F9048813B19}" type="slidenum">
              <a:rPr lang="zh-CN" altLang="en-US" smtClean="0"/>
              <a:t>17</a:t>
            </a:fld>
            <a:endParaRPr lang="zh-CN" altLang="en-US"/>
          </a:p>
        </p:txBody>
      </p:sp>
    </p:spTree>
    <p:extLst>
      <p:ext uri="{BB962C8B-B14F-4D97-AF65-F5344CB8AC3E}">
        <p14:creationId xmlns:p14="http://schemas.microsoft.com/office/powerpoint/2010/main" val="2775172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1A8182-FED7-18E2-C6A8-995E9410962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C8F30AE-7A52-194D-1E69-0EF5A912C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EE6E94A-14BD-76D7-B3E9-00FD18941151}"/>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5" name="页脚占位符 4">
            <a:extLst>
              <a:ext uri="{FF2B5EF4-FFF2-40B4-BE49-F238E27FC236}">
                <a16:creationId xmlns:a16="http://schemas.microsoft.com/office/drawing/2014/main" id="{109FCB42-66A1-67B8-BF08-F960F8759D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467E814-F20E-F30D-F937-6EC80AB543A3}"/>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859593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97926-C05F-1553-C4F8-2AEE8CFB11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5C89746-0F74-651C-0758-3F45FF35FFC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795B40-B4F9-3D23-C410-BF5F505AC8F2}"/>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5" name="页脚占位符 4">
            <a:extLst>
              <a:ext uri="{FF2B5EF4-FFF2-40B4-BE49-F238E27FC236}">
                <a16:creationId xmlns:a16="http://schemas.microsoft.com/office/drawing/2014/main" id="{E692D9BD-49BB-8D39-0B84-04F61BE477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15F505-435B-88CA-AB53-4E023F76AE5C}"/>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086732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A3915C-EA27-37F4-D4E1-AF0EEA4DD1A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FFC24DB-9035-79ED-9CE9-5D32C4DE04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D4F4656-A02A-7487-86DF-428528A29EB9}"/>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5" name="页脚占位符 4">
            <a:extLst>
              <a:ext uri="{FF2B5EF4-FFF2-40B4-BE49-F238E27FC236}">
                <a16:creationId xmlns:a16="http://schemas.microsoft.com/office/drawing/2014/main" id="{16AC04B2-8007-2CB2-8E6B-4DEFC2C4A3A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BEF4B3-6E14-567C-63F9-4EA322894F73}"/>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168974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D89F6-72F5-69A0-4E6E-160269B290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3DEB137-78CC-BA44-FA45-3827ACBCE1A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EDF8DD1-1E9E-3569-56FC-ABC8081425F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55B5FB5-8921-10D5-0CF2-5C9565B25666}"/>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6" name="页脚占位符 5">
            <a:extLst>
              <a:ext uri="{FF2B5EF4-FFF2-40B4-BE49-F238E27FC236}">
                <a16:creationId xmlns:a16="http://schemas.microsoft.com/office/drawing/2014/main" id="{93991C27-C454-614D-7DDF-2A1F311E15C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3A11B91-F594-ACB7-55B3-12FDFB414BC0}"/>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033765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282D0-81D6-F7AD-4404-D29FB56691D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C21438D-7EBF-631A-31D6-87C0F1F1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C4F159E-F011-7C20-BC9B-398CF955CF1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F7CAB53-AB40-5850-7804-22480D970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007C49D-47F2-9A0C-775F-5C1BD8072E9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0342C37-BBFB-E9A9-08D5-6B3C181EA773}"/>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8" name="页脚占位符 7">
            <a:extLst>
              <a:ext uri="{FF2B5EF4-FFF2-40B4-BE49-F238E27FC236}">
                <a16:creationId xmlns:a16="http://schemas.microsoft.com/office/drawing/2014/main" id="{F4EC9CD0-26FA-B70A-18A1-7D131A2B3C5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6DADE98-8F99-E49C-A661-4C115A0D00F0}"/>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338548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246DC-E6FE-7DAC-B052-16D0A213C5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D5460EE-7EF2-E839-B7A5-45481046B329}"/>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4" name="页脚占位符 3">
            <a:extLst>
              <a:ext uri="{FF2B5EF4-FFF2-40B4-BE49-F238E27FC236}">
                <a16:creationId xmlns:a16="http://schemas.microsoft.com/office/drawing/2014/main" id="{8964566C-05DC-5182-3A8C-C8BDB38495C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4F5CED1-C9EE-86B7-8478-8E579CC7ED74}"/>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73989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65D3AD8-A6AC-6D7A-9F35-4552227F1B78}"/>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3" name="页脚占位符 2">
            <a:extLst>
              <a:ext uri="{FF2B5EF4-FFF2-40B4-BE49-F238E27FC236}">
                <a16:creationId xmlns:a16="http://schemas.microsoft.com/office/drawing/2014/main" id="{64575B76-E262-C94C-606B-63EB7AE7F27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F7AA4DA-F48A-4122-602A-C6E765195A3C}"/>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2966132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2AD901-E1FB-1C58-B2DF-A8D563226F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5895D50-1A51-F020-D393-7D23F3FE22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C5FED19-9BEB-B473-A38D-AD96A2356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C06C584-B885-BCCA-80C8-F014DF27CA8F}"/>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6" name="页脚占位符 5">
            <a:extLst>
              <a:ext uri="{FF2B5EF4-FFF2-40B4-BE49-F238E27FC236}">
                <a16:creationId xmlns:a16="http://schemas.microsoft.com/office/drawing/2014/main" id="{2BB5A3FD-41FD-FB06-4400-D9173413E2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DF7014C-6A77-5371-8D24-286F40B1D2FB}"/>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1778212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B8C9A-0D39-FB47-85CB-F7008D24A8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C08E44A-2132-1DBF-CF92-B0F3CE30B7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EC25977-8DDF-85B4-68CB-D4A9B1F0E0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7227153-5C6F-5CC5-D267-16E9B0DED84B}"/>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6" name="页脚占位符 5">
            <a:extLst>
              <a:ext uri="{FF2B5EF4-FFF2-40B4-BE49-F238E27FC236}">
                <a16:creationId xmlns:a16="http://schemas.microsoft.com/office/drawing/2014/main" id="{07B7D9BB-F13E-33B3-29F1-475B82D628E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3056044-B7A2-79D0-7CFE-4D864F91B21F}"/>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08272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E59B4-9499-F161-9402-1FDE3BFF5BD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B312F55-C892-3C61-3B7F-81FFC65433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C9DFC2-51B9-50F1-84AF-8F661ACF0A6D}"/>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5" name="页脚占位符 4">
            <a:extLst>
              <a:ext uri="{FF2B5EF4-FFF2-40B4-BE49-F238E27FC236}">
                <a16:creationId xmlns:a16="http://schemas.microsoft.com/office/drawing/2014/main" id="{1B4FB11F-CD4B-9A5B-EA2A-EBDCFBAE09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0F7606-63A1-09E1-9839-26144B953D71}"/>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247036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5A8A855-FB49-DC56-207B-60C8BBB56A0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C86404D-C31E-E829-6211-A415CA4D0F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815B170-FB2C-36C9-44FC-43E9399F3A6D}"/>
              </a:ext>
            </a:extLst>
          </p:cNvPr>
          <p:cNvSpPr>
            <a:spLocks noGrp="1"/>
          </p:cNvSpPr>
          <p:nvPr>
            <p:ph type="dt" sz="half" idx="10"/>
          </p:nvPr>
        </p:nvSpPr>
        <p:spPr/>
        <p:txBody>
          <a:bodyPr/>
          <a:lstStyle/>
          <a:p>
            <a:fld id="{62A3A5E2-B881-4DA8-8924-12BD67E6AB07}" type="datetimeFigureOut">
              <a:rPr lang="zh-CN" altLang="en-US" smtClean="0"/>
              <a:t>2024/4/24</a:t>
            </a:fld>
            <a:endParaRPr lang="zh-CN" altLang="en-US"/>
          </a:p>
        </p:txBody>
      </p:sp>
      <p:sp>
        <p:nvSpPr>
          <p:cNvPr id="5" name="页脚占位符 4">
            <a:extLst>
              <a:ext uri="{FF2B5EF4-FFF2-40B4-BE49-F238E27FC236}">
                <a16:creationId xmlns:a16="http://schemas.microsoft.com/office/drawing/2014/main" id="{CF3CD9C8-4AE4-F83F-9223-41B5A2CEF3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16DAAB-71E4-9367-F9CE-E0AE6155F9D2}"/>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3867224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2061367" y="2339725"/>
            <a:ext cx="7776800" cy="15464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5867" b="1"/>
            </a:lvl1pPr>
            <a:lvl2pPr lvl="1" rtl="0">
              <a:spcBef>
                <a:spcPts val="0"/>
              </a:spcBef>
              <a:spcAft>
                <a:spcPts val="0"/>
              </a:spcAft>
              <a:buSzPts val="4400"/>
              <a:buNone/>
              <a:defRPr sz="5867" b="1"/>
            </a:lvl2pPr>
            <a:lvl3pPr lvl="2" rtl="0">
              <a:spcBef>
                <a:spcPts val="0"/>
              </a:spcBef>
              <a:spcAft>
                <a:spcPts val="0"/>
              </a:spcAft>
              <a:buSzPts val="4400"/>
              <a:buNone/>
              <a:defRPr sz="5867" b="1"/>
            </a:lvl3pPr>
            <a:lvl4pPr lvl="3" rtl="0">
              <a:spcBef>
                <a:spcPts val="0"/>
              </a:spcBef>
              <a:spcAft>
                <a:spcPts val="0"/>
              </a:spcAft>
              <a:buSzPts val="4400"/>
              <a:buNone/>
              <a:defRPr sz="5867" b="1"/>
            </a:lvl4pPr>
            <a:lvl5pPr lvl="4" rtl="0">
              <a:spcBef>
                <a:spcPts val="0"/>
              </a:spcBef>
              <a:spcAft>
                <a:spcPts val="0"/>
              </a:spcAft>
              <a:buSzPts val="4400"/>
              <a:buNone/>
              <a:defRPr sz="5867" b="1"/>
            </a:lvl5pPr>
            <a:lvl6pPr lvl="5" rtl="0">
              <a:spcBef>
                <a:spcPts val="0"/>
              </a:spcBef>
              <a:spcAft>
                <a:spcPts val="0"/>
              </a:spcAft>
              <a:buSzPts val="4400"/>
              <a:buNone/>
              <a:defRPr sz="5867" b="1"/>
            </a:lvl6pPr>
            <a:lvl7pPr lvl="6" rtl="0">
              <a:spcBef>
                <a:spcPts val="0"/>
              </a:spcBef>
              <a:spcAft>
                <a:spcPts val="0"/>
              </a:spcAft>
              <a:buSzPts val="4400"/>
              <a:buNone/>
              <a:defRPr sz="5867" b="1"/>
            </a:lvl7pPr>
            <a:lvl8pPr lvl="7" rtl="0">
              <a:spcBef>
                <a:spcPts val="0"/>
              </a:spcBef>
              <a:spcAft>
                <a:spcPts val="0"/>
              </a:spcAft>
              <a:buSzPts val="4400"/>
              <a:buNone/>
              <a:defRPr sz="5867" b="1"/>
            </a:lvl8pPr>
            <a:lvl9pPr lvl="8" rtl="0">
              <a:spcBef>
                <a:spcPts val="0"/>
              </a:spcBef>
              <a:spcAft>
                <a:spcPts val="0"/>
              </a:spcAft>
              <a:buSzPts val="4400"/>
              <a:buNone/>
              <a:defRPr sz="5867" b="1"/>
            </a:lvl9pPr>
          </a:lstStyle>
          <a:p>
            <a:endParaRPr/>
          </a:p>
        </p:txBody>
      </p:sp>
      <p:sp>
        <p:nvSpPr>
          <p:cNvPr id="28" name="Google Shape;28;p3"/>
          <p:cNvSpPr txBox="1">
            <a:spLocks noGrp="1"/>
          </p:cNvSpPr>
          <p:nvPr>
            <p:ph type="subTitle" idx="1"/>
          </p:nvPr>
        </p:nvSpPr>
        <p:spPr>
          <a:xfrm>
            <a:off x="2061367" y="4015348"/>
            <a:ext cx="7776800" cy="1046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3000"/>
              <a:buNone/>
              <a:defRPr>
                <a:solidFill>
                  <a:schemeClr val="accent3"/>
                </a:solidFill>
              </a:defRPr>
            </a:lvl1pPr>
            <a:lvl2pPr lvl="1" rtl="0">
              <a:spcBef>
                <a:spcPts val="0"/>
              </a:spcBef>
              <a:spcAft>
                <a:spcPts val="0"/>
              </a:spcAft>
              <a:buClr>
                <a:schemeClr val="accent3"/>
              </a:buClr>
              <a:buSzPts val="3000"/>
              <a:buNone/>
              <a:defRPr sz="4000">
                <a:solidFill>
                  <a:schemeClr val="accent3"/>
                </a:solidFill>
              </a:defRPr>
            </a:lvl2pPr>
            <a:lvl3pPr lvl="2" rtl="0">
              <a:spcBef>
                <a:spcPts val="0"/>
              </a:spcBef>
              <a:spcAft>
                <a:spcPts val="0"/>
              </a:spcAft>
              <a:buClr>
                <a:schemeClr val="accent3"/>
              </a:buClr>
              <a:buSzPts val="3000"/>
              <a:buNone/>
              <a:defRPr sz="4000">
                <a:solidFill>
                  <a:schemeClr val="accent3"/>
                </a:solidFill>
              </a:defRPr>
            </a:lvl3pPr>
            <a:lvl4pPr lvl="3" rtl="0">
              <a:spcBef>
                <a:spcPts val="0"/>
              </a:spcBef>
              <a:spcAft>
                <a:spcPts val="0"/>
              </a:spcAft>
              <a:buClr>
                <a:schemeClr val="accent3"/>
              </a:buClr>
              <a:buSzPts val="3000"/>
              <a:buNone/>
              <a:defRPr sz="4000">
                <a:solidFill>
                  <a:schemeClr val="accent3"/>
                </a:solidFill>
              </a:defRPr>
            </a:lvl4pPr>
            <a:lvl5pPr lvl="4" rtl="0">
              <a:spcBef>
                <a:spcPts val="0"/>
              </a:spcBef>
              <a:spcAft>
                <a:spcPts val="0"/>
              </a:spcAft>
              <a:buClr>
                <a:schemeClr val="accent3"/>
              </a:buClr>
              <a:buSzPts val="3000"/>
              <a:buNone/>
              <a:defRPr sz="4000">
                <a:solidFill>
                  <a:schemeClr val="accent3"/>
                </a:solidFill>
              </a:defRPr>
            </a:lvl5pPr>
            <a:lvl6pPr lvl="5" rtl="0">
              <a:spcBef>
                <a:spcPts val="0"/>
              </a:spcBef>
              <a:spcAft>
                <a:spcPts val="0"/>
              </a:spcAft>
              <a:buClr>
                <a:schemeClr val="accent3"/>
              </a:buClr>
              <a:buSzPts val="3000"/>
              <a:buNone/>
              <a:defRPr sz="4000">
                <a:solidFill>
                  <a:schemeClr val="accent3"/>
                </a:solidFill>
              </a:defRPr>
            </a:lvl6pPr>
            <a:lvl7pPr lvl="6" rtl="0">
              <a:spcBef>
                <a:spcPts val="0"/>
              </a:spcBef>
              <a:spcAft>
                <a:spcPts val="0"/>
              </a:spcAft>
              <a:buClr>
                <a:schemeClr val="accent3"/>
              </a:buClr>
              <a:buSzPts val="3000"/>
              <a:buNone/>
              <a:defRPr sz="4000">
                <a:solidFill>
                  <a:schemeClr val="accent3"/>
                </a:solidFill>
              </a:defRPr>
            </a:lvl7pPr>
            <a:lvl8pPr lvl="7" rtl="0">
              <a:spcBef>
                <a:spcPts val="0"/>
              </a:spcBef>
              <a:spcAft>
                <a:spcPts val="0"/>
              </a:spcAft>
              <a:buClr>
                <a:schemeClr val="accent3"/>
              </a:buClr>
              <a:buSzPts val="3000"/>
              <a:buNone/>
              <a:defRPr sz="4000">
                <a:solidFill>
                  <a:schemeClr val="accent3"/>
                </a:solidFill>
              </a:defRPr>
            </a:lvl8pPr>
            <a:lvl9pPr lvl="8" rtl="0">
              <a:spcBef>
                <a:spcPts val="0"/>
              </a:spcBef>
              <a:spcAft>
                <a:spcPts val="0"/>
              </a:spcAft>
              <a:buClr>
                <a:schemeClr val="accent3"/>
              </a:buClr>
              <a:buSzPts val="3000"/>
              <a:buNone/>
              <a:defRPr sz="4000">
                <a:solidFill>
                  <a:schemeClr val="accent3"/>
                </a:solidFill>
              </a:defRPr>
            </a:lvl9pPr>
          </a:lstStyle>
          <a:p>
            <a:endParaRPr/>
          </a:p>
        </p:txBody>
      </p:sp>
    </p:spTree>
    <p:extLst>
      <p:ext uri="{BB962C8B-B14F-4D97-AF65-F5344CB8AC3E}">
        <p14:creationId xmlns:p14="http://schemas.microsoft.com/office/powerpoint/2010/main" val="296490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F248185-4A67-067A-3CD9-0DE7DCA081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99A4B1E-BE40-0997-FB7B-31B3C77974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A52488-3208-F7D8-D5AA-67E0312CD3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3A5E2-B881-4DA8-8924-12BD67E6AB07}" type="datetimeFigureOut">
              <a:rPr lang="zh-CN" altLang="en-US" smtClean="0"/>
              <a:t>2024/4/24</a:t>
            </a:fld>
            <a:endParaRPr lang="zh-CN" altLang="en-US"/>
          </a:p>
        </p:txBody>
      </p:sp>
      <p:sp>
        <p:nvSpPr>
          <p:cNvPr id="5" name="页脚占位符 4">
            <a:extLst>
              <a:ext uri="{FF2B5EF4-FFF2-40B4-BE49-F238E27FC236}">
                <a16:creationId xmlns:a16="http://schemas.microsoft.com/office/drawing/2014/main" id="{6E1B0DDB-86E9-AA8E-7D88-C0F8DA9910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5C95F80-A134-659A-A4D3-72ED9AF4DE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1135056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7" name="テキスト ボックス 6">
            <a:extLst>
              <a:ext uri="{FF2B5EF4-FFF2-40B4-BE49-F238E27FC236}">
                <a16:creationId xmlns:a16="http://schemas.microsoft.com/office/drawing/2014/main" id="{91D45C13-E4EC-D729-63D1-CA1E420B4607}"/>
              </a:ext>
            </a:extLst>
          </p:cNvPr>
          <p:cNvSpPr txBox="1"/>
          <p:nvPr/>
        </p:nvSpPr>
        <p:spPr>
          <a:xfrm>
            <a:off x="4074116" y="1857195"/>
            <a:ext cx="5951349" cy="1015663"/>
          </a:xfrm>
          <a:prstGeom prst="rect">
            <a:avLst/>
          </a:prstGeom>
          <a:noFill/>
        </p:spPr>
        <p:txBody>
          <a:bodyPr wrap="square" rtlCol="0">
            <a:spAutoFit/>
          </a:bodyPr>
          <a:lstStyle/>
          <a:p>
            <a:r>
              <a:rPr kumimoji="1" lang="ja-JP" altLang="en-US" sz="6000" dirty="0">
                <a:latin typeface="MS Mincho" panose="02020609040205080304" pitchFamily="49" charset="-128"/>
                <a:ea typeface="MS Mincho" panose="02020609040205080304" pitchFamily="49" charset="-128"/>
              </a:rPr>
              <a:t>研究報告</a:t>
            </a:r>
            <a:endParaRPr kumimoji="1" lang="en-US" altLang="ja-JP" sz="6000" dirty="0">
              <a:latin typeface="MS Mincho" panose="02020609040205080304" pitchFamily="49" charset="-128"/>
              <a:ea typeface="MS Mincho" panose="02020609040205080304" pitchFamily="49" charset="-128"/>
            </a:endParaRPr>
          </a:p>
        </p:txBody>
      </p:sp>
      <p:sp>
        <p:nvSpPr>
          <p:cNvPr id="9" name="テキスト ボックス 8">
            <a:extLst>
              <a:ext uri="{FF2B5EF4-FFF2-40B4-BE49-F238E27FC236}">
                <a16:creationId xmlns:a16="http://schemas.microsoft.com/office/drawing/2014/main" id="{3A92AA7F-6B5D-DFA6-8664-A54DC53425FD}"/>
              </a:ext>
            </a:extLst>
          </p:cNvPr>
          <p:cNvSpPr txBox="1"/>
          <p:nvPr/>
        </p:nvSpPr>
        <p:spPr>
          <a:xfrm>
            <a:off x="6948406" y="5000805"/>
            <a:ext cx="3572359" cy="954107"/>
          </a:xfrm>
          <a:prstGeom prst="rect">
            <a:avLst/>
          </a:prstGeom>
          <a:noFill/>
        </p:spPr>
        <p:txBody>
          <a:bodyPr wrap="square" rtlCol="0">
            <a:spAutoFit/>
          </a:bodyPr>
          <a:lstStyle/>
          <a:p>
            <a:r>
              <a:rPr kumimoji="1" lang="en-US" altLang="ja-JP" sz="2800" dirty="0">
                <a:latin typeface="MS PMincho" panose="02020600040205080304" pitchFamily="18" charset="-128"/>
                <a:ea typeface="MS PMincho" panose="02020600040205080304" pitchFamily="18" charset="-128"/>
              </a:rPr>
              <a:t>2024.4.24</a:t>
            </a:r>
          </a:p>
          <a:p>
            <a:r>
              <a:rPr lang="ja-JP" altLang="en-US" sz="2800" dirty="0">
                <a:latin typeface="MS PMincho" panose="02020600040205080304" pitchFamily="18" charset="-128"/>
                <a:ea typeface="MS PMincho" panose="02020600040205080304" pitchFamily="18" charset="-128"/>
              </a:rPr>
              <a:t>凛ドン</a:t>
            </a:r>
            <a:endParaRPr kumimoji="1" lang="ja-JP" altLang="en-US" sz="2800" dirty="0">
              <a:latin typeface="MS PMincho" panose="02020600040205080304" pitchFamily="18" charset="-128"/>
              <a:ea typeface="MS PMincho" panose="02020600040205080304" pitchFamily="18" charset="-128"/>
            </a:endParaRPr>
          </a:p>
        </p:txBody>
      </p:sp>
    </p:spTree>
    <p:extLst>
      <p:ext uri="{BB962C8B-B14F-4D97-AF65-F5344CB8AC3E}">
        <p14:creationId xmlns:p14="http://schemas.microsoft.com/office/powerpoint/2010/main" val="3584959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7EB5C13C-7DB1-83FA-4322-1D5CA367A3FF}"/>
              </a:ext>
            </a:extLst>
          </p:cNvPr>
          <p:cNvSpPr txBox="1"/>
          <p:nvPr/>
        </p:nvSpPr>
        <p:spPr>
          <a:xfrm>
            <a:off x="4083050" y="1659285"/>
            <a:ext cx="4025900" cy="3539430"/>
          </a:xfrm>
          <a:prstGeom prst="rect">
            <a:avLst/>
          </a:prstGeom>
          <a:noFill/>
        </p:spPr>
        <p:txBody>
          <a:bodyPr wrap="square" rtlCol="0">
            <a:spAutoFit/>
          </a:bodyPr>
          <a:lstStyle/>
          <a:p>
            <a:r>
              <a:rPr kumimoji="1" lang="ja-JP" altLang="en-US" sz="3200" dirty="0"/>
              <a:t>一、</a:t>
            </a:r>
            <a:r>
              <a:rPr kumimoji="1" lang="en-US" altLang="ja-JP" sz="3200" dirty="0"/>
              <a:t>Introduction</a:t>
            </a:r>
          </a:p>
          <a:p>
            <a:endParaRPr kumimoji="1" lang="en-US" altLang="ja-JP" sz="3200" dirty="0"/>
          </a:p>
          <a:p>
            <a:r>
              <a:rPr kumimoji="1" lang="ja-JP" altLang="en-US" sz="3200" dirty="0"/>
              <a:t>二、</a:t>
            </a:r>
            <a:r>
              <a:rPr kumimoji="1" lang="en-US" altLang="ja-JP" sz="3200" dirty="0"/>
              <a:t>Related</a:t>
            </a:r>
            <a:r>
              <a:rPr kumimoji="1" lang="ja-JP" altLang="en-US" sz="3200" dirty="0"/>
              <a:t> </a:t>
            </a:r>
            <a:r>
              <a:rPr kumimoji="1" lang="en-US" altLang="ja-JP" sz="3200" dirty="0"/>
              <a:t>works</a:t>
            </a:r>
          </a:p>
          <a:p>
            <a:endParaRPr kumimoji="1" lang="en-US" altLang="ja-JP" sz="3200" dirty="0"/>
          </a:p>
          <a:p>
            <a:r>
              <a:rPr kumimoji="1" lang="ja-JP" altLang="en-US" sz="3200" dirty="0"/>
              <a:t>三、</a:t>
            </a:r>
            <a:r>
              <a:rPr kumimoji="1" lang="en-US" altLang="zh-CN" sz="3200" dirty="0"/>
              <a:t>M</a:t>
            </a:r>
            <a:r>
              <a:rPr kumimoji="1" lang="en-US" altLang="ja-JP" sz="3200" dirty="0"/>
              <a:t>ethod</a:t>
            </a:r>
          </a:p>
          <a:p>
            <a:endParaRPr kumimoji="1" lang="en-US" altLang="ja-JP" sz="3200" dirty="0"/>
          </a:p>
          <a:p>
            <a:r>
              <a:rPr kumimoji="1" lang="zh-CN" altLang="en-US" sz="3200" dirty="0"/>
              <a:t>四、</a:t>
            </a:r>
            <a:r>
              <a:rPr kumimoji="1" lang="ja-JP" altLang="en-US" sz="3200" dirty="0"/>
              <a:t>予定</a:t>
            </a:r>
          </a:p>
        </p:txBody>
      </p:sp>
      <p:sp>
        <p:nvSpPr>
          <p:cNvPr id="4" name="文本框 3">
            <a:extLst>
              <a:ext uri="{FF2B5EF4-FFF2-40B4-BE49-F238E27FC236}">
                <a16:creationId xmlns:a16="http://schemas.microsoft.com/office/drawing/2014/main" id="{C434897A-97A6-5471-87FD-584FF6222D05}"/>
              </a:ext>
            </a:extLst>
          </p:cNvPr>
          <p:cNvSpPr txBox="1"/>
          <p:nvPr/>
        </p:nvSpPr>
        <p:spPr>
          <a:xfrm>
            <a:off x="2120900" y="736600"/>
            <a:ext cx="3098800" cy="707886"/>
          </a:xfrm>
          <a:prstGeom prst="rect">
            <a:avLst/>
          </a:prstGeom>
          <a:noFill/>
        </p:spPr>
        <p:txBody>
          <a:bodyPr wrap="square" rtlCol="0">
            <a:spAutoFit/>
          </a:bodyPr>
          <a:lstStyle/>
          <a:p>
            <a:r>
              <a:rPr kumimoji="1" lang="ja-JP" altLang="en-US" sz="4000" dirty="0"/>
              <a:t>目次</a:t>
            </a:r>
          </a:p>
        </p:txBody>
      </p:sp>
    </p:spTree>
    <p:extLst>
      <p:ext uri="{BB962C8B-B14F-4D97-AF65-F5344CB8AC3E}">
        <p14:creationId xmlns:p14="http://schemas.microsoft.com/office/powerpoint/2010/main" val="4228772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文本框 1">
            <a:extLst>
              <a:ext uri="{FF2B5EF4-FFF2-40B4-BE49-F238E27FC236}">
                <a16:creationId xmlns:a16="http://schemas.microsoft.com/office/drawing/2014/main" id="{55B24C37-1241-DA17-A827-4AE1F7C62BE9}"/>
              </a:ext>
            </a:extLst>
          </p:cNvPr>
          <p:cNvSpPr txBox="1"/>
          <p:nvPr/>
        </p:nvSpPr>
        <p:spPr>
          <a:xfrm>
            <a:off x="381000" y="203200"/>
            <a:ext cx="4648200" cy="646331"/>
          </a:xfrm>
          <a:prstGeom prst="rect">
            <a:avLst/>
          </a:prstGeom>
          <a:noFill/>
        </p:spPr>
        <p:txBody>
          <a:bodyPr wrap="square" rtlCol="0">
            <a:spAutoFit/>
          </a:bodyPr>
          <a:lstStyle/>
          <a:p>
            <a:r>
              <a:rPr kumimoji="1" lang="ja-JP" altLang="en-US" sz="3600" dirty="0"/>
              <a:t>一、</a:t>
            </a:r>
            <a:r>
              <a:rPr kumimoji="1" lang="en-US" altLang="ja-JP" sz="3600" dirty="0"/>
              <a:t>Introduction</a:t>
            </a:r>
            <a:endParaRPr kumimoji="1" lang="ja-JP" altLang="en-US" sz="3600" dirty="0"/>
          </a:p>
        </p:txBody>
      </p:sp>
      <p:sp>
        <p:nvSpPr>
          <p:cNvPr id="5" name="文本框 4">
            <a:extLst>
              <a:ext uri="{FF2B5EF4-FFF2-40B4-BE49-F238E27FC236}">
                <a16:creationId xmlns:a16="http://schemas.microsoft.com/office/drawing/2014/main" id="{4F6A453E-CE40-0D78-4750-714AB53F4846}"/>
              </a:ext>
            </a:extLst>
          </p:cNvPr>
          <p:cNvSpPr txBox="1"/>
          <p:nvPr/>
        </p:nvSpPr>
        <p:spPr>
          <a:xfrm>
            <a:off x="381000" y="1054576"/>
            <a:ext cx="11455400" cy="5262979"/>
          </a:xfrm>
          <a:prstGeom prst="rect">
            <a:avLst/>
          </a:prstGeom>
          <a:noFill/>
        </p:spPr>
        <p:txBody>
          <a:bodyPr wrap="square">
            <a:spAutoFit/>
          </a:bodyPr>
          <a:lstStyle/>
          <a:p>
            <a:r>
              <a:rPr lang="ja-JP" altLang="en-US" sz="2400" dirty="0"/>
              <a:t>脳卒中は、死因の第</a:t>
            </a:r>
            <a:r>
              <a:rPr lang="en-US" altLang="ja-JP" sz="2400" dirty="0"/>
              <a:t>4</a:t>
            </a:r>
            <a:r>
              <a:rPr lang="ja-JP" altLang="en-US" sz="2400" dirty="0"/>
              <a:t>位、要介護性疾患の首位を占めています。患者の大半が高齢者であり、未曾有の超高齢社会を迎えているわが国における最重要疾患の一つです。この疾患の診断には、</a:t>
            </a:r>
            <a:r>
              <a:rPr lang="en-US" altLang="ja-JP" sz="2400" dirty="0"/>
              <a:t>CT</a:t>
            </a:r>
            <a:r>
              <a:rPr lang="ja-JP" altLang="en-US" sz="2400" dirty="0"/>
              <a:t>画像中の病変をセグメンテーションし、脳卒中の位置や形状などの情報を得る必要がある。</a:t>
            </a:r>
            <a:endParaRPr lang="en-US" altLang="ja-JP" sz="2400" dirty="0"/>
          </a:p>
          <a:p>
            <a:r>
              <a:rPr lang="ja-JP" altLang="en-US" sz="2400" dirty="0"/>
              <a:t>これまでの研究では、セグメンテーションに深層学習の畳み込みニューラルネットワーク（</a:t>
            </a:r>
            <a:r>
              <a:rPr lang="en-US" altLang="ja-JP" sz="2400" dirty="0"/>
              <a:t>CNN</a:t>
            </a:r>
            <a:r>
              <a:rPr lang="ja-JP" altLang="en-US" sz="2400" dirty="0"/>
              <a:t>）を用いることが一般的であったが、計算原理の制限で、画像の全体的な情報を抽出することが困難である。 </a:t>
            </a:r>
            <a:endParaRPr lang="en-US" altLang="ja-JP" sz="2400" dirty="0"/>
          </a:p>
          <a:p>
            <a:r>
              <a:rPr lang="ja-JP" altLang="en-US" sz="2400" dirty="0"/>
              <a:t>近年、</a:t>
            </a:r>
            <a:r>
              <a:rPr lang="en-US" altLang="zh-CN" sz="2400" dirty="0"/>
              <a:t>Transformer</a:t>
            </a:r>
            <a:r>
              <a:rPr lang="ja-JP" altLang="en-US" sz="2400" dirty="0"/>
              <a:t>に基づく新たなモデルが提案され、医用画像セグメンテーション分野への応用が可能になった。</a:t>
            </a:r>
            <a:endParaRPr lang="en-US" altLang="ja-JP" sz="2400" dirty="0"/>
          </a:p>
          <a:p>
            <a:r>
              <a:rPr lang="ja-JP" altLang="en-US" sz="2400" dirty="0"/>
              <a:t>本研究では、</a:t>
            </a:r>
            <a:r>
              <a:rPr lang="en-US" altLang="ja-JP" sz="2400" dirty="0"/>
              <a:t>TransUnet</a:t>
            </a:r>
            <a:r>
              <a:rPr lang="ja-JP" altLang="en-US" sz="2400" dirty="0"/>
              <a:t>、</a:t>
            </a:r>
            <a:r>
              <a:rPr lang="en-US" altLang="ja-JP" sz="2400" dirty="0"/>
              <a:t>SwinTransformer</a:t>
            </a:r>
            <a:r>
              <a:rPr lang="ja-JP" altLang="en-US" sz="2400" dirty="0"/>
              <a:t>、</a:t>
            </a:r>
            <a:r>
              <a:rPr lang="en-US" altLang="ja-JP" sz="2400" dirty="0"/>
              <a:t>TransDeeplab</a:t>
            </a:r>
            <a:r>
              <a:rPr lang="ja-JP" altLang="en-US" sz="2400" dirty="0"/>
              <a:t>、</a:t>
            </a:r>
            <a:r>
              <a:rPr lang="en-US" altLang="ja-JP" sz="2400" dirty="0"/>
              <a:t>DeepTransUnet</a:t>
            </a:r>
            <a:r>
              <a:rPr lang="ja-JP" altLang="en-US" sz="2400" dirty="0"/>
              <a:t>をベースに、</a:t>
            </a:r>
            <a:r>
              <a:rPr lang="en-US" altLang="ja-JP" sz="2400" dirty="0"/>
              <a:t>CNN</a:t>
            </a:r>
            <a:r>
              <a:rPr lang="ja-JP" altLang="en-US" sz="2400" dirty="0"/>
              <a:t>と</a:t>
            </a:r>
            <a:r>
              <a:rPr lang="en-US" altLang="zh-CN" sz="2400" dirty="0"/>
              <a:t>T</a:t>
            </a:r>
            <a:r>
              <a:rPr lang="en-US" altLang="ja-JP" sz="2400" dirty="0"/>
              <a:t>ransformer</a:t>
            </a:r>
            <a:r>
              <a:rPr lang="ja-JP" altLang="en-US" sz="2400" dirty="0"/>
              <a:t>の長所を組み合わせた</a:t>
            </a:r>
            <a:r>
              <a:rPr lang="en-US" altLang="ja-JP" sz="2400" dirty="0"/>
              <a:t>3</a:t>
            </a:r>
            <a:r>
              <a:rPr lang="ja-JP" altLang="en-US" sz="2400" dirty="0"/>
              <a:t>つの新しいアーキテクチャを提案し、</a:t>
            </a:r>
            <a:r>
              <a:rPr lang="en-US" altLang="ja-JP" sz="2400" dirty="0"/>
              <a:t>ISLES2018</a:t>
            </a:r>
            <a:r>
              <a:rPr lang="ja-JP" altLang="en-US" sz="2400" dirty="0"/>
              <a:t>データセットで評価する予定である。</a:t>
            </a:r>
            <a:endParaRPr lang="en-US" altLang="ja-JP" sz="2400" dirty="0"/>
          </a:p>
          <a:p>
            <a:endParaRPr lang="en-US" altLang="ja-JP" sz="2400" dirty="0"/>
          </a:p>
          <a:p>
            <a:r>
              <a:rPr lang="en-US" altLang="zh-CN" sz="2400" dirty="0"/>
              <a:t>Keyword</a:t>
            </a:r>
            <a:r>
              <a:rPr lang="zh-CN" altLang="en-US" sz="2400" dirty="0"/>
              <a:t>：</a:t>
            </a:r>
            <a:r>
              <a:rPr lang="ja-JP" altLang="en-US" sz="2400" dirty="0"/>
              <a:t>セグメンテーション、脳卒中、</a:t>
            </a:r>
            <a:r>
              <a:rPr lang="en-US" altLang="ja-JP" sz="2400" dirty="0" err="1"/>
              <a:t>Swin</a:t>
            </a:r>
            <a:r>
              <a:rPr lang="en-US" altLang="ja-JP" sz="2400" dirty="0"/>
              <a:t>-transformer</a:t>
            </a:r>
            <a:r>
              <a:rPr lang="ja-JP" altLang="en-US" sz="2400" dirty="0"/>
              <a:t>、</a:t>
            </a:r>
            <a:endParaRPr lang="en-US" altLang="zh-CN" sz="2400" dirty="0"/>
          </a:p>
        </p:txBody>
      </p:sp>
    </p:spTree>
    <p:extLst>
      <p:ext uri="{BB962C8B-B14F-4D97-AF65-F5344CB8AC3E}">
        <p14:creationId xmlns:p14="http://schemas.microsoft.com/office/powerpoint/2010/main" val="2258581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4</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文本框 1">
            <a:extLst>
              <a:ext uri="{FF2B5EF4-FFF2-40B4-BE49-F238E27FC236}">
                <a16:creationId xmlns:a16="http://schemas.microsoft.com/office/drawing/2014/main" id="{8D6A8601-BB4E-3114-CD91-13157A61DEA2}"/>
              </a:ext>
            </a:extLst>
          </p:cNvPr>
          <p:cNvSpPr txBox="1"/>
          <p:nvPr/>
        </p:nvSpPr>
        <p:spPr>
          <a:xfrm>
            <a:off x="368300" y="215900"/>
            <a:ext cx="4965700" cy="646331"/>
          </a:xfrm>
          <a:prstGeom prst="rect">
            <a:avLst/>
          </a:prstGeom>
          <a:noFill/>
        </p:spPr>
        <p:txBody>
          <a:bodyPr wrap="square" rtlCol="0">
            <a:spAutoFit/>
          </a:bodyPr>
          <a:lstStyle/>
          <a:p>
            <a:r>
              <a:rPr kumimoji="1" lang="ja-JP" altLang="en-US" sz="3600" dirty="0"/>
              <a:t>二、</a:t>
            </a:r>
            <a:r>
              <a:rPr kumimoji="1" lang="en-US" altLang="ja-JP" sz="3600" dirty="0"/>
              <a:t>Related works</a:t>
            </a:r>
          </a:p>
        </p:txBody>
      </p:sp>
      <p:sp>
        <p:nvSpPr>
          <p:cNvPr id="3" name="文本框 2">
            <a:extLst>
              <a:ext uri="{FF2B5EF4-FFF2-40B4-BE49-F238E27FC236}">
                <a16:creationId xmlns:a16="http://schemas.microsoft.com/office/drawing/2014/main" id="{EDB7C515-B24F-60C2-B606-9361CF8E02F9}"/>
              </a:ext>
            </a:extLst>
          </p:cNvPr>
          <p:cNvSpPr txBox="1"/>
          <p:nvPr/>
        </p:nvSpPr>
        <p:spPr>
          <a:xfrm>
            <a:off x="3898900" y="1997839"/>
            <a:ext cx="4394200" cy="2862322"/>
          </a:xfrm>
          <a:prstGeom prst="rect">
            <a:avLst/>
          </a:prstGeom>
          <a:noFill/>
        </p:spPr>
        <p:txBody>
          <a:bodyPr wrap="square" rtlCol="0">
            <a:spAutoFit/>
          </a:bodyPr>
          <a:lstStyle/>
          <a:p>
            <a:r>
              <a:rPr kumimoji="1" lang="en-US" altLang="ja-JP" sz="3600" dirty="0"/>
              <a:t>1</a:t>
            </a:r>
            <a:r>
              <a:rPr kumimoji="1" lang="zh-CN" altLang="en-US" sz="3600" dirty="0"/>
              <a:t>、</a:t>
            </a:r>
            <a:r>
              <a:rPr kumimoji="1" lang="en-US" altLang="ja-JP" sz="3600" dirty="0"/>
              <a:t>1998-2014</a:t>
            </a:r>
          </a:p>
          <a:p>
            <a:endParaRPr kumimoji="1" lang="en-US" altLang="ja-JP" sz="3600" dirty="0"/>
          </a:p>
          <a:p>
            <a:r>
              <a:rPr kumimoji="1" lang="en-US" altLang="ja-JP" sz="3600" dirty="0"/>
              <a:t>2</a:t>
            </a:r>
            <a:r>
              <a:rPr kumimoji="1" lang="zh-CN" altLang="en-US" sz="3600" dirty="0"/>
              <a:t>、</a:t>
            </a:r>
            <a:r>
              <a:rPr kumimoji="1" lang="en-US" altLang="ja-JP" sz="3600" dirty="0"/>
              <a:t>2015</a:t>
            </a:r>
          </a:p>
          <a:p>
            <a:endParaRPr kumimoji="1" lang="en-US" altLang="ja-JP" sz="3600" dirty="0"/>
          </a:p>
          <a:p>
            <a:r>
              <a:rPr kumimoji="1" lang="en-US" altLang="ja-JP" sz="3600" dirty="0"/>
              <a:t>3</a:t>
            </a:r>
            <a:r>
              <a:rPr kumimoji="1" lang="zh-CN" altLang="en-US" sz="3600" dirty="0"/>
              <a:t>、</a:t>
            </a:r>
            <a:r>
              <a:rPr kumimoji="1" lang="en-US" altLang="ja-JP" sz="3600" dirty="0"/>
              <a:t>2017-</a:t>
            </a:r>
            <a:r>
              <a:rPr kumimoji="1" lang="en-US" altLang="zh-CN" sz="3600" dirty="0"/>
              <a:t>Now</a:t>
            </a:r>
            <a:endParaRPr kumimoji="1" lang="ja-JP" altLang="en-US" sz="3600" dirty="0"/>
          </a:p>
        </p:txBody>
      </p:sp>
    </p:spTree>
    <p:extLst>
      <p:ext uri="{BB962C8B-B14F-4D97-AF65-F5344CB8AC3E}">
        <p14:creationId xmlns:p14="http://schemas.microsoft.com/office/powerpoint/2010/main" val="192984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5</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文本框 1">
            <a:extLst>
              <a:ext uri="{FF2B5EF4-FFF2-40B4-BE49-F238E27FC236}">
                <a16:creationId xmlns:a16="http://schemas.microsoft.com/office/drawing/2014/main" id="{2F2BEFEC-FA6E-8107-2341-92821B42AD2B}"/>
              </a:ext>
            </a:extLst>
          </p:cNvPr>
          <p:cNvSpPr txBox="1"/>
          <p:nvPr/>
        </p:nvSpPr>
        <p:spPr>
          <a:xfrm>
            <a:off x="2500" y="0"/>
            <a:ext cx="12189500" cy="1200329"/>
          </a:xfrm>
          <a:prstGeom prst="rect">
            <a:avLst/>
          </a:prstGeom>
          <a:noFill/>
        </p:spPr>
        <p:txBody>
          <a:bodyPr wrap="square" rtlCol="0">
            <a:spAutoFit/>
          </a:bodyPr>
          <a:lstStyle/>
          <a:p>
            <a:r>
              <a:rPr kumimoji="1" lang="en-US" altLang="ja-JP" sz="3600" dirty="0" err="1"/>
              <a:t>LeNet《Gradient-Based</a:t>
            </a:r>
            <a:r>
              <a:rPr kumimoji="1" lang="en-US" altLang="ja-JP" sz="3600" dirty="0"/>
              <a:t> Learning Applied to Document Recognition》</a:t>
            </a:r>
            <a:r>
              <a:rPr kumimoji="1" lang="zh-CN" altLang="en-US" sz="3600" dirty="0"/>
              <a:t>（</a:t>
            </a:r>
            <a:r>
              <a:rPr kumimoji="1" lang="en-US" altLang="ja-JP" sz="3600" dirty="0"/>
              <a:t>1998 IEEE</a:t>
            </a:r>
            <a:r>
              <a:rPr kumimoji="1" lang="zh-CN" altLang="en-US" sz="3600" dirty="0"/>
              <a:t>）</a:t>
            </a:r>
            <a:endParaRPr kumimoji="1" lang="en-US" altLang="ja-JP" sz="3600" dirty="0"/>
          </a:p>
        </p:txBody>
      </p:sp>
      <p:pic>
        <p:nvPicPr>
          <p:cNvPr id="8" name="图片 7">
            <a:extLst>
              <a:ext uri="{FF2B5EF4-FFF2-40B4-BE49-F238E27FC236}">
                <a16:creationId xmlns:a16="http://schemas.microsoft.com/office/drawing/2014/main" id="{9B2DF272-68C6-167A-9717-B97D0790DA6A}"/>
              </a:ext>
            </a:extLst>
          </p:cNvPr>
          <p:cNvPicPr>
            <a:picLocks noChangeAspect="1"/>
          </p:cNvPicPr>
          <p:nvPr/>
        </p:nvPicPr>
        <p:blipFill>
          <a:blip r:embed="rId3"/>
          <a:stretch>
            <a:fillRect/>
          </a:stretch>
        </p:blipFill>
        <p:spPr>
          <a:xfrm>
            <a:off x="247650" y="1909357"/>
            <a:ext cx="11696700" cy="3829050"/>
          </a:xfrm>
          <a:prstGeom prst="rect">
            <a:avLst/>
          </a:prstGeom>
        </p:spPr>
      </p:pic>
    </p:spTree>
    <p:extLst>
      <p:ext uri="{BB962C8B-B14F-4D97-AF65-F5344CB8AC3E}">
        <p14:creationId xmlns:p14="http://schemas.microsoft.com/office/powerpoint/2010/main" val="2111183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6</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138131F3-A8D6-5348-5687-1127792BD271}"/>
              </a:ext>
            </a:extLst>
          </p:cNvPr>
          <p:cNvSpPr txBox="1"/>
          <p:nvPr/>
        </p:nvSpPr>
        <p:spPr>
          <a:xfrm>
            <a:off x="0" y="0"/>
            <a:ext cx="11937445" cy="1200329"/>
          </a:xfrm>
          <a:prstGeom prst="rect">
            <a:avLst/>
          </a:prstGeom>
          <a:noFill/>
        </p:spPr>
        <p:txBody>
          <a:bodyPr wrap="square">
            <a:spAutoFit/>
          </a:bodyPr>
          <a:lstStyle/>
          <a:p>
            <a:r>
              <a:rPr lang="ja-JP" altLang="en-US" sz="3600" dirty="0"/>
              <a:t>AlexNet</a:t>
            </a:r>
            <a:r>
              <a:rPr lang="en-US" altLang="zh-CN" sz="3600" dirty="0"/>
              <a:t>《</a:t>
            </a:r>
            <a:r>
              <a:rPr lang="ja-JP" altLang="en-US" sz="3600" dirty="0"/>
              <a:t>ImageNet Classification with Deep Convolutional Neural Networks</a:t>
            </a:r>
            <a:r>
              <a:rPr lang="en-US" altLang="zh-CN" sz="3600" dirty="0"/>
              <a:t>》</a:t>
            </a:r>
            <a:r>
              <a:rPr lang="zh-CN" altLang="en-US" sz="3600" dirty="0"/>
              <a:t>（</a:t>
            </a:r>
            <a:r>
              <a:rPr lang="en-US" altLang="zh-CN" sz="3600" dirty="0"/>
              <a:t>2010ILSVRC</a:t>
            </a:r>
            <a:r>
              <a:rPr lang="zh-CN" altLang="en-US" sz="3600" dirty="0"/>
              <a:t>）</a:t>
            </a:r>
            <a:endParaRPr lang="ja-JP" altLang="en-US" sz="3600" dirty="0"/>
          </a:p>
        </p:txBody>
      </p:sp>
      <p:pic>
        <p:nvPicPr>
          <p:cNvPr id="5" name="图片 4">
            <a:extLst>
              <a:ext uri="{FF2B5EF4-FFF2-40B4-BE49-F238E27FC236}">
                <a16:creationId xmlns:a16="http://schemas.microsoft.com/office/drawing/2014/main" id="{12FE2A80-FBB7-4B16-C2D2-6EE5E914287C}"/>
              </a:ext>
            </a:extLst>
          </p:cNvPr>
          <p:cNvPicPr>
            <a:picLocks noChangeAspect="1"/>
          </p:cNvPicPr>
          <p:nvPr/>
        </p:nvPicPr>
        <p:blipFill>
          <a:blip r:embed="rId3"/>
          <a:stretch>
            <a:fillRect/>
          </a:stretch>
        </p:blipFill>
        <p:spPr>
          <a:xfrm>
            <a:off x="863600" y="1079500"/>
            <a:ext cx="9563100" cy="5848137"/>
          </a:xfrm>
          <a:prstGeom prst="rect">
            <a:avLst/>
          </a:prstGeom>
        </p:spPr>
      </p:pic>
    </p:spTree>
    <p:extLst>
      <p:ext uri="{BB962C8B-B14F-4D97-AF65-F5344CB8AC3E}">
        <p14:creationId xmlns:p14="http://schemas.microsoft.com/office/powerpoint/2010/main" val="1301780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7</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7A59CD65-F534-F7D4-DA9E-A0AAC83D6E86}"/>
              </a:ext>
            </a:extLst>
          </p:cNvPr>
          <p:cNvSpPr txBox="1"/>
          <p:nvPr/>
        </p:nvSpPr>
        <p:spPr>
          <a:xfrm>
            <a:off x="0" y="0"/>
            <a:ext cx="12192000" cy="1200329"/>
          </a:xfrm>
          <a:prstGeom prst="rect">
            <a:avLst/>
          </a:prstGeom>
          <a:noFill/>
        </p:spPr>
        <p:txBody>
          <a:bodyPr wrap="square">
            <a:spAutoFit/>
          </a:bodyPr>
          <a:lstStyle/>
          <a:p>
            <a:r>
              <a:rPr lang="ja-JP" altLang="en-US" sz="3600" dirty="0"/>
              <a:t>VGG16</a:t>
            </a:r>
            <a:r>
              <a:rPr lang="en-US" altLang="zh-CN" sz="3600" dirty="0"/>
              <a:t>《Very Deep Convolutional Networks for Large-Scale Image Recognition》</a:t>
            </a:r>
            <a:r>
              <a:rPr lang="zh-CN" altLang="en-US" sz="3600" dirty="0"/>
              <a:t>（</a:t>
            </a:r>
            <a:r>
              <a:rPr lang="en-US" altLang="zh-CN" sz="3600" dirty="0"/>
              <a:t>2014ILSVRC</a:t>
            </a:r>
            <a:r>
              <a:rPr lang="zh-CN" altLang="en-US" sz="3600" dirty="0"/>
              <a:t>）</a:t>
            </a:r>
            <a:endParaRPr lang="ja-JP" altLang="en-US" sz="3600" dirty="0"/>
          </a:p>
        </p:txBody>
      </p:sp>
      <p:pic>
        <p:nvPicPr>
          <p:cNvPr id="5" name="图片 4">
            <a:extLst>
              <a:ext uri="{FF2B5EF4-FFF2-40B4-BE49-F238E27FC236}">
                <a16:creationId xmlns:a16="http://schemas.microsoft.com/office/drawing/2014/main" id="{B5E16F2E-160B-AA06-5EDD-91D8184AFE22}"/>
              </a:ext>
            </a:extLst>
          </p:cNvPr>
          <p:cNvPicPr>
            <a:picLocks noChangeAspect="1"/>
          </p:cNvPicPr>
          <p:nvPr/>
        </p:nvPicPr>
        <p:blipFill>
          <a:blip r:embed="rId3"/>
          <a:stretch>
            <a:fillRect/>
          </a:stretch>
        </p:blipFill>
        <p:spPr>
          <a:xfrm>
            <a:off x="-1" y="1446686"/>
            <a:ext cx="6426201" cy="4212228"/>
          </a:xfrm>
          <a:prstGeom prst="rect">
            <a:avLst/>
          </a:prstGeom>
        </p:spPr>
      </p:pic>
      <p:pic>
        <p:nvPicPr>
          <p:cNvPr id="9" name="图片 8">
            <a:extLst>
              <a:ext uri="{FF2B5EF4-FFF2-40B4-BE49-F238E27FC236}">
                <a16:creationId xmlns:a16="http://schemas.microsoft.com/office/drawing/2014/main" id="{77B38E6E-7A6D-35AF-3D58-FAA097D91925}"/>
              </a:ext>
            </a:extLst>
          </p:cNvPr>
          <p:cNvPicPr>
            <a:picLocks noChangeAspect="1"/>
          </p:cNvPicPr>
          <p:nvPr/>
        </p:nvPicPr>
        <p:blipFill>
          <a:blip r:embed="rId4"/>
          <a:stretch>
            <a:fillRect/>
          </a:stretch>
        </p:blipFill>
        <p:spPr>
          <a:xfrm>
            <a:off x="6679645" y="1148692"/>
            <a:ext cx="4892000" cy="5709308"/>
          </a:xfrm>
          <a:prstGeom prst="rect">
            <a:avLst/>
          </a:prstGeom>
        </p:spPr>
      </p:pic>
      <p:pic>
        <p:nvPicPr>
          <p:cNvPr id="11" name="图片 10">
            <a:extLst>
              <a:ext uri="{FF2B5EF4-FFF2-40B4-BE49-F238E27FC236}">
                <a16:creationId xmlns:a16="http://schemas.microsoft.com/office/drawing/2014/main" id="{1D570BD1-0E08-3625-AD74-1FBD6B13CFFA}"/>
              </a:ext>
            </a:extLst>
          </p:cNvPr>
          <p:cNvPicPr>
            <a:picLocks noChangeAspect="1"/>
          </p:cNvPicPr>
          <p:nvPr/>
        </p:nvPicPr>
        <p:blipFill>
          <a:blip r:embed="rId5"/>
          <a:stretch>
            <a:fillRect/>
          </a:stretch>
        </p:blipFill>
        <p:spPr>
          <a:xfrm>
            <a:off x="6313845" y="1446686"/>
            <a:ext cx="3591648" cy="3512614"/>
          </a:xfrm>
          <a:prstGeom prst="rect">
            <a:avLst/>
          </a:prstGeom>
        </p:spPr>
      </p:pic>
    </p:spTree>
    <p:extLst>
      <p:ext uri="{BB962C8B-B14F-4D97-AF65-F5344CB8AC3E}">
        <p14:creationId xmlns:p14="http://schemas.microsoft.com/office/powerpoint/2010/main" val="85392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8</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7E5AA6F6-D6B3-F88D-4D56-6E48DED018CD}"/>
              </a:ext>
            </a:extLst>
          </p:cNvPr>
          <p:cNvSpPr txBox="1"/>
          <p:nvPr/>
        </p:nvSpPr>
        <p:spPr>
          <a:xfrm>
            <a:off x="0" y="0"/>
            <a:ext cx="12192000" cy="1200329"/>
          </a:xfrm>
          <a:prstGeom prst="rect">
            <a:avLst/>
          </a:prstGeom>
          <a:noFill/>
        </p:spPr>
        <p:txBody>
          <a:bodyPr wrap="square">
            <a:spAutoFit/>
          </a:bodyPr>
          <a:lstStyle/>
          <a:p>
            <a:r>
              <a:rPr lang="en-US" altLang="ja-JP" sz="3600" dirty="0"/>
              <a:t>FCN</a:t>
            </a:r>
            <a:r>
              <a:rPr lang="en-US" altLang="zh-CN" sz="3600" dirty="0"/>
              <a:t>《</a:t>
            </a:r>
            <a:r>
              <a:rPr lang="ja-JP" altLang="en-US" sz="3600" dirty="0"/>
              <a:t>Fully Convolutional Networks for Semantic Segmentation</a:t>
            </a:r>
            <a:r>
              <a:rPr lang="en-US" altLang="zh-CN" sz="3600" dirty="0"/>
              <a:t>》 </a:t>
            </a:r>
            <a:r>
              <a:rPr lang="zh-CN" altLang="en-US" sz="3600" dirty="0"/>
              <a:t>（</a:t>
            </a:r>
            <a:r>
              <a:rPr lang="en-US" altLang="zh-CN" sz="3600" dirty="0"/>
              <a:t>2015CVPR</a:t>
            </a:r>
            <a:r>
              <a:rPr lang="zh-CN" altLang="en-US" sz="3600" dirty="0"/>
              <a:t>）</a:t>
            </a:r>
            <a:endParaRPr lang="ja-JP" altLang="en-US" sz="3600" dirty="0"/>
          </a:p>
        </p:txBody>
      </p:sp>
      <p:pic>
        <p:nvPicPr>
          <p:cNvPr id="7" name="图片 6">
            <a:extLst>
              <a:ext uri="{FF2B5EF4-FFF2-40B4-BE49-F238E27FC236}">
                <a16:creationId xmlns:a16="http://schemas.microsoft.com/office/drawing/2014/main" id="{875067CD-058F-AA5E-31F3-EA3D7A832D6F}"/>
              </a:ext>
            </a:extLst>
          </p:cNvPr>
          <p:cNvPicPr>
            <a:picLocks noChangeAspect="1"/>
          </p:cNvPicPr>
          <p:nvPr/>
        </p:nvPicPr>
        <p:blipFill>
          <a:blip r:embed="rId3"/>
          <a:stretch>
            <a:fillRect/>
          </a:stretch>
        </p:blipFill>
        <p:spPr>
          <a:xfrm>
            <a:off x="1790700" y="3033429"/>
            <a:ext cx="6975383" cy="3824571"/>
          </a:xfrm>
          <a:prstGeom prst="rect">
            <a:avLst/>
          </a:prstGeom>
        </p:spPr>
      </p:pic>
      <p:pic>
        <p:nvPicPr>
          <p:cNvPr id="9" name="图片 8">
            <a:extLst>
              <a:ext uri="{FF2B5EF4-FFF2-40B4-BE49-F238E27FC236}">
                <a16:creationId xmlns:a16="http://schemas.microsoft.com/office/drawing/2014/main" id="{B4DF31BE-6EE7-0701-36C2-7E4265E8FF08}"/>
              </a:ext>
            </a:extLst>
          </p:cNvPr>
          <p:cNvPicPr>
            <a:picLocks noChangeAspect="1"/>
          </p:cNvPicPr>
          <p:nvPr/>
        </p:nvPicPr>
        <p:blipFill>
          <a:blip r:embed="rId4"/>
          <a:stretch>
            <a:fillRect/>
          </a:stretch>
        </p:blipFill>
        <p:spPr>
          <a:xfrm>
            <a:off x="614458" y="1200329"/>
            <a:ext cx="9327865" cy="2228671"/>
          </a:xfrm>
          <a:prstGeom prst="rect">
            <a:avLst/>
          </a:prstGeom>
        </p:spPr>
      </p:pic>
      <p:pic>
        <p:nvPicPr>
          <p:cNvPr id="11" name="图片 10">
            <a:extLst>
              <a:ext uri="{FF2B5EF4-FFF2-40B4-BE49-F238E27FC236}">
                <a16:creationId xmlns:a16="http://schemas.microsoft.com/office/drawing/2014/main" id="{DACEBFE8-C36E-ED2B-3AE7-BC8419B32844}"/>
              </a:ext>
            </a:extLst>
          </p:cNvPr>
          <p:cNvPicPr>
            <a:picLocks noChangeAspect="1"/>
          </p:cNvPicPr>
          <p:nvPr/>
        </p:nvPicPr>
        <p:blipFill>
          <a:blip r:embed="rId5"/>
          <a:stretch>
            <a:fillRect/>
          </a:stretch>
        </p:blipFill>
        <p:spPr>
          <a:xfrm>
            <a:off x="-1" y="1200329"/>
            <a:ext cx="12083481" cy="5132806"/>
          </a:xfrm>
          <a:prstGeom prst="rect">
            <a:avLst/>
          </a:prstGeom>
        </p:spPr>
      </p:pic>
    </p:spTree>
    <p:extLst>
      <p:ext uri="{BB962C8B-B14F-4D97-AF65-F5344CB8AC3E}">
        <p14:creationId xmlns:p14="http://schemas.microsoft.com/office/powerpoint/2010/main" val="392375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7" name="图片 6">
            <a:extLst>
              <a:ext uri="{FF2B5EF4-FFF2-40B4-BE49-F238E27FC236}">
                <a16:creationId xmlns:a16="http://schemas.microsoft.com/office/drawing/2014/main" id="{E0A5C643-6FD0-1399-8D1F-ECC5D410DFA9}"/>
              </a:ext>
            </a:extLst>
          </p:cNvPr>
          <p:cNvPicPr>
            <a:picLocks noChangeAspect="1"/>
          </p:cNvPicPr>
          <p:nvPr/>
        </p:nvPicPr>
        <p:blipFill>
          <a:blip r:embed="rId3"/>
          <a:stretch>
            <a:fillRect/>
          </a:stretch>
        </p:blipFill>
        <p:spPr>
          <a:xfrm>
            <a:off x="1436687" y="1085850"/>
            <a:ext cx="8963025" cy="5772150"/>
          </a:xfrm>
          <a:prstGeom prst="rect">
            <a:avLst/>
          </a:prstGeom>
        </p:spPr>
      </p:pic>
      <p:sp>
        <p:nvSpPr>
          <p:cNvPr id="2" name="矩形 1">
            <a:extLst>
              <a:ext uri="{FF2B5EF4-FFF2-40B4-BE49-F238E27FC236}">
                <a16:creationId xmlns:a16="http://schemas.microsoft.com/office/drawing/2014/main" id="{C2E522FE-8986-D8F5-E458-DEA8E3E97D04}"/>
              </a:ext>
            </a:extLst>
          </p:cNvPr>
          <p:cNvSpPr/>
          <p:nvPr/>
        </p:nvSpPr>
        <p:spPr>
          <a:xfrm>
            <a:off x="2909887" y="1782696"/>
            <a:ext cx="4887913" cy="914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9</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0C75AF96-3524-C5BE-71F8-3C2B78E64338}"/>
              </a:ext>
            </a:extLst>
          </p:cNvPr>
          <p:cNvSpPr txBox="1"/>
          <p:nvPr/>
        </p:nvSpPr>
        <p:spPr>
          <a:xfrm>
            <a:off x="0" y="0"/>
            <a:ext cx="12192000" cy="1200329"/>
          </a:xfrm>
          <a:prstGeom prst="rect">
            <a:avLst/>
          </a:prstGeom>
          <a:noFill/>
        </p:spPr>
        <p:txBody>
          <a:bodyPr wrap="square">
            <a:spAutoFit/>
          </a:bodyPr>
          <a:lstStyle/>
          <a:p>
            <a:r>
              <a:rPr lang="en-US" altLang="zh-CN" sz="3600" dirty="0"/>
              <a:t>Unet《</a:t>
            </a:r>
            <a:r>
              <a:rPr lang="ja-JP" altLang="en-US" sz="3600" dirty="0"/>
              <a:t>U-Net: Convolutional Networks for Biomedical Image Segmentation</a:t>
            </a:r>
            <a:r>
              <a:rPr lang="en-US" altLang="zh-CN" sz="3600" dirty="0"/>
              <a:t>》</a:t>
            </a:r>
            <a:r>
              <a:rPr lang="zh-CN" altLang="en-US" sz="3600" dirty="0"/>
              <a:t>（</a:t>
            </a:r>
            <a:r>
              <a:rPr lang="en-US" altLang="zh-CN" sz="3600" dirty="0"/>
              <a:t>2015MICCAI</a:t>
            </a:r>
            <a:r>
              <a:rPr lang="zh-CN" altLang="en-US" sz="3600" dirty="0"/>
              <a:t>）</a:t>
            </a:r>
            <a:endParaRPr lang="ja-JP" altLang="en-US" sz="3600" dirty="0"/>
          </a:p>
        </p:txBody>
      </p:sp>
      <p:sp>
        <p:nvSpPr>
          <p:cNvPr id="8" name="文本框 7">
            <a:extLst>
              <a:ext uri="{FF2B5EF4-FFF2-40B4-BE49-F238E27FC236}">
                <a16:creationId xmlns:a16="http://schemas.microsoft.com/office/drawing/2014/main" id="{65A4030E-2A28-5B48-E539-1DAB97071525}"/>
              </a:ext>
            </a:extLst>
          </p:cNvPr>
          <p:cNvSpPr txBox="1"/>
          <p:nvPr/>
        </p:nvSpPr>
        <p:spPr>
          <a:xfrm>
            <a:off x="1436687" y="3971925"/>
            <a:ext cx="1473200" cy="369332"/>
          </a:xfrm>
          <a:prstGeom prst="rect">
            <a:avLst/>
          </a:prstGeom>
          <a:noFill/>
        </p:spPr>
        <p:txBody>
          <a:bodyPr wrap="square" rtlCol="0">
            <a:spAutoFit/>
          </a:bodyPr>
          <a:lstStyle/>
          <a:p>
            <a:r>
              <a:rPr kumimoji="1" lang="en-US" altLang="ja-JP" dirty="0">
                <a:solidFill>
                  <a:schemeClr val="accent5"/>
                </a:solidFill>
              </a:rPr>
              <a:t>Encoder</a:t>
            </a:r>
            <a:endParaRPr kumimoji="1" lang="ja-JP" altLang="en-US" dirty="0">
              <a:solidFill>
                <a:schemeClr val="accent5"/>
              </a:solidFill>
            </a:endParaRPr>
          </a:p>
        </p:txBody>
      </p:sp>
      <p:sp>
        <p:nvSpPr>
          <p:cNvPr id="9" name="文本框 8">
            <a:extLst>
              <a:ext uri="{FF2B5EF4-FFF2-40B4-BE49-F238E27FC236}">
                <a16:creationId xmlns:a16="http://schemas.microsoft.com/office/drawing/2014/main" id="{78B2D86E-ED93-42EC-6825-ABF70A39C97E}"/>
              </a:ext>
            </a:extLst>
          </p:cNvPr>
          <p:cNvSpPr txBox="1"/>
          <p:nvPr/>
        </p:nvSpPr>
        <p:spPr>
          <a:xfrm>
            <a:off x="5685437" y="2896995"/>
            <a:ext cx="1029449" cy="369332"/>
          </a:xfrm>
          <a:prstGeom prst="rect">
            <a:avLst/>
          </a:prstGeom>
          <a:noFill/>
        </p:spPr>
        <p:txBody>
          <a:bodyPr wrap="none" rtlCol="0">
            <a:spAutoFit/>
          </a:bodyPr>
          <a:lstStyle/>
          <a:p>
            <a:r>
              <a:rPr kumimoji="1" lang="en-US" altLang="ja-JP" dirty="0">
                <a:solidFill>
                  <a:schemeClr val="accent6"/>
                </a:solidFill>
              </a:rPr>
              <a:t>Decoder</a:t>
            </a:r>
            <a:endParaRPr kumimoji="1" lang="ja-JP" altLang="en-US" dirty="0">
              <a:solidFill>
                <a:schemeClr val="accent6"/>
              </a:solidFill>
            </a:endParaRPr>
          </a:p>
        </p:txBody>
      </p:sp>
      <p:sp>
        <p:nvSpPr>
          <p:cNvPr id="10" name="文本框 9">
            <a:extLst>
              <a:ext uri="{FF2B5EF4-FFF2-40B4-BE49-F238E27FC236}">
                <a16:creationId xmlns:a16="http://schemas.microsoft.com/office/drawing/2014/main" id="{9F5D4683-79F2-0EC9-6F5F-4B7529750E67}"/>
              </a:ext>
            </a:extLst>
          </p:cNvPr>
          <p:cNvSpPr txBox="1"/>
          <p:nvPr/>
        </p:nvSpPr>
        <p:spPr>
          <a:xfrm>
            <a:off x="6426200" y="6333135"/>
            <a:ext cx="1371600" cy="369332"/>
          </a:xfrm>
          <a:prstGeom prst="rect">
            <a:avLst/>
          </a:prstGeom>
          <a:noFill/>
        </p:spPr>
        <p:txBody>
          <a:bodyPr wrap="square" rtlCol="0">
            <a:spAutoFit/>
          </a:bodyPr>
          <a:lstStyle/>
          <a:p>
            <a:r>
              <a:rPr kumimoji="1" lang="en-US" altLang="ja-JP" dirty="0">
                <a:solidFill>
                  <a:srgbClr val="FF0000"/>
                </a:solidFill>
              </a:rPr>
              <a:t>Bottleneck</a:t>
            </a:r>
            <a:endParaRPr kumimoji="1" lang="ja-JP" altLang="en-US" dirty="0">
              <a:solidFill>
                <a:srgbClr val="FF0000"/>
              </a:solidFill>
            </a:endParaRPr>
          </a:p>
        </p:txBody>
      </p:sp>
      <p:sp>
        <p:nvSpPr>
          <p:cNvPr id="11" name="文本框 10">
            <a:extLst>
              <a:ext uri="{FF2B5EF4-FFF2-40B4-BE49-F238E27FC236}">
                <a16:creationId xmlns:a16="http://schemas.microsoft.com/office/drawing/2014/main" id="{822B20E7-6E29-8AC8-56EF-5DE68137804A}"/>
              </a:ext>
            </a:extLst>
          </p:cNvPr>
          <p:cNvSpPr txBox="1"/>
          <p:nvPr/>
        </p:nvSpPr>
        <p:spPr>
          <a:xfrm>
            <a:off x="3073399" y="1916847"/>
            <a:ext cx="2844800" cy="369332"/>
          </a:xfrm>
          <a:prstGeom prst="rect">
            <a:avLst/>
          </a:prstGeom>
          <a:noFill/>
        </p:spPr>
        <p:txBody>
          <a:bodyPr wrap="square" rtlCol="0">
            <a:spAutoFit/>
          </a:bodyPr>
          <a:lstStyle/>
          <a:p>
            <a:r>
              <a:rPr kumimoji="1" lang="en-US" altLang="ja-JP" dirty="0">
                <a:solidFill>
                  <a:schemeClr val="bg1">
                    <a:lumMod val="65000"/>
                  </a:schemeClr>
                </a:solidFill>
              </a:rPr>
              <a:t>Skip connection</a:t>
            </a:r>
            <a:endParaRPr kumimoji="1" lang="ja-JP" altLang="en-US" dirty="0">
              <a:solidFill>
                <a:schemeClr val="bg1">
                  <a:lumMod val="65000"/>
                </a:schemeClr>
              </a:solidFill>
            </a:endParaRPr>
          </a:p>
        </p:txBody>
      </p:sp>
    </p:spTree>
    <p:extLst>
      <p:ext uri="{BB962C8B-B14F-4D97-AF65-F5344CB8AC3E}">
        <p14:creationId xmlns:p14="http://schemas.microsoft.com/office/powerpoint/2010/main" val="4011725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10</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B61B994C-FB62-9C02-2D9B-5E7FCAFE51C7}"/>
              </a:ext>
            </a:extLst>
          </p:cNvPr>
          <p:cNvSpPr txBox="1"/>
          <p:nvPr/>
        </p:nvSpPr>
        <p:spPr>
          <a:xfrm>
            <a:off x="-1" y="0"/>
            <a:ext cx="11937445" cy="646331"/>
          </a:xfrm>
          <a:prstGeom prst="rect">
            <a:avLst/>
          </a:prstGeom>
          <a:noFill/>
        </p:spPr>
        <p:txBody>
          <a:bodyPr wrap="square">
            <a:spAutoFit/>
          </a:bodyPr>
          <a:lstStyle/>
          <a:p>
            <a:r>
              <a:rPr lang="en-US" altLang="zh-CN" sz="3600" dirty="0"/>
              <a:t>Transformer《</a:t>
            </a:r>
            <a:r>
              <a:rPr lang="ja-JP" altLang="en-US" sz="3600" dirty="0"/>
              <a:t>Attention Is All You Need</a:t>
            </a:r>
            <a:r>
              <a:rPr lang="en-US" altLang="zh-CN" sz="3600" dirty="0"/>
              <a:t>》</a:t>
            </a:r>
            <a:r>
              <a:rPr lang="zh-CN" altLang="en-US" sz="3600" dirty="0"/>
              <a:t>（</a:t>
            </a:r>
            <a:r>
              <a:rPr lang="en-US" altLang="zh-CN" sz="3600" dirty="0"/>
              <a:t>2017 NIPS</a:t>
            </a:r>
            <a:r>
              <a:rPr lang="zh-CN" altLang="en-US" sz="3600" dirty="0"/>
              <a:t>）</a:t>
            </a:r>
            <a:endParaRPr lang="ja-JP" altLang="en-US" sz="3600" dirty="0"/>
          </a:p>
        </p:txBody>
      </p:sp>
      <p:pic>
        <p:nvPicPr>
          <p:cNvPr id="5" name="图片 4">
            <a:extLst>
              <a:ext uri="{FF2B5EF4-FFF2-40B4-BE49-F238E27FC236}">
                <a16:creationId xmlns:a16="http://schemas.microsoft.com/office/drawing/2014/main" id="{63C7C830-0C39-3467-DF3B-7B2010A9C398}"/>
              </a:ext>
            </a:extLst>
          </p:cNvPr>
          <p:cNvPicPr>
            <a:picLocks noChangeAspect="1"/>
          </p:cNvPicPr>
          <p:nvPr/>
        </p:nvPicPr>
        <p:blipFill>
          <a:blip r:embed="rId3"/>
          <a:stretch>
            <a:fillRect/>
          </a:stretch>
        </p:blipFill>
        <p:spPr>
          <a:xfrm>
            <a:off x="254555" y="646331"/>
            <a:ext cx="4048598" cy="5892800"/>
          </a:xfrm>
          <a:prstGeom prst="rect">
            <a:avLst/>
          </a:prstGeom>
        </p:spPr>
      </p:pic>
      <p:pic>
        <p:nvPicPr>
          <p:cNvPr id="7" name="图片 6">
            <a:extLst>
              <a:ext uri="{FF2B5EF4-FFF2-40B4-BE49-F238E27FC236}">
                <a16:creationId xmlns:a16="http://schemas.microsoft.com/office/drawing/2014/main" id="{C8EB5B2F-2B53-9866-DEA2-A3F887C4998E}"/>
              </a:ext>
            </a:extLst>
          </p:cNvPr>
          <p:cNvPicPr>
            <a:picLocks noChangeAspect="1"/>
          </p:cNvPicPr>
          <p:nvPr/>
        </p:nvPicPr>
        <p:blipFill>
          <a:blip r:embed="rId4"/>
          <a:stretch>
            <a:fillRect/>
          </a:stretch>
        </p:blipFill>
        <p:spPr>
          <a:xfrm>
            <a:off x="4909820" y="2569476"/>
            <a:ext cx="7027624" cy="3763659"/>
          </a:xfrm>
          <a:prstGeom prst="rect">
            <a:avLst/>
          </a:prstGeom>
        </p:spPr>
      </p:pic>
      <p:sp>
        <p:nvSpPr>
          <p:cNvPr id="9" name="文本框 8">
            <a:extLst>
              <a:ext uri="{FF2B5EF4-FFF2-40B4-BE49-F238E27FC236}">
                <a16:creationId xmlns:a16="http://schemas.microsoft.com/office/drawing/2014/main" id="{077D93A2-9313-4A90-7444-8B1D126A5DE4}"/>
              </a:ext>
            </a:extLst>
          </p:cNvPr>
          <p:cNvSpPr txBox="1"/>
          <p:nvPr/>
        </p:nvSpPr>
        <p:spPr>
          <a:xfrm>
            <a:off x="4481013" y="1184481"/>
            <a:ext cx="7278570" cy="1384995"/>
          </a:xfrm>
          <a:prstGeom prst="rect">
            <a:avLst/>
          </a:prstGeom>
          <a:noFill/>
        </p:spPr>
        <p:txBody>
          <a:bodyPr wrap="square">
            <a:spAutoFit/>
          </a:bodyPr>
          <a:lstStyle/>
          <a:p>
            <a:r>
              <a:rPr lang="en-US" altLang="zh-CN" sz="2800" dirty="0"/>
              <a:t>ViT《</a:t>
            </a:r>
            <a:r>
              <a:rPr lang="ja-JP" altLang="en-US" sz="2800" dirty="0"/>
              <a:t>An image is worth 16x16 words: Transformers for image recognition at scale</a:t>
            </a:r>
            <a:r>
              <a:rPr lang="en-US" altLang="zh-CN" sz="2800" dirty="0"/>
              <a:t>》 </a:t>
            </a:r>
            <a:r>
              <a:rPr lang="zh-CN" altLang="en-US" sz="2800" dirty="0"/>
              <a:t>（</a:t>
            </a:r>
            <a:r>
              <a:rPr lang="en-US" altLang="zh-CN" sz="2800" dirty="0"/>
              <a:t>ICLR 2021</a:t>
            </a:r>
            <a:r>
              <a:rPr lang="zh-CN" altLang="en-US" sz="2800" dirty="0"/>
              <a:t>）</a:t>
            </a:r>
            <a:endParaRPr lang="ja-JP" altLang="en-US" sz="2800" dirty="0"/>
          </a:p>
        </p:txBody>
      </p:sp>
    </p:spTree>
    <p:extLst>
      <p:ext uri="{BB962C8B-B14F-4D97-AF65-F5344CB8AC3E}">
        <p14:creationId xmlns:p14="http://schemas.microsoft.com/office/powerpoint/2010/main" val="258996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5" name="图片 4">
            <a:extLst>
              <a:ext uri="{FF2B5EF4-FFF2-40B4-BE49-F238E27FC236}">
                <a16:creationId xmlns:a16="http://schemas.microsoft.com/office/drawing/2014/main" id="{78C2D73C-9FE5-3EDF-39B0-F2FF8B91C262}"/>
              </a:ext>
            </a:extLst>
          </p:cNvPr>
          <p:cNvPicPr>
            <a:picLocks noChangeAspect="1"/>
          </p:cNvPicPr>
          <p:nvPr/>
        </p:nvPicPr>
        <p:blipFill>
          <a:blip r:embed="rId3"/>
          <a:stretch>
            <a:fillRect/>
          </a:stretch>
        </p:blipFill>
        <p:spPr>
          <a:xfrm>
            <a:off x="76199" y="978452"/>
            <a:ext cx="11937445" cy="4152155"/>
          </a:xfrm>
          <a:prstGeom prst="rect">
            <a:avLst/>
          </a:prstGeom>
        </p:spPr>
      </p:pic>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11</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37A4D1DD-38F7-CAB2-8C4B-E1777A4C3BA3}"/>
              </a:ext>
            </a:extLst>
          </p:cNvPr>
          <p:cNvSpPr txBox="1"/>
          <p:nvPr/>
        </p:nvSpPr>
        <p:spPr>
          <a:xfrm>
            <a:off x="152400" y="0"/>
            <a:ext cx="11785045" cy="1200329"/>
          </a:xfrm>
          <a:prstGeom prst="rect">
            <a:avLst/>
          </a:prstGeom>
          <a:noFill/>
        </p:spPr>
        <p:txBody>
          <a:bodyPr wrap="square">
            <a:spAutoFit/>
          </a:bodyPr>
          <a:lstStyle/>
          <a:p>
            <a:r>
              <a:rPr lang="ja-JP" altLang="en-US" sz="3600" dirty="0"/>
              <a:t>Swin-Transformer</a:t>
            </a:r>
            <a:r>
              <a:rPr lang="en-US" altLang="zh-CN" sz="3600" dirty="0"/>
              <a:t>《Swin Transformer: Hierarchical Vision Transformer using Shifted Windows》</a:t>
            </a:r>
            <a:r>
              <a:rPr lang="zh-CN" altLang="en-US" sz="3600" dirty="0"/>
              <a:t>（</a:t>
            </a:r>
            <a:r>
              <a:rPr lang="en-US" altLang="zh-CN" sz="3600" dirty="0"/>
              <a:t>2021 ICCV</a:t>
            </a:r>
            <a:r>
              <a:rPr lang="zh-CN" altLang="en-US" sz="3600" dirty="0"/>
              <a:t>）</a:t>
            </a:r>
            <a:endParaRPr lang="ja-JP" altLang="en-US" sz="3600" dirty="0"/>
          </a:p>
        </p:txBody>
      </p:sp>
      <p:pic>
        <p:nvPicPr>
          <p:cNvPr id="9" name="图片 8">
            <a:extLst>
              <a:ext uri="{FF2B5EF4-FFF2-40B4-BE49-F238E27FC236}">
                <a16:creationId xmlns:a16="http://schemas.microsoft.com/office/drawing/2014/main" id="{B87056EE-76F7-AF84-5344-254050F12CBA}"/>
              </a:ext>
            </a:extLst>
          </p:cNvPr>
          <p:cNvPicPr>
            <a:picLocks noChangeAspect="1"/>
          </p:cNvPicPr>
          <p:nvPr/>
        </p:nvPicPr>
        <p:blipFill>
          <a:blip r:embed="rId4"/>
          <a:stretch>
            <a:fillRect/>
          </a:stretch>
        </p:blipFill>
        <p:spPr>
          <a:xfrm>
            <a:off x="6288444" y="4127182"/>
            <a:ext cx="5283201" cy="2730818"/>
          </a:xfrm>
          <a:prstGeom prst="rect">
            <a:avLst/>
          </a:prstGeom>
        </p:spPr>
      </p:pic>
      <p:pic>
        <p:nvPicPr>
          <p:cNvPr id="7" name="图片 6">
            <a:extLst>
              <a:ext uri="{FF2B5EF4-FFF2-40B4-BE49-F238E27FC236}">
                <a16:creationId xmlns:a16="http://schemas.microsoft.com/office/drawing/2014/main" id="{48AD2275-6AE6-FB84-F736-B2D895AA23AF}"/>
              </a:ext>
            </a:extLst>
          </p:cNvPr>
          <p:cNvPicPr>
            <a:picLocks noChangeAspect="1"/>
          </p:cNvPicPr>
          <p:nvPr/>
        </p:nvPicPr>
        <p:blipFill>
          <a:blip r:embed="rId5"/>
          <a:stretch>
            <a:fillRect/>
          </a:stretch>
        </p:blipFill>
        <p:spPr>
          <a:xfrm>
            <a:off x="0" y="4476685"/>
            <a:ext cx="6305550" cy="2381250"/>
          </a:xfrm>
          <a:prstGeom prst="rect">
            <a:avLst/>
          </a:prstGeom>
        </p:spPr>
      </p:pic>
    </p:spTree>
    <p:extLst>
      <p:ext uri="{BB962C8B-B14F-4D97-AF65-F5344CB8AC3E}">
        <p14:creationId xmlns:p14="http://schemas.microsoft.com/office/powerpoint/2010/main" val="3112773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11" name="图片 10">
            <a:extLst>
              <a:ext uri="{FF2B5EF4-FFF2-40B4-BE49-F238E27FC236}">
                <a16:creationId xmlns:a16="http://schemas.microsoft.com/office/drawing/2014/main" id="{303CE1C0-1D8A-6437-F155-5EED01A2165F}"/>
              </a:ext>
            </a:extLst>
          </p:cNvPr>
          <p:cNvPicPr>
            <a:picLocks noChangeAspect="1"/>
          </p:cNvPicPr>
          <p:nvPr/>
        </p:nvPicPr>
        <p:blipFill>
          <a:blip r:embed="rId3"/>
          <a:stretch>
            <a:fillRect/>
          </a:stretch>
        </p:blipFill>
        <p:spPr>
          <a:xfrm>
            <a:off x="6987837" y="1092200"/>
            <a:ext cx="5155266" cy="5274169"/>
          </a:xfrm>
          <a:prstGeom prst="rect">
            <a:avLst/>
          </a:prstGeom>
        </p:spPr>
      </p:pic>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12</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A32BCD38-96DC-3745-917B-65F42850A8A3}"/>
              </a:ext>
            </a:extLst>
          </p:cNvPr>
          <p:cNvSpPr txBox="1"/>
          <p:nvPr/>
        </p:nvSpPr>
        <p:spPr>
          <a:xfrm>
            <a:off x="6007100" y="0"/>
            <a:ext cx="6667500" cy="1200329"/>
          </a:xfrm>
          <a:prstGeom prst="rect">
            <a:avLst/>
          </a:prstGeom>
          <a:noFill/>
        </p:spPr>
        <p:txBody>
          <a:bodyPr wrap="square">
            <a:spAutoFit/>
          </a:bodyPr>
          <a:lstStyle/>
          <a:p>
            <a:r>
              <a:rPr lang="ja-JP" altLang="en-US" sz="2400" dirty="0"/>
              <a:t>Swin-Unet</a:t>
            </a:r>
            <a:r>
              <a:rPr lang="en-US" altLang="zh-CN" sz="2400" dirty="0"/>
              <a:t>《</a:t>
            </a:r>
            <a:r>
              <a:rPr lang="en-US" altLang="ja-JP" sz="2400" dirty="0"/>
              <a:t>Swin-Unet: Unet-like Pure Transformer for Medical Image Segmentation</a:t>
            </a:r>
            <a:r>
              <a:rPr lang="en-US" altLang="zh-CN" sz="2400" dirty="0"/>
              <a:t>》</a:t>
            </a:r>
            <a:r>
              <a:rPr lang="zh-CN" altLang="en-US" sz="2400" dirty="0"/>
              <a:t>（</a:t>
            </a:r>
            <a:r>
              <a:rPr lang="ja-JP" altLang="en-US" sz="2400" dirty="0"/>
              <a:t>2022 </a:t>
            </a:r>
            <a:r>
              <a:rPr lang="en-US" altLang="zh-CN" sz="2400" dirty="0"/>
              <a:t>ECCV</a:t>
            </a:r>
            <a:r>
              <a:rPr lang="zh-CN" altLang="en-US" sz="2400" dirty="0"/>
              <a:t>）</a:t>
            </a:r>
            <a:endParaRPr lang="ja-JP" altLang="en-US" sz="2400" dirty="0"/>
          </a:p>
        </p:txBody>
      </p:sp>
      <p:sp>
        <p:nvSpPr>
          <p:cNvPr id="7" name="文本框 6">
            <a:extLst>
              <a:ext uri="{FF2B5EF4-FFF2-40B4-BE49-F238E27FC236}">
                <a16:creationId xmlns:a16="http://schemas.microsoft.com/office/drawing/2014/main" id="{04486225-7085-31FF-8385-155DBBF68BAC}"/>
              </a:ext>
            </a:extLst>
          </p:cNvPr>
          <p:cNvSpPr txBox="1"/>
          <p:nvPr/>
        </p:nvSpPr>
        <p:spPr>
          <a:xfrm>
            <a:off x="119040" y="20400"/>
            <a:ext cx="6337300" cy="1200329"/>
          </a:xfrm>
          <a:prstGeom prst="rect">
            <a:avLst/>
          </a:prstGeom>
          <a:noFill/>
        </p:spPr>
        <p:txBody>
          <a:bodyPr wrap="square">
            <a:spAutoFit/>
          </a:bodyPr>
          <a:lstStyle/>
          <a:p>
            <a:r>
              <a:rPr lang="ja-JP" altLang="en-US" sz="2400" dirty="0"/>
              <a:t>TransUnet</a:t>
            </a:r>
            <a:r>
              <a:rPr lang="en-US" altLang="zh-CN" sz="2400" dirty="0"/>
              <a:t>《</a:t>
            </a:r>
            <a:r>
              <a:rPr lang="en-US" altLang="ja-JP" sz="2400" dirty="0" err="1"/>
              <a:t>TransUNet</a:t>
            </a:r>
            <a:r>
              <a:rPr lang="en-US" altLang="ja-JP" sz="2400" dirty="0"/>
              <a:t>: Transformers Make Strong Encoders for Medical Image Segmentation</a:t>
            </a:r>
            <a:r>
              <a:rPr lang="en-US" altLang="zh-CN" sz="2400" dirty="0"/>
              <a:t>》</a:t>
            </a:r>
            <a:r>
              <a:rPr lang="zh-CN" altLang="en-US" sz="2400" dirty="0"/>
              <a:t>（</a:t>
            </a:r>
            <a:r>
              <a:rPr lang="en-US" altLang="zh-CN" sz="2400" dirty="0"/>
              <a:t>2021 CVPR</a:t>
            </a:r>
            <a:r>
              <a:rPr lang="zh-CN" altLang="en-US" sz="2400" dirty="0"/>
              <a:t>）</a:t>
            </a:r>
            <a:endParaRPr lang="ja-JP" altLang="en-US" sz="2400" dirty="0"/>
          </a:p>
        </p:txBody>
      </p:sp>
      <p:pic>
        <p:nvPicPr>
          <p:cNvPr id="13" name="图片 12">
            <a:extLst>
              <a:ext uri="{FF2B5EF4-FFF2-40B4-BE49-F238E27FC236}">
                <a16:creationId xmlns:a16="http://schemas.microsoft.com/office/drawing/2014/main" id="{C76E4406-6363-4105-FA6B-486063115AE5}"/>
              </a:ext>
            </a:extLst>
          </p:cNvPr>
          <p:cNvPicPr>
            <a:picLocks noChangeAspect="1"/>
          </p:cNvPicPr>
          <p:nvPr/>
        </p:nvPicPr>
        <p:blipFill>
          <a:blip r:embed="rId4"/>
          <a:stretch>
            <a:fillRect/>
          </a:stretch>
        </p:blipFill>
        <p:spPr>
          <a:xfrm>
            <a:off x="-1" y="1721713"/>
            <a:ext cx="7060017" cy="4044087"/>
          </a:xfrm>
          <a:prstGeom prst="rect">
            <a:avLst/>
          </a:prstGeom>
        </p:spPr>
      </p:pic>
    </p:spTree>
    <p:extLst>
      <p:ext uri="{BB962C8B-B14F-4D97-AF65-F5344CB8AC3E}">
        <p14:creationId xmlns:p14="http://schemas.microsoft.com/office/powerpoint/2010/main" val="4021233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14" name="矩形: 圆角 113">
            <a:extLst>
              <a:ext uri="{FF2B5EF4-FFF2-40B4-BE49-F238E27FC236}">
                <a16:creationId xmlns:a16="http://schemas.microsoft.com/office/drawing/2014/main" id="{6240780D-D0FB-A170-647E-192B98759CD8}"/>
              </a:ext>
            </a:extLst>
          </p:cNvPr>
          <p:cNvSpPr/>
          <p:nvPr/>
        </p:nvSpPr>
        <p:spPr>
          <a:xfrm>
            <a:off x="6945621" y="598815"/>
            <a:ext cx="4828673" cy="620129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26" name="矩形: 圆角 25">
            <a:extLst>
              <a:ext uri="{FF2B5EF4-FFF2-40B4-BE49-F238E27FC236}">
                <a16:creationId xmlns:a16="http://schemas.microsoft.com/office/drawing/2014/main" id="{618A57A8-04AE-3A26-094E-167FF19DC9B7}"/>
              </a:ext>
            </a:extLst>
          </p:cNvPr>
          <p:cNvSpPr/>
          <p:nvPr/>
        </p:nvSpPr>
        <p:spPr>
          <a:xfrm>
            <a:off x="4917783" y="4925466"/>
            <a:ext cx="1997018" cy="19325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4" name="矩形: 圆角 23">
            <a:extLst>
              <a:ext uri="{FF2B5EF4-FFF2-40B4-BE49-F238E27FC236}">
                <a16:creationId xmlns:a16="http://schemas.microsoft.com/office/drawing/2014/main" id="{A5307A15-F6B3-CCE4-7ABD-08348E2C4A9A}"/>
              </a:ext>
            </a:extLst>
          </p:cNvPr>
          <p:cNvSpPr/>
          <p:nvPr/>
        </p:nvSpPr>
        <p:spPr>
          <a:xfrm>
            <a:off x="668511" y="637775"/>
            <a:ext cx="4057170" cy="569536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dirty="0"/>
          </a:p>
        </p:txBody>
      </p:sp>
      <p:sp>
        <p:nvSpPr>
          <p:cNvPr id="9" name="矩形: 圆角 8">
            <a:extLst>
              <a:ext uri="{FF2B5EF4-FFF2-40B4-BE49-F238E27FC236}">
                <a16:creationId xmlns:a16="http://schemas.microsoft.com/office/drawing/2014/main" id="{CAD6F337-F638-8749-489E-B854C86F121B}"/>
              </a:ext>
            </a:extLst>
          </p:cNvPr>
          <p:cNvSpPr/>
          <p:nvPr/>
        </p:nvSpPr>
        <p:spPr>
          <a:xfrm>
            <a:off x="1137985" y="879787"/>
            <a:ext cx="3227294" cy="340402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13</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88DAD755-AFAF-C101-8B74-A22AC6CF9AE4}"/>
              </a:ext>
            </a:extLst>
          </p:cNvPr>
          <p:cNvSpPr txBox="1"/>
          <p:nvPr/>
        </p:nvSpPr>
        <p:spPr>
          <a:xfrm>
            <a:off x="117820" y="72650"/>
            <a:ext cx="6096000" cy="646331"/>
          </a:xfrm>
          <a:prstGeom prst="rect">
            <a:avLst/>
          </a:prstGeom>
          <a:noFill/>
        </p:spPr>
        <p:txBody>
          <a:bodyPr wrap="square">
            <a:spAutoFit/>
          </a:bodyPr>
          <a:lstStyle/>
          <a:p>
            <a:r>
              <a:rPr kumimoji="1" lang="ja-JP" altLang="en-US" sz="3600" dirty="0"/>
              <a:t>三、</a:t>
            </a:r>
            <a:r>
              <a:rPr kumimoji="1" lang="en-US" altLang="zh-CN" sz="3600" dirty="0"/>
              <a:t>M</a:t>
            </a:r>
            <a:r>
              <a:rPr kumimoji="1" lang="en-US" altLang="ja-JP" sz="3600" dirty="0"/>
              <a:t>ethod</a:t>
            </a:r>
            <a:endParaRPr kumimoji="1" lang="ja-JP" altLang="en-US" sz="3600" dirty="0"/>
          </a:p>
        </p:txBody>
      </p:sp>
      <p:sp>
        <p:nvSpPr>
          <p:cNvPr id="4" name="立方体 3">
            <a:extLst>
              <a:ext uri="{FF2B5EF4-FFF2-40B4-BE49-F238E27FC236}">
                <a16:creationId xmlns:a16="http://schemas.microsoft.com/office/drawing/2014/main" id="{C7C9DD9C-38ED-5696-5B4A-7CF4BAD21D25}"/>
              </a:ext>
            </a:extLst>
          </p:cNvPr>
          <p:cNvSpPr/>
          <p:nvPr/>
        </p:nvSpPr>
        <p:spPr>
          <a:xfrm>
            <a:off x="1290916" y="986207"/>
            <a:ext cx="2581836" cy="773437"/>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 name="立方体 4">
            <a:extLst>
              <a:ext uri="{FF2B5EF4-FFF2-40B4-BE49-F238E27FC236}">
                <a16:creationId xmlns:a16="http://schemas.microsoft.com/office/drawing/2014/main" id="{9EC8E09D-B73F-FDD3-28AE-7D2F3D64B448}"/>
              </a:ext>
            </a:extLst>
          </p:cNvPr>
          <p:cNvSpPr/>
          <p:nvPr/>
        </p:nvSpPr>
        <p:spPr>
          <a:xfrm>
            <a:off x="1644382" y="2326982"/>
            <a:ext cx="1913322" cy="56221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6" name="立方体 5">
            <a:extLst>
              <a:ext uri="{FF2B5EF4-FFF2-40B4-BE49-F238E27FC236}">
                <a16:creationId xmlns:a16="http://schemas.microsoft.com/office/drawing/2014/main" id="{ADA31C66-BC16-F957-8471-C0FE2687ACAF}"/>
              </a:ext>
            </a:extLst>
          </p:cNvPr>
          <p:cNvSpPr/>
          <p:nvPr/>
        </p:nvSpPr>
        <p:spPr>
          <a:xfrm>
            <a:off x="1917167" y="3557068"/>
            <a:ext cx="1360071" cy="494340"/>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7" name="箭头: 右 6">
            <a:extLst>
              <a:ext uri="{FF2B5EF4-FFF2-40B4-BE49-F238E27FC236}">
                <a16:creationId xmlns:a16="http://schemas.microsoft.com/office/drawing/2014/main" id="{6192FBD1-BA03-93CB-FF8E-DFC6698F200A}"/>
              </a:ext>
            </a:extLst>
          </p:cNvPr>
          <p:cNvSpPr/>
          <p:nvPr/>
        </p:nvSpPr>
        <p:spPr>
          <a:xfrm rot="5400000">
            <a:off x="2412786" y="1844169"/>
            <a:ext cx="368834" cy="482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箭头: 右 7">
            <a:extLst>
              <a:ext uri="{FF2B5EF4-FFF2-40B4-BE49-F238E27FC236}">
                <a16:creationId xmlns:a16="http://schemas.microsoft.com/office/drawing/2014/main" id="{5798BA20-65CB-6878-36E0-8E09DBE53959}"/>
              </a:ext>
            </a:extLst>
          </p:cNvPr>
          <p:cNvSpPr/>
          <p:nvPr/>
        </p:nvSpPr>
        <p:spPr>
          <a:xfrm rot="5400000">
            <a:off x="2412786" y="2981726"/>
            <a:ext cx="368834" cy="482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矩形: 圆角 9">
            <a:extLst>
              <a:ext uri="{FF2B5EF4-FFF2-40B4-BE49-F238E27FC236}">
                <a16:creationId xmlns:a16="http://schemas.microsoft.com/office/drawing/2014/main" id="{FF1D7529-35F6-A98F-A557-6CAEE6CEC9E4}"/>
              </a:ext>
            </a:extLst>
          </p:cNvPr>
          <p:cNvSpPr/>
          <p:nvPr/>
        </p:nvSpPr>
        <p:spPr>
          <a:xfrm>
            <a:off x="1060395" y="4656524"/>
            <a:ext cx="3227294" cy="13832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17" name="矩形: 圆角 16">
            <a:extLst>
              <a:ext uri="{FF2B5EF4-FFF2-40B4-BE49-F238E27FC236}">
                <a16:creationId xmlns:a16="http://schemas.microsoft.com/office/drawing/2014/main" id="{0589DFB2-A03D-F8A5-7133-BA6DC6D540A3}"/>
              </a:ext>
            </a:extLst>
          </p:cNvPr>
          <p:cNvSpPr/>
          <p:nvPr/>
        </p:nvSpPr>
        <p:spPr>
          <a:xfrm>
            <a:off x="1205483" y="5011100"/>
            <a:ext cx="2168712" cy="57921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dirty="0"/>
              <a:t>Swin-Transformer Module</a:t>
            </a:r>
            <a:endParaRPr kumimoji="1" lang="ja-JP" altLang="en-US" dirty="0"/>
          </a:p>
        </p:txBody>
      </p:sp>
      <p:sp>
        <p:nvSpPr>
          <p:cNvPr id="18" name="文本框 17">
            <a:extLst>
              <a:ext uri="{FF2B5EF4-FFF2-40B4-BE49-F238E27FC236}">
                <a16:creationId xmlns:a16="http://schemas.microsoft.com/office/drawing/2014/main" id="{4865E1E0-3A0B-ED66-0CC4-57D63DE36DE6}"/>
              </a:ext>
            </a:extLst>
          </p:cNvPr>
          <p:cNvSpPr txBox="1"/>
          <p:nvPr/>
        </p:nvSpPr>
        <p:spPr>
          <a:xfrm>
            <a:off x="3423235" y="5041526"/>
            <a:ext cx="899033" cy="461665"/>
          </a:xfrm>
          <a:prstGeom prst="rect">
            <a:avLst/>
          </a:prstGeom>
          <a:noFill/>
        </p:spPr>
        <p:txBody>
          <a:bodyPr wrap="square" rtlCol="0">
            <a:spAutoFit/>
          </a:bodyPr>
          <a:lstStyle/>
          <a:p>
            <a:r>
              <a:rPr kumimoji="1" lang="en-US" altLang="ja-JP" sz="2400" dirty="0"/>
              <a:t>X 10</a:t>
            </a:r>
            <a:endParaRPr kumimoji="1" lang="ja-JP" altLang="en-US" sz="2400" dirty="0"/>
          </a:p>
        </p:txBody>
      </p:sp>
      <p:sp>
        <p:nvSpPr>
          <p:cNvPr id="21" name="立方体 20">
            <a:extLst>
              <a:ext uri="{FF2B5EF4-FFF2-40B4-BE49-F238E27FC236}">
                <a16:creationId xmlns:a16="http://schemas.microsoft.com/office/drawing/2014/main" id="{10D8648D-DFE1-5E1B-DD11-6E2729843EA6}"/>
              </a:ext>
            </a:extLst>
          </p:cNvPr>
          <p:cNvSpPr/>
          <p:nvPr/>
        </p:nvSpPr>
        <p:spPr>
          <a:xfrm>
            <a:off x="5141381" y="538860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立方体 22">
            <a:extLst>
              <a:ext uri="{FF2B5EF4-FFF2-40B4-BE49-F238E27FC236}">
                <a16:creationId xmlns:a16="http://schemas.microsoft.com/office/drawing/2014/main" id="{8DE40654-EDE4-5C1A-CC64-7591AF27BD45}"/>
              </a:ext>
            </a:extLst>
          </p:cNvPr>
          <p:cNvSpPr/>
          <p:nvPr/>
        </p:nvSpPr>
        <p:spPr>
          <a:xfrm>
            <a:off x="5975582" y="531047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文本框 24">
            <a:extLst>
              <a:ext uri="{FF2B5EF4-FFF2-40B4-BE49-F238E27FC236}">
                <a16:creationId xmlns:a16="http://schemas.microsoft.com/office/drawing/2014/main" id="{A8F9A697-7E9A-9794-C1E3-17E21C67BB07}"/>
              </a:ext>
            </a:extLst>
          </p:cNvPr>
          <p:cNvSpPr txBox="1"/>
          <p:nvPr/>
        </p:nvSpPr>
        <p:spPr>
          <a:xfrm>
            <a:off x="597850" y="1816264"/>
            <a:ext cx="1467650" cy="523220"/>
          </a:xfrm>
          <a:prstGeom prst="rect">
            <a:avLst/>
          </a:prstGeom>
          <a:noFill/>
        </p:spPr>
        <p:txBody>
          <a:bodyPr wrap="square" rtlCol="0">
            <a:spAutoFit/>
          </a:bodyPr>
          <a:lstStyle/>
          <a:p>
            <a:r>
              <a:rPr kumimoji="1" lang="en-US" altLang="ja-JP" sz="2800" dirty="0">
                <a:solidFill>
                  <a:srgbClr val="FF0000"/>
                </a:solidFill>
              </a:rPr>
              <a:t>Encoder</a:t>
            </a:r>
            <a:endParaRPr kumimoji="1" lang="ja-JP" altLang="en-US" sz="2800" dirty="0">
              <a:solidFill>
                <a:srgbClr val="FF0000"/>
              </a:solidFill>
            </a:endParaRPr>
          </a:p>
        </p:txBody>
      </p:sp>
      <p:sp>
        <p:nvSpPr>
          <p:cNvPr id="27" name="文本框 26">
            <a:extLst>
              <a:ext uri="{FF2B5EF4-FFF2-40B4-BE49-F238E27FC236}">
                <a16:creationId xmlns:a16="http://schemas.microsoft.com/office/drawing/2014/main" id="{9E7F2FC8-43B0-5252-5B2B-7CFC4D786268}"/>
              </a:ext>
            </a:extLst>
          </p:cNvPr>
          <p:cNvSpPr txBox="1"/>
          <p:nvPr/>
        </p:nvSpPr>
        <p:spPr>
          <a:xfrm>
            <a:off x="5299954" y="4978826"/>
            <a:ext cx="1390810" cy="369332"/>
          </a:xfrm>
          <a:prstGeom prst="rect">
            <a:avLst/>
          </a:prstGeom>
          <a:noFill/>
        </p:spPr>
        <p:txBody>
          <a:bodyPr wrap="square" rtlCol="0">
            <a:spAutoFit/>
          </a:bodyPr>
          <a:lstStyle/>
          <a:p>
            <a:r>
              <a:rPr kumimoji="1" lang="en-US" altLang="ja-JP" dirty="0">
                <a:solidFill>
                  <a:srgbClr val="FF0000"/>
                </a:solidFill>
              </a:rPr>
              <a:t>BottleNeck</a:t>
            </a:r>
            <a:endParaRPr kumimoji="1" lang="ja-JP" altLang="en-US" dirty="0">
              <a:solidFill>
                <a:srgbClr val="FF0000"/>
              </a:solidFill>
            </a:endParaRPr>
          </a:p>
        </p:txBody>
      </p:sp>
      <p:sp>
        <p:nvSpPr>
          <p:cNvPr id="28" name="文本框 27">
            <a:extLst>
              <a:ext uri="{FF2B5EF4-FFF2-40B4-BE49-F238E27FC236}">
                <a16:creationId xmlns:a16="http://schemas.microsoft.com/office/drawing/2014/main" id="{620E93DB-BC49-DD77-A680-A681DC142473}"/>
              </a:ext>
            </a:extLst>
          </p:cNvPr>
          <p:cNvSpPr txBox="1"/>
          <p:nvPr/>
        </p:nvSpPr>
        <p:spPr>
          <a:xfrm>
            <a:off x="3304770" y="598815"/>
            <a:ext cx="2187390" cy="369332"/>
          </a:xfrm>
          <a:prstGeom prst="rect">
            <a:avLst/>
          </a:prstGeom>
          <a:noFill/>
        </p:spPr>
        <p:txBody>
          <a:bodyPr wrap="square" rtlCol="0">
            <a:spAutoFit/>
          </a:bodyPr>
          <a:lstStyle/>
          <a:p>
            <a:r>
              <a:rPr kumimoji="1" lang="en-US" altLang="ja-JP" dirty="0"/>
              <a:t>(C,H,W)</a:t>
            </a:r>
            <a:endParaRPr kumimoji="1" lang="ja-JP" altLang="en-US" dirty="0"/>
          </a:p>
        </p:txBody>
      </p:sp>
      <p:sp>
        <p:nvSpPr>
          <p:cNvPr id="29" name="文本框 28">
            <a:extLst>
              <a:ext uri="{FF2B5EF4-FFF2-40B4-BE49-F238E27FC236}">
                <a16:creationId xmlns:a16="http://schemas.microsoft.com/office/drawing/2014/main" id="{5AE18F36-8C1B-6D4B-E0D6-BAA413F31BAB}"/>
              </a:ext>
            </a:extLst>
          </p:cNvPr>
          <p:cNvSpPr txBox="1"/>
          <p:nvPr/>
        </p:nvSpPr>
        <p:spPr>
          <a:xfrm>
            <a:off x="2793148" y="1843363"/>
            <a:ext cx="2187390" cy="369332"/>
          </a:xfrm>
          <a:prstGeom prst="rect">
            <a:avLst/>
          </a:prstGeom>
          <a:noFill/>
        </p:spPr>
        <p:txBody>
          <a:bodyPr wrap="square" rtlCol="0">
            <a:spAutoFit/>
          </a:bodyPr>
          <a:lstStyle/>
          <a:p>
            <a:r>
              <a:rPr kumimoji="1" lang="en-US" altLang="ja-JP" dirty="0"/>
              <a:t>(32,H/2,W/2)</a:t>
            </a:r>
            <a:endParaRPr kumimoji="1" lang="ja-JP" altLang="en-US" dirty="0"/>
          </a:p>
        </p:txBody>
      </p:sp>
      <p:sp>
        <p:nvSpPr>
          <p:cNvPr id="30" name="文本框 29">
            <a:extLst>
              <a:ext uri="{FF2B5EF4-FFF2-40B4-BE49-F238E27FC236}">
                <a16:creationId xmlns:a16="http://schemas.microsoft.com/office/drawing/2014/main" id="{ECA61CB6-0397-6CC0-58F0-4DB7F00639C9}"/>
              </a:ext>
            </a:extLst>
          </p:cNvPr>
          <p:cNvSpPr txBox="1"/>
          <p:nvPr/>
        </p:nvSpPr>
        <p:spPr>
          <a:xfrm>
            <a:off x="2824840" y="3030214"/>
            <a:ext cx="2187390" cy="369332"/>
          </a:xfrm>
          <a:prstGeom prst="rect">
            <a:avLst/>
          </a:prstGeom>
          <a:noFill/>
        </p:spPr>
        <p:txBody>
          <a:bodyPr wrap="square" rtlCol="0">
            <a:spAutoFit/>
          </a:bodyPr>
          <a:lstStyle/>
          <a:p>
            <a:r>
              <a:rPr kumimoji="1" lang="en-US" altLang="ja-JP" dirty="0"/>
              <a:t>(64,H/4,W/4)</a:t>
            </a:r>
            <a:endParaRPr kumimoji="1" lang="ja-JP" altLang="en-US" dirty="0"/>
          </a:p>
        </p:txBody>
      </p:sp>
      <p:sp>
        <p:nvSpPr>
          <p:cNvPr id="31" name="文本框 30">
            <a:extLst>
              <a:ext uri="{FF2B5EF4-FFF2-40B4-BE49-F238E27FC236}">
                <a16:creationId xmlns:a16="http://schemas.microsoft.com/office/drawing/2014/main" id="{2B1B9663-8218-6606-7597-F6B6C7B1EFEB}"/>
              </a:ext>
            </a:extLst>
          </p:cNvPr>
          <p:cNvSpPr txBox="1"/>
          <p:nvPr/>
        </p:nvSpPr>
        <p:spPr>
          <a:xfrm>
            <a:off x="2757287" y="4230572"/>
            <a:ext cx="2187390" cy="369332"/>
          </a:xfrm>
          <a:prstGeom prst="rect">
            <a:avLst/>
          </a:prstGeom>
          <a:noFill/>
        </p:spPr>
        <p:txBody>
          <a:bodyPr wrap="square" rtlCol="0">
            <a:spAutoFit/>
          </a:bodyPr>
          <a:lstStyle/>
          <a:p>
            <a:r>
              <a:rPr kumimoji="1" lang="en-US" altLang="ja-JP" dirty="0"/>
              <a:t>(128,H/8,W/8)</a:t>
            </a:r>
            <a:endParaRPr kumimoji="1" lang="ja-JP" altLang="en-US" dirty="0"/>
          </a:p>
        </p:txBody>
      </p:sp>
      <p:sp>
        <p:nvSpPr>
          <p:cNvPr id="32" name="文本框 31">
            <a:extLst>
              <a:ext uri="{FF2B5EF4-FFF2-40B4-BE49-F238E27FC236}">
                <a16:creationId xmlns:a16="http://schemas.microsoft.com/office/drawing/2014/main" id="{42EE62F1-35B2-6C96-F24E-1483173BA709}"/>
              </a:ext>
            </a:extLst>
          </p:cNvPr>
          <p:cNvSpPr txBox="1"/>
          <p:nvPr/>
        </p:nvSpPr>
        <p:spPr>
          <a:xfrm>
            <a:off x="2721878" y="6450367"/>
            <a:ext cx="2187390" cy="369332"/>
          </a:xfrm>
          <a:prstGeom prst="rect">
            <a:avLst/>
          </a:prstGeom>
          <a:noFill/>
        </p:spPr>
        <p:txBody>
          <a:bodyPr wrap="square" rtlCol="0">
            <a:spAutoFit/>
          </a:bodyPr>
          <a:lstStyle/>
          <a:p>
            <a:r>
              <a:rPr kumimoji="1" lang="en-US" altLang="ja-JP" dirty="0"/>
              <a:t>(128,H/8,W/8)</a:t>
            </a:r>
            <a:endParaRPr kumimoji="1" lang="ja-JP" altLang="en-US" dirty="0"/>
          </a:p>
        </p:txBody>
      </p:sp>
      <p:cxnSp>
        <p:nvCxnSpPr>
          <p:cNvPr id="37" name="直接箭头连接符 36">
            <a:extLst>
              <a:ext uri="{FF2B5EF4-FFF2-40B4-BE49-F238E27FC236}">
                <a16:creationId xmlns:a16="http://schemas.microsoft.com/office/drawing/2014/main" id="{762EEB1E-1253-30DD-1FC1-57AE242A5940}"/>
              </a:ext>
            </a:extLst>
          </p:cNvPr>
          <p:cNvCxnSpPr>
            <a:cxnSpLocks/>
          </p:cNvCxnSpPr>
          <p:nvPr/>
        </p:nvCxnSpPr>
        <p:spPr>
          <a:xfrm>
            <a:off x="5594740" y="5947442"/>
            <a:ext cx="348343"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9" name="立方体 38">
            <a:extLst>
              <a:ext uri="{FF2B5EF4-FFF2-40B4-BE49-F238E27FC236}">
                <a16:creationId xmlns:a16="http://schemas.microsoft.com/office/drawing/2014/main" id="{FA4AB6A9-A943-DF1A-C542-F3AF658F5BF7}"/>
              </a:ext>
            </a:extLst>
          </p:cNvPr>
          <p:cNvSpPr/>
          <p:nvPr/>
        </p:nvSpPr>
        <p:spPr>
          <a:xfrm>
            <a:off x="7165849" y="5871760"/>
            <a:ext cx="1476823" cy="524800"/>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cxnSp>
        <p:nvCxnSpPr>
          <p:cNvPr id="41" name="直接箭头连接符 40">
            <a:extLst>
              <a:ext uri="{FF2B5EF4-FFF2-40B4-BE49-F238E27FC236}">
                <a16:creationId xmlns:a16="http://schemas.microsoft.com/office/drawing/2014/main" id="{3683E935-C812-D066-6553-ACACE7FEA4AB}"/>
              </a:ext>
            </a:extLst>
          </p:cNvPr>
          <p:cNvCxnSpPr>
            <a:cxnSpLocks/>
          </p:cNvCxnSpPr>
          <p:nvPr/>
        </p:nvCxnSpPr>
        <p:spPr>
          <a:xfrm>
            <a:off x="6458884" y="6134160"/>
            <a:ext cx="671899"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2" name="文本框 41">
            <a:extLst>
              <a:ext uri="{FF2B5EF4-FFF2-40B4-BE49-F238E27FC236}">
                <a16:creationId xmlns:a16="http://schemas.microsoft.com/office/drawing/2014/main" id="{69ED581F-AC10-FF61-DB7E-D6CA54A231ED}"/>
              </a:ext>
            </a:extLst>
          </p:cNvPr>
          <p:cNvSpPr txBox="1"/>
          <p:nvPr/>
        </p:nvSpPr>
        <p:spPr>
          <a:xfrm>
            <a:off x="7185718" y="6430778"/>
            <a:ext cx="2187390" cy="369332"/>
          </a:xfrm>
          <a:prstGeom prst="rect">
            <a:avLst/>
          </a:prstGeom>
          <a:noFill/>
        </p:spPr>
        <p:txBody>
          <a:bodyPr wrap="square" rtlCol="0">
            <a:spAutoFit/>
          </a:bodyPr>
          <a:lstStyle/>
          <a:p>
            <a:r>
              <a:rPr kumimoji="1" lang="en-US" altLang="ja-JP" dirty="0"/>
              <a:t>(128,H/8,W/8)</a:t>
            </a:r>
            <a:endParaRPr kumimoji="1" lang="ja-JP" altLang="en-US" dirty="0"/>
          </a:p>
        </p:txBody>
      </p:sp>
      <p:cxnSp>
        <p:nvCxnSpPr>
          <p:cNvPr id="43" name="直接箭头连接符 42">
            <a:extLst>
              <a:ext uri="{FF2B5EF4-FFF2-40B4-BE49-F238E27FC236}">
                <a16:creationId xmlns:a16="http://schemas.microsoft.com/office/drawing/2014/main" id="{B19F9548-6DC6-7170-1833-73EC0B95233B}"/>
              </a:ext>
            </a:extLst>
          </p:cNvPr>
          <p:cNvCxnSpPr>
            <a:cxnSpLocks/>
            <a:endCxn id="10" idx="0"/>
          </p:cNvCxnSpPr>
          <p:nvPr/>
        </p:nvCxnSpPr>
        <p:spPr>
          <a:xfrm>
            <a:off x="2674042" y="4048303"/>
            <a:ext cx="0" cy="60822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48" name="连接符: 肘形 47">
            <a:extLst>
              <a:ext uri="{FF2B5EF4-FFF2-40B4-BE49-F238E27FC236}">
                <a16:creationId xmlns:a16="http://schemas.microsoft.com/office/drawing/2014/main" id="{9442008A-D29D-B437-E85A-71107FE680F9}"/>
              </a:ext>
            </a:extLst>
          </p:cNvPr>
          <p:cNvCxnSpPr>
            <a:stCxn id="10" idx="2"/>
          </p:cNvCxnSpPr>
          <p:nvPr/>
        </p:nvCxnSpPr>
        <p:spPr>
          <a:xfrm rot="16200000" flipH="1">
            <a:off x="3557364" y="5156471"/>
            <a:ext cx="468583" cy="2235226"/>
          </a:xfrm>
          <a:prstGeom prst="bentConnector2">
            <a:avLst/>
          </a:prstGeom>
          <a:ln>
            <a:tailEnd type="triangle"/>
          </a:ln>
        </p:spPr>
        <p:style>
          <a:lnRef idx="2">
            <a:schemeClr val="accent4"/>
          </a:lnRef>
          <a:fillRef idx="0">
            <a:schemeClr val="accent4"/>
          </a:fillRef>
          <a:effectRef idx="1">
            <a:schemeClr val="accent4"/>
          </a:effectRef>
          <a:fontRef idx="minor">
            <a:schemeClr val="tx1"/>
          </a:fontRef>
        </p:style>
      </p:cxnSp>
      <p:sp>
        <p:nvSpPr>
          <p:cNvPr id="49" name="箭头: 右 48">
            <a:extLst>
              <a:ext uri="{FF2B5EF4-FFF2-40B4-BE49-F238E27FC236}">
                <a16:creationId xmlns:a16="http://schemas.microsoft.com/office/drawing/2014/main" id="{A546C3C5-9809-B6E3-E26A-A02DC9AE6969}"/>
              </a:ext>
            </a:extLst>
          </p:cNvPr>
          <p:cNvSpPr/>
          <p:nvPr/>
        </p:nvSpPr>
        <p:spPr>
          <a:xfrm rot="16200000">
            <a:off x="7544806" y="5299679"/>
            <a:ext cx="405001" cy="62649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52" name="立方体 51">
            <a:extLst>
              <a:ext uri="{FF2B5EF4-FFF2-40B4-BE49-F238E27FC236}">
                <a16:creationId xmlns:a16="http://schemas.microsoft.com/office/drawing/2014/main" id="{E7C87C2F-4C98-13DC-8D71-38901841C23D}"/>
              </a:ext>
            </a:extLst>
          </p:cNvPr>
          <p:cNvSpPr/>
          <p:nvPr/>
        </p:nvSpPr>
        <p:spPr>
          <a:xfrm>
            <a:off x="7245122" y="439313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cxnSp>
        <p:nvCxnSpPr>
          <p:cNvPr id="54" name="连接符: 曲线 53">
            <a:extLst>
              <a:ext uri="{FF2B5EF4-FFF2-40B4-BE49-F238E27FC236}">
                <a16:creationId xmlns:a16="http://schemas.microsoft.com/office/drawing/2014/main" id="{4DF8A7B5-CB51-C1E9-9354-C93F2B6BC362}"/>
              </a:ext>
            </a:extLst>
          </p:cNvPr>
          <p:cNvCxnSpPr>
            <a:cxnSpLocks/>
            <a:endCxn id="52" idx="2"/>
          </p:cNvCxnSpPr>
          <p:nvPr/>
        </p:nvCxnSpPr>
        <p:spPr>
          <a:xfrm>
            <a:off x="3163187" y="3821711"/>
            <a:ext cx="4081935" cy="1125467"/>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0" name="立方体 59">
            <a:extLst>
              <a:ext uri="{FF2B5EF4-FFF2-40B4-BE49-F238E27FC236}">
                <a16:creationId xmlns:a16="http://schemas.microsoft.com/office/drawing/2014/main" id="{F02E726E-2354-949F-C1EB-A43788E4E69B}"/>
              </a:ext>
            </a:extLst>
          </p:cNvPr>
          <p:cNvSpPr/>
          <p:nvPr/>
        </p:nvSpPr>
        <p:spPr>
          <a:xfrm>
            <a:off x="7703885" y="438259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63" name="矩形: 圆角 62">
            <a:extLst>
              <a:ext uri="{FF2B5EF4-FFF2-40B4-BE49-F238E27FC236}">
                <a16:creationId xmlns:a16="http://schemas.microsoft.com/office/drawing/2014/main" id="{F617EC26-5EE2-5B90-F63E-AD3099C5EA90}"/>
              </a:ext>
            </a:extLst>
          </p:cNvPr>
          <p:cNvSpPr/>
          <p:nvPr/>
        </p:nvSpPr>
        <p:spPr>
          <a:xfrm>
            <a:off x="6945621" y="4109505"/>
            <a:ext cx="1476823" cy="1300815"/>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64" name="文本框 63">
            <a:extLst>
              <a:ext uri="{FF2B5EF4-FFF2-40B4-BE49-F238E27FC236}">
                <a16:creationId xmlns:a16="http://schemas.microsoft.com/office/drawing/2014/main" id="{BD92356F-4979-4CB0-19AD-46E20F3D8B90}"/>
              </a:ext>
            </a:extLst>
          </p:cNvPr>
          <p:cNvSpPr txBox="1"/>
          <p:nvPr/>
        </p:nvSpPr>
        <p:spPr>
          <a:xfrm>
            <a:off x="7322265" y="403180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65" name="文本框 64">
            <a:extLst>
              <a:ext uri="{FF2B5EF4-FFF2-40B4-BE49-F238E27FC236}">
                <a16:creationId xmlns:a16="http://schemas.microsoft.com/office/drawing/2014/main" id="{50634AED-5017-BD1E-ADA9-A3583A2A3F75}"/>
              </a:ext>
            </a:extLst>
          </p:cNvPr>
          <p:cNvSpPr txBox="1"/>
          <p:nvPr/>
        </p:nvSpPr>
        <p:spPr>
          <a:xfrm>
            <a:off x="7017488" y="5108992"/>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66" name="箭头: 右 65">
            <a:extLst>
              <a:ext uri="{FF2B5EF4-FFF2-40B4-BE49-F238E27FC236}">
                <a16:creationId xmlns:a16="http://schemas.microsoft.com/office/drawing/2014/main" id="{A9BA8C08-11F4-2E90-CEEB-B72682CC47C9}"/>
              </a:ext>
            </a:extLst>
          </p:cNvPr>
          <p:cNvSpPr/>
          <p:nvPr/>
        </p:nvSpPr>
        <p:spPr>
          <a:xfrm>
            <a:off x="8380474" y="4558555"/>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立方体 66">
            <a:extLst>
              <a:ext uri="{FF2B5EF4-FFF2-40B4-BE49-F238E27FC236}">
                <a16:creationId xmlns:a16="http://schemas.microsoft.com/office/drawing/2014/main" id="{E507EE1B-0410-72D4-25DF-DC7E98D9FBFC}"/>
              </a:ext>
            </a:extLst>
          </p:cNvPr>
          <p:cNvSpPr/>
          <p:nvPr/>
        </p:nvSpPr>
        <p:spPr>
          <a:xfrm>
            <a:off x="8915745" y="4326319"/>
            <a:ext cx="625328" cy="976053"/>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68" name="箭头: 右 67">
            <a:extLst>
              <a:ext uri="{FF2B5EF4-FFF2-40B4-BE49-F238E27FC236}">
                <a16:creationId xmlns:a16="http://schemas.microsoft.com/office/drawing/2014/main" id="{97FE5267-5315-B08C-337F-270320367D49}"/>
              </a:ext>
            </a:extLst>
          </p:cNvPr>
          <p:cNvSpPr/>
          <p:nvPr/>
        </p:nvSpPr>
        <p:spPr>
          <a:xfrm rot="16200000">
            <a:off x="9034547" y="3658800"/>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1" name="立方体 70">
            <a:extLst>
              <a:ext uri="{FF2B5EF4-FFF2-40B4-BE49-F238E27FC236}">
                <a16:creationId xmlns:a16="http://schemas.microsoft.com/office/drawing/2014/main" id="{ACF2E093-ACF9-BDEF-9861-CE287A162D1F}"/>
              </a:ext>
            </a:extLst>
          </p:cNvPr>
          <p:cNvSpPr/>
          <p:nvPr/>
        </p:nvSpPr>
        <p:spPr>
          <a:xfrm>
            <a:off x="9102191" y="272104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72" name="立方体 71">
            <a:extLst>
              <a:ext uri="{FF2B5EF4-FFF2-40B4-BE49-F238E27FC236}">
                <a16:creationId xmlns:a16="http://schemas.microsoft.com/office/drawing/2014/main" id="{24B3C4AE-0FAD-27E3-7C07-8F5F47A44042}"/>
              </a:ext>
            </a:extLst>
          </p:cNvPr>
          <p:cNvSpPr/>
          <p:nvPr/>
        </p:nvSpPr>
        <p:spPr>
          <a:xfrm>
            <a:off x="8388109" y="273238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73" name="矩形: 圆角 72">
            <a:extLst>
              <a:ext uri="{FF2B5EF4-FFF2-40B4-BE49-F238E27FC236}">
                <a16:creationId xmlns:a16="http://schemas.microsoft.com/office/drawing/2014/main" id="{66E8EF0B-2609-B65F-D7D2-F82C09378FD1}"/>
              </a:ext>
            </a:extLst>
          </p:cNvPr>
          <p:cNvSpPr/>
          <p:nvPr/>
        </p:nvSpPr>
        <p:spPr>
          <a:xfrm>
            <a:off x="8263335" y="2401407"/>
            <a:ext cx="1476823" cy="1340217"/>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74" name="文本框 73">
            <a:extLst>
              <a:ext uri="{FF2B5EF4-FFF2-40B4-BE49-F238E27FC236}">
                <a16:creationId xmlns:a16="http://schemas.microsoft.com/office/drawing/2014/main" id="{C5D25AE6-C9DD-8037-A98F-8CB3D18FC4A5}"/>
              </a:ext>
            </a:extLst>
          </p:cNvPr>
          <p:cNvSpPr txBox="1"/>
          <p:nvPr/>
        </p:nvSpPr>
        <p:spPr>
          <a:xfrm>
            <a:off x="8554678" y="2345942"/>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75" name="箭头: 右 74">
            <a:extLst>
              <a:ext uri="{FF2B5EF4-FFF2-40B4-BE49-F238E27FC236}">
                <a16:creationId xmlns:a16="http://schemas.microsoft.com/office/drawing/2014/main" id="{5AE0C321-24A9-26AA-8809-C9151526EE2E}"/>
              </a:ext>
            </a:extLst>
          </p:cNvPr>
          <p:cNvSpPr/>
          <p:nvPr/>
        </p:nvSpPr>
        <p:spPr>
          <a:xfrm>
            <a:off x="9806068" y="288919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立方体 76">
            <a:extLst>
              <a:ext uri="{FF2B5EF4-FFF2-40B4-BE49-F238E27FC236}">
                <a16:creationId xmlns:a16="http://schemas.microsoft.com/office/drawing/2014/main" id="{EAB19706-9515-F717-55A9-043B560FBB02}"/>
              </a:ext>
            </a:extLst>
          </p:cNvPr>
          <p:cNvSpPr/>
          <p:nvPr/>
        </p:nvSpPr>
        <p:spPr>
          <a:xfrm>
            <a:off x="10358232" y="2611715"/>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78" name="箭头: 右 77">
            <a:extLst>
              <a:ext uri="{FF2B5EF4-FFF2-40B4-BE49-F238E27FC236}">
                <a16:creationId xmlns:a16="http://schemas.microsoft.com/office/drawing/2014/main" id="{11217711-D893-04A5-F84C-C0F334F41DF1}"/>
              </a:ext>
            </a:extLst>
          </p:cNvPr>
          <p:cNvSpPr/>
          <p:nvPr/>
        </p:nvSpPr>
        <p:spPr>
          <a:xfrm rot="16200000">
            <a:off x="10573526" y="1975411"/>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9" name="立方体 78">
            <a:extLst>
              <a:ext uri="{FF2B5EF4-FFF2-40B4-BE49-F238E27FC236}">
                <a16:creationId xmlns:a16="http://schemas.microsoft.com/office/drawing/2014/main" id="{EB7C640D-63A9-C196-6640-63F37FCE3138}"/>
              </a:ext>
            </a:extLst>
          </p:cNvPr>
          <p:cNvSpPr/>
          <p:nvPr/>
        </p:nvSpPr>
        <p:spPr>
          <a:xfrm>
            <a:off x="10863467" y="1042854"/>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80" name="立方体 79">
            <a:extLst>
              <a:ext uri="{FF2B5EF4-FFF2-40B4-BE49-F238E27FC236}">
                <a16:creationId xmlns:a16="http://schemas.microsoft.com/office/drawing/2014/main" id="{914F90EA-2B2C-EBC3-C569-3E77902BC31C}"/>
              </a:ext>
            </a:extLst>
          </p:cNvPr>
          <p:cNvSpPr/>
          <p:nvPr/>
        </p:nvSpPr>
        <p:spPr>
          <a:xfrm>
            <a:off x="10149385" y="1054188"/>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81" name="矩形: 圆角 80">
            <a:extLst>
              <a:ext uri="{FF2B5EF4-FFF2-40B4-BE49-F238E27FC236}">
                <a16:creationId xmlns:a16="http://schemas.microsoft.com/office/drawing/2014/main" id="{5568F8FE-6FAA-7C73-A7D9-4244F0EAF273}"/>
              </a:ext>
            </a:extLst>
          </p:cNvPr>
          <p:cNvSpPr/>
          <p:nvPr/>
        </p:nvSpPr>
        <p:spPr>
          <a:xfrm>
            <a:off x="10024611" y="723213"/>
            <a:ext cx="1476823" cy="1328044"/>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82" name="文本框 81">
            <a:extLst>
              <a:ext uri="{FF2B5EF4-FFF2-40B4-BE49-F238E27FC236}">
                <a16:creationId xmlns:a16="http://schemas.microsoft.com/office/drawing/2014/main" id="{A19B11EF-99FF-99EE-B36A-C5487C3C14F7}"/>
              </a:ext>
            </a:extLst>
          </p:cNvPr>
          <p:cNvSpPr txBox="1"/>
          <p:nvPr/>
        </p:nvSpPr>
        <p:spPr>
          <a:xfrm>
            <a:off x="10315954" y="66774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83" name="箭头: 右 82">
            <a:extLst>
              <a:ext uri="{FF2B5EF4-FFF2-40B4-BE49-F238E27FC236}">
                <a16:creationId xmlns:a16="http://schemas.microsoft.com/office/drawing/2014/main" id="{8A7F917D-C608-55EB-7E04-BAAA050569CB}"/>
              </a:ext>
            </a:extLst>
          </p:cNvPr>
          <p:cNvSpPr/>
          <p:nvPr/>
        </p:nvSpPr>
        <p:spPr>
          <a:xfrm rot="10800000">
            <a:off x="9480621" y="87978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连接符: 曲线 83">
            <a:extLst>
              <a:ext uri="{FF2B5EF4-FFF2-40B4-BE49-F238E27FC236}">
                <a16:creationId xmlns:a16="http://schemas.microsoft.com/office/drawing/2014/main" id="{10E30190-D5E9-15A3-C7A4-3EC91AA2C873}"/>
              </a:ext>
            </a:extLst>
          </p:cNvPr>
          <p:cNvCxnSpPr>
            <a:cxnSpLocks/>
            <a:endCxn id="72" idx="2"/>
          </p:cNvCxnSpPr>
          <p:nvPr/>
        </p:nvCxnSpPr>
        <p:spPr>
          <a:xfrm>
            <a:off x="3466658" y="2522438"/>
            <a:ext cx="4921451" cy="763989"/>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连接符: 曲线 85">
            <a:extLst>
              <a:ext uri="{FF2B5EF4-FFF2-40B4-BE49-F238E27FC236}">
                <a16:creationId xmlns:a16="http://schemas.microsoft.com/office/drawing/2014/main" id="{D99CEE62-3372-E3FD-B2A2-64C9BA4730DA}"/>
              </a:ext>
            </a:extLst>
          </p:cNvPr>
          <p:cNvCxnSpPr>
            <a:cxnSpLocks/>
          </p:cNvCxnSpPr>
          <p:nvPr/>
        </p:nvCxnSpPr>
        <p:spPr>
          <a:xfrm>
            <a:off x="3466658" y="1666802"/>
            <a:ext cx="6682727" cy="110731"/>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1" name="文本框 90">
            <a:extLst>
              <a:ext uri="{FF2B5EF4-FFF2-40B4-BE49-F238E27FC236}">
                <a16:creationId xmlns:a16="http://schemas.microsoft.com/office/drawing/2014/main" id="{8EB55F4E-6DB9-DF1F-ADC9-378A91DB1946}"/>
              </a:ext>
            </a:extLst>
          </p:cNvPr>
          <p:cNvSpPr txBox="1"/>
          <p:nvPr/>
        </p:nvSpPr>
        <p:spPr>
          <a:xfrm>
            <a:off x="5594740" y="1233287"/>
            <a:ext cx="2026454" cy="369332"/>
          </a:xfrm>
          <a:prstGeom prst="rect">
            <a:avLst/>
          </a:prstGeom>
          <a:noFill/>
        </p:spPr>
        <p:txBody>
          <a:bodyPr wrap="square" rtlCol="0">
            <a:spAutoFit/>
          </a:bodyPr>
          <a:lstStyle/>
          <a:p>
            <a:r>
              <a:rPr kumimoji="1" lang="en-US" altLang="ja-JP" dirty="0"/>
              <a:t>Skip-connection 1</a:t>
            </a:r>
            <a:endParaRPr kumimoji="1" lang="ja-JP" altLang="en-US" dirty="0"/>
          </a:p>
        </p:txBody>
      </p:sp>
      <p:sp>
        <p:nvSpPr>
          <p:cNvPr id="92" name="文本框 91">
            <a:extLst>
              <a:ext uri="{FF2B5EF4-FFF2-40B4-BE49-F238E27FC236}">
                <a16:creationId xmlns:a16="http://schemas.microsoft.com/office/drawing/2014/main" id="{E7E08C31-018F-4C14-0F38-EC3343B0E8C0}"/>
              </a:ext>
            </a:extLst>
          </p:cNvPr>
          <p:cNvSpPr txBox="1"/>
          <p:nvPr/>
        </p:nvSpPr>
        <p:spPr>
          <a:xfrm>
            <a:off x="5967649" y="2670014"/>
            <a:ext cx="2026454" cy="369332"/>
          </a:xfrm>
          <a:prstGeom prst="rect">
            <a:avLst/>
          </a:prstGeom>
          <a:noFill/>
        </p:spPr>
        <p:txBody>
          <a:bodyPr wrap="square" rtlCol="0">
            <a:spAutoFit/>
          </a:bodyPr>
          <a:lstStyle/>
          <a:p>
            <a:r>
              <a:rPr kumimoji="1" lang="en-US" altLang="ja-JP" dirty="0"/>
              <a:t>Skip-connection 2</a:t>
            </a:r>
            <a:endParaRPr kumimoji="1" lang="ja-JP" altLang="en-US" dirty="0"/>
          </a:p>
        </p:txBody>
      </p:sp>
      <p:sp>
        <p:nvSpPr>
          <p:cNvPr id="93" name="文本框 92">
            <a:extLst>
              <a:ext uri="{FF2B5EF4-FFF2-40B4-BE49-F238E27FC236}">
                <a16:creationId xmlns:a16="http://schemas.microsoft.com/office/drawing/2014/main" id="{8C3DF167-15A0-E527-5CAB-B99261802C0A}"/>
              </a:ext>
            </a:extLst>
          </p:cNvPr>
          <p:cNvSpPr txBox="1"/>
          <p:nvPr/>
        </p:nvSpPr>
        <p:spPr>
          <a:xfrm>
            <a:off x="5254521" y="4302609"/>
            <a:ext cx="2026454" cy="338554"/>
          </a:xfrm>
          <a:prstGeom prst="rect">
            <a:avLst/>
          </a:prstGeom>
          <a:noFill/>
        </p:spPr>
        <p:txBody>
          <a:bodyPr wrap="square" rtlCol="0">
            <a:spAutoFit/>
          </a:bodyPr>
          <a:lstStyle/>
          <a:p>
            <a:r>
              <a:rPr kumimoji="1" lang="en-US" altLang="ja-JP" sz="1600" dirty="0"/>
              <a:t>Skip-connection 3</a:t>
            </a:r>
            <a:endParaRPr kumimoji="1" lang="ja-JP" altLang="en-US" sz="1600" dirty="0"/>
          </a:p>
        </p:txBody>
      </p:sp>
      <p:sp>
        <p:nvSpPr>
          <p:cNvPr id="94" name="文本框 93">
            <a:extLst>
              <a:ext uri="{FF2B5EF4-FFF2-40B4-BE49-F238E27FC236}">
                <a16:creationId xmlns:a16="http://schemas.microsoft.com/office/drawing/2014/main" id="{67DD97E1-BEA4-B737-0C6F-9E38DA6A7652}"/>
              </a:ext>
            </a:extLst>
          </p:cNvPr>
          <p:cNvSpPr txBox="1"/>
          <p:nvPr/>
        </p:nvSpPr>
        <p:spPr>
          <a:xfrm>
            <a:off x="8642672" y="5278269"/>
            <a:ext cx="1925472" cy="338554"/>
          </a:xfrm>
          <a:prstGeom prst="rect">
            <a:avLst/>
          </a:prstGeom>
          <a:noFill/>
        </p:spPr>
        <p:txBody>
          <a:bodyPr wrap="square" rtlCol="0">
            <a:spAutoFit/>
          </a:bodyPr>
          <a:lstStyle/>
          <a:p>
            <a:r>
              <a:rPr kumimoji="1" lang="en-US" altLang="ja-JP" sz="1600"/>
              <a:t>(128,H/4,W/4)</a:t>
            </a:r>
            <a:endParaRPr kumimoji="1" lang="ja-JP" altLang="en-US" sz="1600" dirty="0"/>
          </a:p>
        </p:txBody>
      </p:sp>
      <p:sp>
        <p:nvSpPr>
          <p:cNvPr id="95" name="文本框 94">
            <a:extLst>
              <a:ext uri="{FF2B5EF4-FFF2-40B4-BE49-F238E27FC236}">
                <a16:creationId xmlns:a16="http://schemas.microsoft.com/office/drawing/2014/main" id="{CCB49B15-F7DE-59E9-EB61-703F3067893E}"/>
              </a:ext>
            </a:extLst>
          </p:cNvPr>
          <p:cNvSpPr txBox="1"/>
          <p:nvPr/>
        </p:nvSpPr>
        <p:spPr>
          <a:xfrm>
            <a:off x="8266394" y="3439890"/>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6" name="文本框 95">
            <a:extLst>
              <a:ext uri="{FF2B5EF4-FFF2-40B4-BE49-F238E27FC236}">
                <a16:creationId xmlns:a16="http://schemas.microsoft.com/office/drawing/2014/main" id="{66707DAE-7DC5-C589-CAF3-37EC9B46112B}"/>
              </a:ext>
            </a:extLst>
          </p:cNvPr>
          <p:cNvSpPr txBox="1"/>
          <p:nvPr/>
        </p:nvSpPr>
        <p:spPr>
          <a:xfrm>
            <a:off x="9942846" y="3517054"/>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7" name="文本框 96">
            <a:extLst>
              <a:ext uri="{FF2B5EF4-FFF2-40B4-BE49-F238E27FC236}">
                <a16:creationId xmlns:a16="http://schemas.microsoft.com/office/drawing/2014/main" id="{00EA42BD-F7F5-A4AD-38E8-20183D8E5D3D}"/>
              </a:ext>
            </a:extLst>
          </p:cNvPr>
          <p:cNvSpPr txBox="1"/>
          <p:nvPr/>
        </p:nvSpPr>
        <p:spPr>
          <a:xfrm>
            <a:off x="10239810" y="1764708"/>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0" name="立方体 99">
            <a:extLst>
              <a:ext uri="{FF2B5EF4-FFF2-40B4-BE49-F238E27FC236}">
                <a16:creationId xmlns:a16="http://schemas.microsoft.com/office/drawing/2014/main" id="{31973180-4ED5-3160-5EAF-A2903F4CD4E1}"/>
              </a:ext>
            </a:extLst>
          </p:cNvPr>
          <p:cNvSpPr/>
          <p:nvPr/>
        </p:nvSpPr>
        <p:spPr>
          <a:xfrm>
            <a:off x="8759299" y="673230"/>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01" name="文本框 100">
            <a:extLst>
              <a:ext uri="{FF2B5EF4-FFF2-40B4-BE49-F238E27FC236}">
                <a16:creationId xmlns:a16="http://schemas.microsoft.com/office/drawing/2014/main" id="{FD0C8CBC-0962-B35F-EB18-877A488960C7}"/>
              </a:ext>
            </a:extLst>
          </p:cNvPr>
          <p:cNvSpPr txBox="1"/>
          <p:nvPr/>
        </p:nvSpPr>
        <p:spPr>
          <a:xfrm>
            <a:off x="8562380" y="1530381"/>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5" name="箭头: 直角上 104">
            <a:extLst>
              <a:ext uri="{FF2B5EF4-FFF2-40B4-BE49-F238E27FC236}">
                <a16:creationId xmlns:a16="http://schemas.microsoft.com/office/drawing/2014/main" id="{4E7E1381-C318-65B2-ABA3-43E9F22E3671}"/>
              </a:ext>
            </a:extLst>
          </p:cNvPr>
          <p:cNvSpPr/>
          <p:nvPr/>
        </p:nvSpPr>
        <p:spPr>
          <a:xfrm flipH="1">
            <a:off x="7894414" y="372069"/>
            <a:ext cx="672056" cy="826363"/>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06" name="文本框 105">
            <a:extLst>
              <a:ext uri="{FF2B5EF4-FFF2-40B4-BE49-F238E27FC236}">
                <a16:creationId xmlns:a16="http://schemas.microsoft.com/office/drawing/2014/main" id="{4129D9AF-D94D-43D6-F62D-E3A39C7A2FEF}"/>
              </a:ext>
            </a:extLst>
          </p:cNvPr>
          <p:cNvSpPr txBox="1"/>
          <p:nvPr/>
        </p:nvSpPr>
        <p:spPr>
          <a:xfrm>
            <a:off x="7683123" y="9132"/>
            <a:ext cx="1128835" cy="461665"/>
          </a:xfrm>
          <a:prstGeom prst="rect">
            <a:avLst/>
          </a:prstGeom>
          <a:noFill/>
        </p:spPr>
        <p:txBody>
          <a:bodyPr wrap="none" rtlCol="0">
            <a:spAutoFit/>
          </a:bodyPr>
          <a:lstStyle/>
          <a:p>
            <a:r>
              <a:rPr kumimoji="1" lang="en-US" altLang="ja-JP" sz="2400" dirty="0"/>
              <a:t>Output</a:t>
            </a:r>
            <a:endParaRPr kumimoji="1" lang="ja-JP" altLang="en-US" dirty="0"/>
          </a:p>
        </p:txBody>
      </p:sp>
      <p:sp>
        <p:nvSpPr>
          <p:cNvPr id="108" name="文本框 107">
            <a:extLst>
              <a:ext uri="{FF2B5EF4-FFF2-40B4-BE49-F238E27FC236}">
                <a16:creationId xmlns:a16="http://schemas.microsoft.com/office/drawing/2014/main" id="{6EE38B50-8C99-28B3-E3C8-F7CD4666F0BB}"/>
              </a:ext>
            </a:extLst>
          </p:cNvPr>
          <p:cNvSpPr txBox="1"/>
          <p:nvPr/>
        </p:nvSpPr>
        <p:spPr>
          <a:xfrm>
            <a:off x="10670896" y="4771577"/>
            <a:ext cx="1997018" cy="307777"/>
          </a:xfrm>
          <a:prstGeom prst="rect">
            <a:avLst/>
          </a:prstGeom>
          <a:noFill/>
        </p:spPr>
        <p:txBody>
          <a:bodyPr wrap="square">
            <a:spAutoFit/>
          </a:bodyPr>
          <a:lstStyle/>
          <a:p>
            <a:r>
              <a:rPr kumimoji="1" lang="en-US" altLang="zh-CN" sz="1400" dirty="0"/>
              <a:t>Conv3*3,ReLU,BN</a:t>
            </a:r>
            <a:endParaRPr kumimoji="1" lang="ja-JP" altLang="en-US" sz="1400" dirty="0"/>
          </a:p>
        </p:txBody>
      </p:sp>
      <p:sp>
        <p:nvSpPr>
          <p:cNvPr id="109" name="箭头: 右 108">
            <a:extLst>
              <a:ext uri="{FF2B5EF4-FFF2-40B4-BE49-F238E27FC236}">
                <a16:creationId xmlns:a16="http://schemas.microsoft.com/office/drawing/2014/main" id="{FE4894AE-9F77-5F43-17ED-A3D49B7DE386}"/>
              </a:ext>
            </a:extLst>
          </p:cNvPr>
          <p:cNvSpPr/>
          <p:nvPr/>
        </p:nvSpPr>
        <p:spPr>
          <a:xfrm rot="5400000">
            <a:off x="10430329" y="4794751"/>
            <a:ext cx="281701" cy="3073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箭头: 右 109">
            <a:extLst>
              <a:ext uri="{FF2B5EF4-FFF2-40B4-BE49-F238E27FC236}">
                <a16:creationId xmlns:a16="http://schemas.microsoft.com/office/drawing/2014/main" id="{AB738F00-6A95-8F40-9F2A-36A511121FAD}"/>
              </a:ext>
            </a:extLst>
          </p:cNvPr>
          <p:cNvSpPr/>
          <p:nvPr/>
        </p:nvSpPr>
        <p:spPr>
          <a:xfrm rot="16200000">
            <a:off x="10437810" y="5137507"/>
            <a:ext cx="258949" cy="472418"/>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11" name="文本框 110">
            <a:extLst>
              <a:ext uri="{FF2B5EF4-FFF2-40B4-BE49-F238E27FC236}">
                <a16:creationId xmlns:a16="http://schemas.microsoft.com/office/drawing/2014/main" id="{562DD8DD-EC60-53B7-C391-B0ACE505BB60}"/>
              </a:ext>
            </a:extLst>
          </p:cNvPr>
          <p:cNvSpPr txBox="1"/>
          <p:nvPr/>
        </p:nvSpPr>
        <p:spPr>
          <a:xfrm>
            <a:off x="10795521" y="5225759"/>
            <a:ext cx="1208440" cy="338554"/>
          </a:xfrm>
          <a:prstGeom prst="rect">
            <a:avLst/>
          </a:prstGeom>
          <a:noFill/>
        </p:spPr>
        <p:txBody>
          <a:bodyPr wrap="square" rtlCol="0">
            <a:spAutoFit/>
          </a:bodyPr>
          <a:lstStyle/>
          <a:p>
            <a:r>
              <a:rPr kumimoji="1" lang="en-US" altLang="ja-JP" sz="1600" dirty="0"/>
              <a:t>Upsample</a:t>
            </a:r>
            <a:endParaRPr kumimoji="1" lang="ja-JP" altLang="en-US" sz="1600" dirty="0"/>
          </a:p>
        </p:txBody>
      </p:sp>
      <p:sp>
        <p:nvSpPr>
          <p:cNvPr id="112" name="箭头: 直角上 111">
            <a:extLst>
              <a:ext uri="{FF2B5EF4-FFF2-40B4-BE49-F238E27FC236}">
                <a16:creationId xmlns:a16="http://schemas.microsoft.com/office/drawing/2014/main" id="{78D5A9A9-4CBE-5E13-1B84-8834F7C4173F}"/>
              </a:ext>
            </a:extLst>
          </p:cNvPr>
          <p:cNvSpPr/>
          <p:nvPr/>
        </p:nvSpPr>
        <p:spPr>
          <a:xfrm flipH="1">
            <a:off x="10487852" y="5739519"/>
            <a:ext cx="337459" cy="338554"/>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13" name="文本框 112">
            <a:extLst>
              <a:ext uri="{FF2B5EF4-FFF2-40B4-BE49-F238E27FC236}">
                <a16:creationId xmlns:a16="http://schemas.microsoft.com/office/drawing/2014/main" id="{58782B63-1F0D-0047-EA21-D4E23541A199}"/>
              </a:ext>
            </a:extLst>
          </p:cNvPr>
          <p:cNvSpPr txBox="1"/>
          <p:nvPr/>
        </p:nvSpPr>
        <p:spPr>
          <a:xfrm>
            <a:off x="10863467" y="5771904"/>
            <a:ext cx="910827" cy="338554"/>
          </a:xfrm>
          <a:prstGeom prst="rect">
            <a:avLst/>
          </a:prstGeom>
          <a:noFill/>
        </p:spPr>
        <p:txBody>
          <a:bodyPr wrap="none" rtlCol="0">
            <a:spAutoFit/>
          </a:bodyPr>
          <a:lstStyle/>
          <a:p>
            <a:r>
              <a:rPr kumimoji="1" lang="en-US" altLang="ja-JP" sz="1600" dirty="0"/>
              <a:t>Sigmoid</a:t>
            </a:r>
            <a:endParaRPr kumimoji="1" lang="ja-JP" altLang="en-US" sz="1600" dirty="0"/>
          </a:p>
        </p:txBody>
      </p:sp>
      <p:sp>
        <p:nvSpPr>
          <p:cNvPr id="115" name="文本框 114">
            <a:extLst>
              <a:ext uri="{FF2B5EF4-FFF2-40B4-BE49-F238E27FC236}">
                <a16:creationId xmlns:a16="http://schemas.microsoft.com/office/drawing/2014/main" id="{5D577CC9-6285-A71F-EBF3-4A809BBA6EBC}"/>
              </a:ext>
            </a:extLst>
          </p:cNvPr>
          <p:cNvSpPr txBox="1"/>
          <p:nvPr/>
        </p:nvSpPr>
        <p:spPr>
          <a:xfrm>
            <a:off x="6877549" y="1874525"/>
            <a:ext cx="1793600" cy="523220"/>
          </a:xfrm>
          <a:prstGeom prst="rect">
            <a:avLst/>
          </a:prstGeom>
          <a:noFill/>
        </p:spPr>
        <p:txBody>
          <a:bodyPr wrap="square" rtlCol="0">
            <a:spAutoFit/>
          </a:bodyPr>
          <a:lstStyle/>
          <a:p>
            <a:r>
              <a:rPr kumimoji="1" lang="en-US" altLang="zh-CN" sz="2800" dirty="0">
                <a:solidFill>
                  <a:srgbClr val="FF0000"/>
                </a:solidFill>
              </a:rPr>
              <a:t>Decoder</a:t>
            </a:r>
            <a:endParaRPr kumimoji="1" lang="ja-JP" altLang="en-US" sz="2800" dirty="0">
              <a:solidFill>
                <a:srgbClr val="FF0000"/>
              </a:solidFill>
            </a:endParaRPr>
          </a:p>
        </p:txBody>
      </p:sp>
      <p:sp>
        <p:nvSpPr>
          <p:cNvPr id="116" name="文本框 115">
            <a:extLst>
              <a:ext uri="{FF2B5EF4-FFF2-40B4-BE49-F238E27FC236}">
                <a16:creationId xmlns:a16="http://schemas.microsoft.com/office/drawing/2014/main" id="{1BBF45E4-F71A-8382-52CD-A98082963E6E}"/>
              </a:ext>
            </a:extLst>
          </p:cNvPr>
          <p:cNvSpPr txBox="1"/>
          <p:nvPr/>
        </p:nvSpPr>
        <p:spPr>
          <a:xfrm>
            <a:off x="8696345" y="76807"/>
            <a:ext cx="1925472" cy="338554"/>
          </a:xfrm>
          <a:prstGeom prst="rect">
            <a:avLst/>
          </a:prstGeom>
          <a:noFill/>
        </p:spPr>
        <p:txBody>
          <a:bodyPr wrap="square" rtlCol="0">
            <a:spAutoFit/>
          </a:bodyPr>
          <a:lstStyle/>
          <a:p>
            <a:r>
              <a:rPr kumimoji="1" lang="en-US" altLang="ja-JP" sz="1600" dirty="0"/>
              <a:t>(1,H,W)</a:t>
            </a:r>
            <a:endParaRPr kumimoji="1" lang="ja-JP" altLang="en-US" sz="1600" dirty="0"/>
          </a:p>
        </p:txBody>
      </p:sp>
    </p:spTree>
    <p:extLst>
      <p:ext uri="{BB962C8B-B14F-4D97-AF65-F5344CB8AC3E}">
        <p14:creationId xmlns:p14="http://schemas.microsoft.com/office/powerpoint/2010/main" val="1559316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246" name="矩形: 圆角 245">
            <a:extLst>
              <a:ext uri="{FF2B5EF4-FFF2-40B4-BE49-F238E27FC236}">
                <a16:creationId xmlns:a16="http://schemas.microsoft.com/office/drawing/2014/main" id="{C4A13C55-1DBD-F802-3610-375CFE4234A3}"/>
              </a:ext>
            </a:extLst>
          </p:cNvPr>
          <p:cNvSpPr/>
          <p:nvPr/>
        </p:nvSpPr>
        <p:spPr>
          <a:xfrm>
            <a:off x="7924013" y="422192"/>
            <a:ext cx="4101972" cy="638294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243" name="矩形: 圆角 242">
            <a:extLst>
              <a:ext uri="{FF2B5EF4-FFF2-40B4-BE49-F238E27FC236}">
                <a16:creationId xmlns:a16="http://schemas.microsoft.com/office/drawing/2014/main" id="{312F96FA-8945-79BF-646C-92A218AFAF4B}"/>
              </a:ext>
            </a:extLst>
          </p:cNvPr>
          <p:cNvSpPr/>
          <p:nvPr/>
        </p:nvSpPr>
        <p:spPr>
          <a:xfrm>
            <a:off x="4787154" y="11664"/>
            <a:ext cx="3085758" cy="472578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p>
        </p:txBody>
      </p:sp>
      <p:sp>
        <p:nvSpPr>
          <p:cNvPr id="24" name="矩形: 圆角 23">
            <a:extLst>
              <a:ext uri="{FF2B5EF4-FFF2-40B4-BE49-F238E27FC236}">
                <a16:creationId xmlns:a16="http://schemas.microsoft.com/office/drawing/2014/main" id="{A5307A15-F6B3-CCE4-7ABD-08348E2C4A9A}"/>
              </a:ext>
            </a:extLst>
          </p:cNvPr>
          <p:cNvSpPr/>
          <p:nvPr/>
        </p:nvSpPr>
        <p:spPr>
          <a:xfrm>
            <a:off x="246578" y="376519"/>
            <a:ext cx="4057170" cy="409559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dirty="0"/>
          </a:p>
        </p:txBody>
      </p:sp>
      <p:sp>
        <p:nvSpPr>
          <p:cNvPr id="9" name="矩形: 圆角 8">
            <a:extLst>
              <a:ext uri="{FF2B5EF4-FFF2-40B4-BE49-F238E27FC236}">
                <a16:creationId xmlns:a16="http://schemas.microsoft.com/office/drawing/2014/main" id="{CAD6F337-F638-8749-489E-B854C86F121B}"/>
              </a:ext>
            </a:extLst>
          </p:cNvPr>
          <p:cNvSpPr/>
          <p:nvPr/>
        </p:nvSpPr>
        <p:spPr>
          <a:xfrm>
            <a:off x="328057" y="762475"/>
            <a:ext cx="1873234" cy="345316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
        <p:nvSpPr>
          <p:cNvPr id="99" name="Google Shape;99;p15"/>
          <p:cNvSpPr txBox="1">
            <a:spLocks noGrp="1"/>
          </p:cNvSpPr>
          <p:nvPr>
            <p:ph type="sldNum" idx="4294967295"/>
          </p:nvPr>
        </p:nvSpPr>
        <p:spPr>
          <a:xfrm>
            <a:off x="11660185" y="6999282"/>
            <a:ext cx="731600" cy="515536"/>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14</a:t>
            </a:fld>
            <a:endParaRPr kumimoji="0" sz="1733" b="1" i="0" u="none" strike="noStrike" kern="0" cap="none" spc="0" normalizeH="0" baseline="0" noProof="0" dirty="0">
              <a:ln>
                <a:noFill/>
              </a:ln>
              <a:solidFill>
                <a:srgbClr val="0091EA"/>
              </a:solidFill>
              <a:effectLst/>
              <a:uLnTx/>
              <a:uFillTx/>
              <a:latin typeface="Source Sans Pro"/>
              <a:sym typeface="Source Sans Pro"/>
            </a:endParaRPr>
          </a:p>
        </p:txBody>
      </p:sp>
      <p:sp>
        <p:nvSpPr>
          <p:cNvPr id="4" name="立方体 3">
            <a:extLst>
              <a:ext uri="{FF2B5EF4-FFF2-40B4-BE49-F238E27FC236}">
                <a16:creationId xmlns:a16="http://schemas.microsoft.com/office/drawing/2014/main" id="{C7C9DD9C-38ED-5696-5B4A-7CF4BAD21D25}"/>
              </a:ext>
            </a:extLst>
          </p:cNvPr>
          <p:cNvSpPr/>
          <p:nvPr/>
        </p:nvSpPr>
        <p:spPr>
          <a:xfrm>
            <a:off x="523809" y="990757"/>
            <a:ext cx="1394560" cy="591916"/>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 name="立方体 4">
            <a:extLst>
              <a:ext uri="{FF2B5EF4-FFF2-40B4-BE49-F238E27FC236}">
                <a16:creationId xmlns:a16="http://schemas.microsoft.com/office/drawing/2014/main" id="{9EC8E09D-B73F-FDD3-28AE-7D2F3D64B448}"/>
              </a:ext>
            </a:extLst>
          </p:cNvPr>
          <p:cNvSpPr/>
          <p:nvPr/>
        </p:nvSpPr>
        <p:spPr>
          <a:xfrm>
            <a:off x="598664" y="2374198"/>
            <a:ext cx="1033466" cy="43026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6" name="立方体 5">
            <a:extLst>
              <a:ext uri="{FF2B5EF4-FFF2-40B4-BE49-F238E27FC236}">
                <a16:creationId xmlns:a16="http://schemas.microsoft.com/office/drawing/2014/main" id="{ADA31C66-BC16-F957-8471-C0FE2687ACAF}"/>
              </a:ext>
            </a:extLst>
          </p:cNvPr>
          <p:cNvSpPr/>
          <p:nvPr/>
        </p:nvSpPr>
        <p:spPr>
          <a:xfrm>
            <a:off x="719502" y="3602986"/>
            <a:ext cx="776085" cy="35522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dirty="0">
              <a:ln w="22225">
                <a:solidFill>
                  <a:schemeClr val="accent2"/>
                </a:solidFill>
                <a:prstDash val="solid"/>
              </a:ln>
              <a:solidFill>
                <a:schemeClr val="accent2">
                  <a:lumMod val="40000"/>
                  <a:lumOff val="60000"/>
                </a:schemeClr>
              </a:solidFill>
            </a:endParaRPr>
          </a:p>
        </p:txBody>
      </p:sp>
      <p:sp>
        <p:nvSpPr>
          <p:cNvPr id="7" name="箭头: 右 6">
            <a:extLst>
              <a:ext uri="{FF2B5EF4-FFF2-40B4-BE49-F238E27FC236}">
                <a16:creationId xmlns:a16="http://schemas.microsoft.com/office/drawing/2014/main" id="{6192FBD1-BA03-93CB-FF8E-DFC6698F200A}"/>
              </a:ext>
            </a:extLst>
          </p:cNvPr>
          <p:cNvSpPr/>
          <p:nvPr/>
        </p:nvSpPr>
        <p:spPr>
          <a:xfrm rot="5400000">
            <a:off x="949615" y="1889791"/>
            <a:ext cx="369330" cy="2607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箭头: 右 7">
            <a:extLst>
              <a:ext uri="{FF2B5EF4-FFF2-40B4-BE49-F238E27FC236}">
                <a16:creationId xmlns:a16="http://schemas.microsoft.com/office/drawing/2014/main" id="{5798BA20-65CB-6878-36E0-8E09DBE53959}"/>
              </a:ext>
            </a:extLst>
          </p:cNvPr>
          <p:cNvSpPr/>
          <p:nvPr/>
        </p:nvSpPr>
        <p:spPr>
          <a:xfrm rot="5400000">
            <a:off x="900266" y="3106901"/>
            <a:ext cx="430263" cy="2607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文本框 14">
            <a:extLst>
              <a:ext uri="{FF2B5EF4-FFF2-40B4-BE49-F238E27FC236}">
                <a16:creationId xmlns:a16="http://schemas.microsoft.com/office/drawing/2014/main" id="{241016C8-0028-1FA9-5D77-26DD032F7AED}"/>
              </a:ext>
            </a:extLst>
          </p:cNvPr>
          <p:cNvSpPr txBox="1"/>
          <p:nvPr/>
        </p:nvSpPr>
        <p:spPr>
          <a:xfrm>
            <a:off x="451322" y="721417"/>
            <a:ext cx="664075" cy="369332"/>
          </a:xfrm>
          <a:prstGeom prst="rect">
            <a:avLst/>
          </a:prstGeom>
          <a:noFill/>
        </p:spPr>
        <p:txBody>
          <a:bodyPr wrap="square" rtlCol="0">
            <a:spAutoFit/>
          </a:bodyPr>
          <a:lstStyle/>
          <a:p>
            <a:r>
              <a:rPr kumimoji="1" lang="en-US" altLang="zh-CN" dirty="0">
                <a:solidFill>
                  <a:schemeClr val="bg1"/>
                </a:solidFill>
              </a:rPr>
              <a:t>CNN</a:t>
            </a:r>
            <a:endParaRPr kumimoji="1" lang="ja-JP" altLang="en-US" dirty="0">
              <a:solidFill>
                <a:schemeClr val="bg1"/>
              </a:solidFill>
            </a:endParaRPr>
          </a:p>
        </p:txBody>
      </p:sp>
      <p:sp>
        <p:nvSpPr>
          <p:cNvPr id="28" name="文本框 27">
            <a:extLst>
              <a:ext uri="{FF2B5EF4-FFF2-40B4-BE49-F238E27FC236}">
                <a16:creationId xmlns:a16="http://schemas.microsoft.com/office/drawing/2014/main" id="{620E93DB-BC49-DD77-A680-A681DC142473}"/>
              </a:ext>
            </a:extLst>
          </p:cNvPr>
          <p:cNvSpPr txBox="1"/>
          <p:nvPr/>
        </p:nvSpPr>
        <p:spPr>
          <a:xfrm>
            <a:off x="1387505" y="-60904"/>
            <a:ext cx="2187390" cy="461665"/>
          </a:xfrm>
          <a:prstGeom prst="rect">
            <a:avLst/>
          </a:prstGeom>
          <a:noFill/>
        </p:spPr>
        <p:txBody>
          <a:bodyPr wrap="square" rtlCol="0">
            <a:spAutoFit/>
          </a:bodyPr>
          <a:lstStyle/>
          <a:p>
            <a:r>
              <a:rPr kumimoji="1" lang="en-US" altLang="zh-CN" sz="2400" dirty="0"/>
              <a:t>Input </a:t>
            </a:r>
            <a:r>
              <a:rPr kumimoji="1" lang="en-US" altLang="ja-JP" sz="2400" dirty="0"/>
              <a:t>(C,H,W)</a:t>
            </a:r>
            <a:endParaRPr kumimoji="1" lang="ja-JP" altLang="en-US" sz="2400" dirty="0"/>
          </a:p>
        </p:txBody>
      </p:sp>
      <p:sp>
        <p:nvSpPr>
          <p:cNvPr id="29" name="文本框 28">
            <a:extLst>
              <a:ext uri="{FF2B5EF4-FFF2-40B4-BE49-F238E27FC236}">
                <a16:creationId xmlns:a16="http://schemas.microsoft.com/office/drawing/2014/main" id="{5AE18F36-8C1B-6D4B-E0D6-BAA413F31BAB}"/>
              </a:ext>
            </a:extLst>
          </p:cNvPr>
          <p:cNvSpPr txBox="1"/>
          <p:nvPr/>
        </p:nvSpPr>
        <p:spPr>
          <a:xfrm>
            <a:off x="1245792" y="1760472"/>
            <a:ext cx="1181503" cy="307777"/>
          </a:xfrm>
          <a:prstGeom prst="rect">
            <a:avLst/>
          </a:prstGeom>
          <a:noFill/>
        </p:spPr>
        <p:txBody>
          <a:bodyPr wrap="square" rtlCol="0">
            <a:spAutoFit/>
          </a:bodyPr>
          <a:lstStyle/>
          <a:p>
            <a:r>
              <a:rPr kumimoji="1" lang="en-US" altLang="ja-JP" sz="1400" dirty="0"/>
              <a:t>(32,H/2,W/2)</a:t>
            </a:r>
            <a:endParaRPr kumimoji="1" lang="ja-JP" altLang="en-US" sz="1400" dirty="0"/>
          </a:p>
        </p:txBody>
      </p:sp>
      <p:sp>
        <p:nvSpPr>
          <p:cNvPr id="30" name="文本框 29">
            <a:extLst>
              <a:ext uri="{FF2B5EF4-FFF2-40B4-BE49-F238E27FC236}">
                <a16:creationId xmlns:a16="http://schemas.microsoft.com/office/drawing/2014/main" id="{ECA61CB6-0397-6CC0-58F0-4DB7F00639C9}"/>
              </a:ext>
            </a:extLst>
          </p:cNvPr>
          <p:cNvSpPr txBox="1"/>
          <p:nvPr/>
        </p:nvSpPr>
        <p:spPr>
          <a:xfrm>
            <a:off x="1264674" y="3046554"/>
            <a:ext cx="1181503" cy="307777"/>
          </a:xfrm>
          <a:prstGeom prst="rect">
            <a:avLst/>
          </a:prstGeom>
          <a:noFill/>
        </p:spPr>
        <p:txBody>
          <a:bodyPr wrap="square" rtlCol="0">
            <a:spAutoFit/>
          </a:bodyPr>
          <a:lstStyle/>
          <a:p>
            <a:r>
              <a:rPr kumimoji="1" lang="en-US" altLang="ja-JP" sz="1400" dirty="0"/>
              <a:t>(64,H/4,W/4)</a:t>
            </a:r>
            <a:endParaRPr kumimoji="1" lang="ja-JP" altLang="en-US" sz="1400" dirty="0"/>
          </a:p>
        </p:txBody>
      </p:sp>
      <p:sp>
        <p:nvSpPr>
          <p:cNvPr id="2" name="矩形: 圆角 1">
            <a:extLst>
              <a:ext uri="{FF2B5EF4-FFF2-40B4-BE49-F238E27FC236}">
                <a16:creationId xmlns:a16="http://schemas.microsoft.com/office/drawing/2014/main" id="{E9D2D849-42E0-FAF8-11EA-B6C96047444A}"/>
              </a:ext>
            </a:extLst>
          </p:cNvPr>
          <p:cNvSpPr/>
          <p:nvPr/>
        </p:nvSpPr>
        <p:spPr>
          <a:xfrm>
            <a:off x="2397043" y="733968"/>
            <a:ext cx="1805430" cy="356909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dirty="0"/>
          </a:p>
        </p:txBody>
      </p:sp>
      <p:sp>
        <p:nvSpPr>
          <p:cNvPr id="13" name="矩形: 圆角 12">
            <a:extLst>
              <a:ext uri="{FF2B5EF4-FFF2-40B4-BE49-F238E27FC236}">
                <a16:creationId xmlns:a16="http://schemas.microsoft.com/office/drawing/2014/main" id="{9CEC1063-35EC-C0BC-D0F5-D0604DAF1B9A}"/>
              </a:ext>
            </a:extLst>
          </p:cNvPr>
          <p:cNvSpPr/>
          <p:nvPr/>
        </p:nvSpPr>
        <p:spPr>
          <a:xfrm>
            <a:off x="2479047" y="2322960"/>
            <a:ext cx="1166929" cy="47031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9" name="矩形: 圆角 18">
            <a:extLst>
              <a:ext uri="{FF2B5EF4-FFF2-40B4-BE49-F238E27FC236}">
                <a16:creationId xmlns:a16="http://schemas.microsoft.com/office/drawing/2014/main" id="{E8EB9203-1F2A-096B-7157-EDD3D5F8F396}"/>
              </a:ext>
            </a:extLst>
          </p:cNvPr>
          <p:cNvSpPr/>
          <p:nvPr/>
        </p:nvSpPr>
        <p:spPr>
          <a:xfrm>
            <a:off x="2493556" y="1529599"/>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20" name="矩形: 圆角 19">
            <a:extLst>
              <a:ext uri="{FF2B5EF4-FFF2-40B4-BE49-F238E27FC236}">
                <a16:creationId xmlns:a16="http://schemas.microsoft.com/office/drawing/2014/main" id="{81A28599-827B-8328-82D3-225A2A35CFA8}"/>
              </a:ext>
            </a:extLst>
          </p:cNvPr>
          <p:cNvSpPr/>
          <p:nvPr/>
        </p:nvSpPr>
        <p:spPr>
          <a:xfrm>
            <a:off x="2489349" y="3135047"/>
            <a:ext cx="1166929" cy="4965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33" name="立方体 32">
            <a:extLst>
              <a:ext uri="{FF2B5EF4-FFF2-40B4-BE49-F238E27FC236}">
                <a16:creationId xmlns:a16="http://schemas.microsoft.com/office/drawing/2014/main" id="{FD3E8186-24B7-AF85-9092-7ABA90855797}"/>
              </a:ext>
            </a:extLst>
          </p:cNvPr>
          <p:cNvSpPr/>
          <p:nvPr/>
        </p:nvSpPr>
        <p:spPr>
          <a:xfrm>
            <a:off x="2562051" y="860506"/>
            <a:ext cx="1033466" cy="43026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cxnSp>
        <p:nvCxnSpPr>
          <p:cNvPr id="35" name="直接箭头连接符 34">
            <a:extLst>
              <a:ext uri="{FF2B5EF4-FFF2-40B4-BE49-F238E27FC236}">
                <a16:creationId xmlns:a16="http://schemas.microsoft.com/office/drawing/2014/main" id="{A0FB86BD-15D9-2F8D-F4F5-09C8191ACD44}"/>
              </a:ext>
            </a:extLst>
          </p:cNvPr>
          <p:cNvCxnSpPr/>
          <p:nvPr/>
        </p:nvCxnSpPr>
        <p:spPr>
          <a:xfrm flipH="1">
            <a:off x="1612081" y="376518"/>
            <a:ext cx="784962" cy="61423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接箭头连接符 35">
            <a:extLst>
              <a:ext uri="{FF2B5EF4-FFF2-40B4-BE49-F238E27FC236}">
                <a16:creationId xmlns:a16="http://schemas.microsoft.com/office/drawing/2014/main" id="{0550614A-E9F0-5FEA-C7B3-4B00692D849F}"/>
              </a:ext>
            </a:extLst>
          </p:cNvPr>
          <p:cNvCxnSpPr>
            <a:cxnSpLocks/>
            <a:endCxn id="33" idx="0"/>
          </p:cNvCxnSpPr>
          <p:nvPr/>
        </p:nvCxnSpPr>
        <p:spPr>
          <a:xfrm>
            <a:off x="2427295" y="401237"/>
            <a:ext cx="793754" cy="45926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4" name="文本框 43">
            <a:extLst>
              <a:ext uri="{FF2B5EF4-FFF2-40B4-BE49-F238E27FC236}">
                <a16:creationId xmlns:a16="http://schemas.microsoft.com/office/drawing/2014/main" id="{303367F0-74FB-0B21-593B-93552D9C2384}"/>
              </a:ext>
            </a:extLst>
          </p:cNvPr>
          <p:cNvSpPr txBox="1"/>
          <p:nvPr/>
        </p:nvSpPr>
        <p:spPr>
          <a:xfrm>
            <a:off x="3664702" y="3224750"/>
            <a:ext cx="922084" cy="369332"/>
          </a:xfrm>
          <a:prstGeom prst="rect">
            <a:avLst/>
          </a:prstGeom>
          <a:noFill/>
        </p:spPr>
        <p:txBody>
          <a:bodyPr wrap="square" rtlCol="0">
            <a:spAutoFit/>
          </a:bodyPr>
          <a:lstStyle/>
          <a:p>
            <a:r>
              <a:rPr kumimoji="1" lang="en-US" altLang="zh-CN" dirty="0"/>
              <a:t>X 4</a:t>
            </a:r>
            <a:endParaRPr kumimoji="1" lang="ja-JP" altLang="en-US" dirty="0"/>
          </a:p>
        </p:txBody>
      </p:sp>
      <p:sp>
        <p:nvSpPr>
          <p:cNvPr id="45" name="文本框 44">
            <a:extLst>
              <a:ext uri="{FF2B5EF4-FFF2-40B4-BE49-F238E27FC236}">
                <a16:creationId xmlns:a16="http://schemas.microsoft.com/office/drawing/2014/main" id="{16D5F62C-C66F-DF1C-7A01-BF16F82A1DD6}"/>
              </a:ext>
            </a:extLst>
          </p:cNvPr>
          <p:cNvSpPr txBox="1"/>
          <p:nvPr/>
        </p:nvSpPr>
        <p:spPr>
          <a:xfrm>
            <a:off x="3652960" y="2374198"/>
            <a:ext cx="922084" cy="369332"/>
          </a:xfrm>
          <a:prstGeom prst="rect">
            <a:avLst/>
          </a:prstGeom>
          <a:noFill/>
        </p:spPr>
        <p:txBody>
          <a:bodyPr wrap="square" rtlCol="0">
            <a:spAutoFit/>
          </a:bodyPr>
          <a:lstStyle/>
          <a:p>
            <a:r>
              <a:rPr kumimoji="1" lang="en-US" altLang="zh-CN" dirty="0"/>
              <a:t>X 2</a:t>
            </a:r>
            <a:endParaRPr kumimoji="1" lang="ja-JP" altLang="en-US" dirty="0"/>
          </a:p>
        </p:txBody>
      </p:sp>
      <p:sp>
        <p:nvSpPr>
          <p:cNvPr id="46" name="文本框 45">
            <a:extLst>
              <a:ext uri="{FF2B5EF4-FFF2-40B4-BE49-F238E27FC236}">
                <a16:creationId xmlns:a16="http://schemas.microsoft.com/office/drawing/2014/main" id="{939C9866-C8A2-7E73-0E69-CDE4AE7AB5B9}"/>
              </a:ext>
            </a:extLst>
          </p:cNvPr>
          <p:cNvSpPr txBox="1"/>
          <p:nvPr/>
        </p:nvSpPr>
        <p:spPr>
          <a:xfrm>
            <a:off x="3623570" y="1588766"/>
            <a:ext cx="922084" cy="369332"/>
          </a:xfrm>
          <a:prstGeom prst="rect">
            <a:avLst/>
          </a:prstGeom>
          <a:noFill/>
        </p:spPr>
        <p:txBody>
          <a:bodyPr wrap="square" rtlCol="0">
            <a:spAutoFit/>
          </a:bodyPr>
          <a:lstStyle/>
          <a:p>
            <a:r>
              <a:rPr kumimoji="1" lang="en-US" altLang="zh-CN" dirty="0"/>
              <a:t>X 2</a:t>
            </a:r>
            <a:endParaRPr kumimoji="1" lang="ja-JP" altLang="en-US" dirty="0"/>
          </a:p>
        </p:txBody>
      </p:sp>
      <p:sp>
        <p:nvSpPr>
          <p:cNvPr id="53" name="立方体 52">
            <a:extLst>
              <a:ext uri="{FF2B5EF4-FFF2-40B4-BE49-F238E27FC236}">
                <a16:creationId xmlns:a16="http://schemas.microsoft.com/office/drawing/2014/main" id="{7B96F819-0351-D5EF-ECAF-7AB90E3D7E4C}"/>
              </a:ext>
            </a:extLst>
          </p:cNvPr>
          <p:cNvSpPr/>
          <p:nvPr/>
        </p:nvSpPr>
        <p:spPr>
          <a:xfrm>
            <a:off x="2241981" y="5095870"/>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55" name="立方体 54">
            <a:extLst>
              <a:ext uri="{FF2B5EF4-FFF2-40B4-BE49-F238E27FC236}">
                <a16:creationId xmlns:a16="http://schemas.microsoft.com/office/drawing/2014/main" id="{288E2ED6-69D7-DA1F-8A74-F5374A7319B3}"/>
              </a:ext>
            </a:extLst>
          </p:cNvPr>
          <p:cNvSpPr/>
          <p:nvPr/>
        </p:nvSpPr>
        <p:spPr>
          <a:xfrm>
            <a:off x="1527899" y="510720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56" name="矩形: 圆角 55">
            <a:extLst>
              <a:ext uri="{FF2B5EF4-FFF2-40B4-BE49-F238E27FC236}">
                <a16:creationId xmlns:a16="http://schemas.microsoft.com/office/drawing/2014/main" id="{B7EF1A9B-0809-F39B-342E-EC05C0889F58}"/>
              </a:ext>
            </a:extLst>
          </p:cNvPr>
          <p:cNvSpPr/>
          <p:nvPr/>
        </p:nvSpPr>
        <p:spPr>
          <a:xfrm>
            <a:off x="1403125" y="4776229"/>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57" name="文本框 56">
            <a:extLst>
              <a:ext uri="{FF2B5EF4-FFF2-40B4-BE49-F238E27FC236}">
                <a16:creationId xmlns:a16="http://schemas.microsoft.com/office/drawing/2014/main" id="{B213FDC8-9A27-6250-1C9E-5AB2567CA30B}"/>
              </a:ext>
            </a:extLst>
          </p:cNvPr>
          <p:cNvSpPr txBox="1"/>
          <p:nvPr/>
        </p:nvSpPr>
        <p:spPr>
          <a:xfrm>
            <a:off x="1694468" y="4720763"/>
            <a:ext cx="917894" cy="369332"/>
          </a:xfrm>
          <a:prstGeom prst="rect">
            <a:avLst/>
          </a:prstGeom>
          <a:noFill/>
        </p:spPr>
        <p:txBody>
          <a:bodyPr wrap="square" rtlCol="0">
            <a:spAutoFit/>
          </a:bodyPr>
          <a:lstStyle/>
          <a:p>
            <a:r>
              <a:rPr kumimoji="1" lang="en-US" altLang="ja-JP" dirty="0"/>
              <a:t>Concat</a:t>
            </a:r>
            <a:endParaRPr kumimoji="1" lang="ja-JP" altLang="en-US" dirty="0"/>
          </a:p>
        </p:txBody>
      </p:sp>
      <p:cxnSp>
        <p:nvCxnSpPr>
          <p:cNvPr id="58" name="直接箭头连接符 57">
            <a:extLst>
              <a:ext uri="{FF2B5EF4-FFF2-40B4-BE49-F238E27FC236}">
                <a16:creationId xmlns:a16="http://schemas.microsoft.com/office/drawing/2014/main" id="{5EFD8B46-9392-2E39-57FE-3D19A49BB2FA}"/>
              </a:ext>
            </a:extLst>
          </p:cNvPr>
          <p:cNvCxnSpPr>
            <a:cxnSpLocks/>
          </p:cNvCxnSpPr>
          <p:nvPr/>
        </p:nvCxnSpPr>
        <p:spPr>
          <a:xfrm>
            <a:off x="1056332" y="3970168"/>
            <a:ext cx="658970" cy="126738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直接箭头连接符 60">
            <a:extLst>
              <a:ext uri="{FF2B5EF4-FFF2-40B4-BE49-F238E27FC236}">
                <a16:creationId xmlns:a16="http://schemas.microsoft.com/office/drawing/2014/main" id="{E44BDEE0-1E2A-C4F6-2DE1-3E6E3E79873B}"/>
              </a:ext>
            </a:extLst>
          </p:cNvPr>
          <p:cNvCxnSpPr>
            <a:cxnSpLocks/>
            <a:stCxn id="116" idx="3"/>
            <a:endCxn id="53" idx="0"/>
          </p:cNvCxnSpPr>
          <p:nvPr/>
        </p:nvCxnSpPr>
        <p:spPr>
          <a:xfrm flipH="1">
            <a:off x="2663908" y="4228409"/>
            <a:ext cx="326470" cy="867461"/>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5" name="箭头: 右 84">
            <a:extLst>
              <a:ext uri="{FF2B5EF4-FFF2-40B4-BE49-F238E27FC236}">
                <a16:creationId xmlns:a16="http://schemas.microsoft.com/office/drawing/2014/main" id="{EACEF5FC-7B8F-1AA3-5A4D-A8A66E356CEB}"/>
              </a:ext>
            </a:extLst>
          </p:cNvPr>
          <p:cNvSpPr/>
          <p:nvPr/>
        </p:nvSpPr>
        <p:spPr>
          <a:xfrm rot="5400000">
            <a:off x="2966286" y="1995386"/>
            <a:ext cx="195830" cy="310143"/>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87" name="箭头: 右 86">
            <a:extLst>
              <a:ext uri="{FF2B5EF4-FFF2-40B4-BE49-F238E27FC236}">
                <a16:creationId xmlns:a16="http://schemas.microsoft.com/office/drawing/2014/main" id="{A6E444D7-6A86-9FE0-D3CF-DD8F72861B99}"/>
              </a:ext>
            </a:extLst>
          </p:cNvPr>
          <p:cNvSpPr/>
          <p:nvPr/>
        </p:nvSpPr>
        <p:spPr>
          <a:xfrm rot="5400000">
            <a:off x="2967340" y="2810702"/>
            <a:ext cx="195830" cy="310143"/>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cxnSp>
        <p:nvCxnSpPr>
          <p:cNvPr id="89" name="直接箭头连接符 88">
            <a:extLst>
              <a:ext uri="{FF2B5EF4-FFF2-40B4-BE49-F238E27FC236}">
                <a16:creationId xmlns:a16="http://schemas.microsoft.com/office/drawing/2014/main" id="{1FA9699A-2BB1-4C93-1A38-168445D3D04E}"/>
              </a:ext>
            </a:extLst>
          </p:cNvPr>
          <p:cNvCxnSpPr>
            <a:cxnSpLocks/>
            <a:endCxn id="19" idx="0"/>
          </p:cNvCxnSpPr>
          <p:nvPr/>
        </p:nvCxnSpPr>
        <p:spPr>
          <a:xfrm>
            <a:off x="3064202" y="1307232"/>
            <a:ext cx="12819" cy="222367"/>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文本框 101">
            <a:extLst>
              <a:ext uri="{FF2B5EF4-FFF2-40B4-BE49-F238E27FC236}">
                <a16:creationId xmlns:a16="http://schemas.microsoft.com/office/drawing/2014/main" id="{6F66C629-6D43-8FC0-A3D8-E4AC95B8B06C}"/>
              </a:ext>
            </a:extLst>
          </p:cNvPr>
          <p:cNvSpPr txBox="1"/>
          <p:nvPr/>
        </p:nvSpPr>
        <p:spPr>
          <a:xfrm>
            <a:off x="2431443" y="686496"/>
            <a:ext cx="1221517" cy="307777"/>
          </a:xfrm>
          <a:prstGeom prst="rect">
            <a:avLst/>
          </a:prstGeom>
          <a:noFill/>
        </p:spPr>
        <p:txBody>
          <a:bodyPr wrap="square" rtlCol="0">
            <a:spAutoFit/>
          </a:bodyPr>
          <a:lstStyle/>
          <a:p>
            <a:r>
              <a:rPr kumimoji="1" lang="en-US" altLang="ja-JP" sz="1400" dirty="0">
                <a:solidFill>
                  <a:schemeClr val="bg1"/>
                </a:solidFill>
              </a:rPr>
              <a:t>Transformer</a:t>
            </a:r>
            <a:endParaRPr kumimoji="1" lang="ja-JP" altLang="en-US" sz="1400" dirty="0">
              <a:solidFill>
                <a:schemeClr val="bg1"/>
              </a:solidFill>
            </a:endParaRPr>
          </a:p>
        </p:txBody>
      </p:sp>
      <p:sp>
        <p:nvSpPr>
          <p:cNvPr id="103" name="文本框 102">
            <a:extLst>
              <a:ext uri="{FF2B5EF4-FFF2-40B4-BE49-F238E27FC236}">
                <a16:creationId xmlns:a16="http://schemas.microsoft.com/office/drawing/2014/main" id="{536B0558-C478-58A0-7864-807A41706C5F}"/>
              </a:ext>
            </a:extLst>
          </p:cNvPr>
          <p:cNvSpPr txBox="1"/>
          <p:nvPr/>
        </p:nvSpPr>
        <p:spPr>
          <a:xfrm>
            <a:off x="3220173" y="1204637"/>
            <a:ext cx="1181503" cy="307777"/>
          </a:xfrm>
          <a:prstGeom prst="rect">
            <a:avLst/>
          </a:prstGeom>
          <a:noFill/>
        </p:spPr>
        <p:txBody>
          <a:bodyPr wrap="square" rtlCol="0">
            <a:spAutoFit/>
          </a:bodyPr>
          <a:lstStyle/>
          <a:p>
            <a:r>
              <a:rPr kumimoji="1" lang="en-US" altLang="ja-JP" sz="1400" dirty="0"/>
              <a:t>(32,H,W)</a:t>
            </a:r>
            <a:endParaRPr kumimoji="1" lang="ja-JP" altLang="en-US" sz="1400" dirty="0"/>
          </a:p>
        </p:txBody>
      </p:sp>
      <p:sp>
        <p:nvSpPr>
          <p:cNvPr id="104" name="文本框 103">
            <a:extLst>
              <a:ext uri="{FF2B5EF4-FFF2-40B4-BE49-F238E27FC236}">
                <a16:creationId xmlns:a16="http://schemas.microsoft.com/office/drawing/2014/main" id="{E9935D7A-8BCF-1440-FFE3-AE3A99436BF0}"/>
              </a:ext>
            </a:extLst>
          </p:cNvPr>
          <p:cNvSpPr txBox="1"/>
          <p:nvPr/>
        </p:nvSpPr>
        <p:spPr>
          <a:xfrm>
            <a:off x="3212257" y="1985837"/>
            <a:ext cx="1181503" cy="307777"/>
          </a:xfrm>
          <a:prstGeom prst="rect">
            <a:avLst/>
          </a:prstGeom>
          <a:noFill/>
        </p:spPr>
        <p:txBody>
          <a:bodyPr wrap="square" rtlCol="0">
            <a:spAutoFit/>
          </a:bodyPr>
          <a:lstStyle/>
          <a:p>
            <a:r>
              <a:rPr kumimoji="1" lang="en-US" altLang="ja-JP" sz="1400" dirty="0"/>
              <a:t>(64,H/2,W/2)</a:t>
            </a:r>
            <a:endParaRPr kumimoji="1" lang="ja-JP" altLang="en-US" sz="1400" dirty="0"/>
          </a:p>
        </p:txBody>
      </p:sp>
      <p:sp>
        <p:nvSpPr>
          <p:cNvPr id="107" name="文本框 106">
            <a:extLst>
              <a:ext uri="{FF2B5EF4-FFF2-40B4-BE49-F238E27FC236}">
                <a16:creationId xmlns:a16="http://schemas.microsoft.com/office/drawing/2014/main" id="{61B43E16-EDBF-DF55-5B35-8047B1584A21}"/>
              </a:ext>
            </a:extLst>
          </p:cNvPr>
          <p:cNvSpPr txBox="1"/>
          <p:nvPr/>
        </p:nvSpPr>
        <p:spPr>
          <a:xfrm>
            <a:off x="3203179" y="2811671"/>
            <a:ext cx="1272391" cy="307777"/>
          </a:xfrm>
          <a:prstGeom prst="rect">
            <a:avLst/>
          </a:prstGeom>
          <a:noFill/>
        </p:spPr>
        <p:txBody>
          <a:bodyPr wrap="square" rtlCol="0">
            <a:spAutoFit/>
          </a:bodyPr>
          <a:lstStyle/>
          <a:p>
            <a:r>
              <a:rPr kumimoji="1" lang="en-US" altLang="ja-JP" sz="1400" dirty="0"/>
              <a:t>(128,H/4,W/4)</a:t>
            </a:r>
            <a:endParaRPr kumimoji="1" lang="ja-JP" altLang="en-US" sz="1400" dirty="0"/>
          </a:p>
        </p:txBody>
      </p:sp>
      <p:sp>
        <p:nvSpPr>
          <p:cNvPr id="115" name="文本框 114">
            <a:extLst>
              <a:ext uri="{FF2B5EF4-FFF2-40B4-BE49-F238E27FC236}">
                <a16:creationId xmlns:a16="http://schemas.microsoft.com/office/drawing/2014/main" id="{EF0D2016-8C77-75BB-069E-14F7B8DC7180}"/>
              </a:ext>
            </a:extLst>
          </p:cNvPr>
          <p:cNvSpPr txBox="1"/>
          <p:nvPr/>
        </p:nvSpPr>
        <p:spPr>
          <a:xfrm>
            <a:off x="1313113" y="4458584"/>
            <a:ext cx="1284065" cy="307777"/>
          </a:xfrm>
          <a:prstGeom prst="rect">
            <a:avLst/>
          </a:prstGeom>
          <a:noFill/>
        </p:spPr>
        <p:txBody>
          <a:bodyPr wrap="square" rtlCol="0">
            <a:spAutoFit/>
          </a:bodyPr>
          <a:lstStyle/>
          <a:p>
            <a:r>
              <a:rPr kumimoji="1" lang="en-US" altLang="ja-JP" sz="1400" dirty="0"/>
              <a:t>(128,H/8,W/8)</a:t>
            </a:r>
            <a:endParaRPr kumimoji="1" lang="ja-JP" altLang="en-US" sz="1400" dirty="0"/>
          </a:p>
        </p:txBody>
      </p:sp>
      <p:sp>
        <p:nvSpPr>
          <p:cNvPr id="116" name="立方体 115">
            <a:extLst>
              <a:ext uri="{FF2B5EF4-FFF2-40B4-BE49-F238E27FC236}">
                <a16:creationId xmlns:a16="http://schemas.microsoft.com/office/drawing/2014/main" id="{1F5053D3-65D7-A842-6659-BAE29402C089}"/>
              </a:ext>
            </a:extLst>
          </p:cNvPr>
          <p:cNvSpPr/>
          <p:nvPr/>
        </p:nvSpPr>
        <p:spPr>
          <a:xfrm>
            <a:off x="2622737" y="3925941"/>
            <a:ext cx="935301" cy="302468"/>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21" name="箭头: 右 120">
            <a:extLst>
              <a:ext uri="{FF2B5EF4-FFF2-40B4-BE49-F238E27FC236}">
                <a16:creationId xmlns:a16="http://schemas.microsoft.com/office/drawing/2014/main" id="{12B0E8D6-F2BE-8934-00CA-C739D7E346BB}"/>
              </a:ext>
            </a:extLst>
          </p:cNvPr>
          <p:cNvSpPr/>
          <p:nvPr/>
        </p:nvSpPr>
        <p:spPr>
          <a:xfrm rot="5400000">
            <a:off x="2972695" y="3616406"/>
            <a:ext cx="195830" cy="310143"/>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122" name="文本框 121">
            <a:extLst>
              <a:ext uri="{FF2B5EF4-FFF2-40B4-BE49-F238E27FC236}">
                <a16:creationId xmlns:a16="http://schemas.microsoft.com/office/drawing/2014/main" id="{5EFC3A13-0349-606C-A90B-F18F8815461B}"/>
              </a:ext>
            </a:extLst>
          </p:cNvPr>
          <p:cNvSpPr txBox="1"/>
          <p:nvPr/>
        </p:nvSpPr>
        <p:spPr>
          <a:xfrm>
            <a:off x="3166812" y="3584664"/>
            <a:ext cx="1272391" cy="307777"/>
          </a:xfrm>
          <a:prstGeom prst="rect">
            <a:avLst/>
          </a:prstGeom>
          <a:noFill/>
        </p:spPr>
        <p:txBody>
          <a:bodyPr wrap="square" rtlCol="0">
            <a:spAutoFit/>
          </a:bodyPr>
          <a:lstStyle/>
          <a:p>
            <a:r>
              <a:rPr kumimoji="1" lang="en-US" altLang="ja-JP" sz="1400" dirty="0"/>
              <a:t>(256,H/8,W/8)</a:t>
            </a:r>
            <a:endParaRPr kumimoji="1" lang="ja-JP" altLang="en-US" sz="1400" dirty="0"/>
          </a:p>
        </p:txBody>
      </p:sp>
      <p:sp>
        <p:nvSpPr>
          <p:cNvPr id="123" name="文本框 122">
            <a:extLst>
              <a:ext uri="{FF2B5EF4-FFF2-40B4-BE49-F238E27FC236}">
                <a16:creationId xmlns:a16="http://schemas.microsoft.com/office/drawing/2014/main" id="{088D644E-4ADA-F67F-F543-2EB9A1A8788F}"/>
              </a:ext>
            </a:extLst>
          </p:cNvPr>
          <p:cNvSpPr txBox="1"/>
          <p:nvPr/>
        </p:nvSpPr>
        <p:spPr>
          <a:xfrm>
            <a:off x="2861014" y="4467068"/>
            <a:ext cx="1272391" cy="307777"/>
          </a:xfrm>
          <a:prstGeom prst="rect">
            <a:avLst/>
          </a:prstGeom>
          <a:noFill/>
        </p:spPr>
        <p:txBody>
          <a:bodyPr wrap="square" rtlCol="0">
            <a:spAutoFit/>
          </a:bodyPr>
          <a:lstStyle/>
          <a:p>
            <a:r>
              <a:rPr kumimoji="1" lang="en-US" altLang="ja-JP" sz="1400" dirty="0"/>
              <a:t>(128,H/8,W/8)</a:t>
            </a:r>
            <a:endParaRPr kumimoji="1" lang="ja-JP" altLang="en-US" sz="1400" dirty="0"/>
          </a:p>
        </p:txBody>
      </p:sp>
      <p:sp>
        <p:nvSpPr>
          <p:cNvPr id="124" name="矩形: 圆角 123">
            <a:extLst>
              <a:ext uri="{FF2B5EF4-FFF2-40B4-BE49-F238E27FC236}">
                <a16:creationId xmlns:a16="http://schemas.microsoft.com/office/drawing/2014/main" id="{618335AD-B514-A538-7483-D92EFE3D4720}"/>
              </a:ext>
            </a:extLst>
          </p:cNvPr>
          <p:cNvSpPr/>
          <p:nvPr/>
        </p:nvSpPr>
        <p:spPr>
          <a:xfrm>
            <a:off x="4171963" y="4842218"/>
            <a:ext cx="3005151" cy="1747628"/>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25" name="立方体 124">
            <a:extLst>
              <a:ext uri="{FF2B5EF4-FFF2-40B4-BE49-F238E27FC236}">
                <a16:creationId xmlns:a16="http://schemas.microsoft.com/office/drawing/2014/main" id="{24A7EB7E-4221-38AB-8CB1-E87BC5EDB9E4}"/>
              </a:ext>
            </a:extLst>
          </p:cNvPr>
          <p:cNvSpPr/>
          <p:nvPr/>
        </p:nvSpPr>
        <p:spPr>
          <a:xfrm>
            <a:off x="4426071" y="5182295"/>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立方体 125">
            <a:extLst>
              <a:ext uri="{FF2B5EF4-FFF2-40B4-BE49-F238E27FC236}">
                <a16:creationId xmlns:a16="http://schemas.microsoft.com/office/drawing/2014/main" id="{FF6DD097-DCFF-2770-22F7-F11CF12FF42C}"/>
              </a:ext>
            </a:extLst>
          </p:cNvPr>
          <p:cNvSpPr/>
          <p:nvPr/>
        </p:nvSpPr>
        <p:spPr>
          <a:xfrm>
            <a:off x="5260272" y="5104165"/>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文本框 126">
            <a:extLst>
              <a:ext uri="{FF2B5EF4-FFF2-40B4-BE49-F238E27FC236}">
                <a16:creationId xmlns:a16="http://schemas.microsoft.com/office/drawing/2014/main" id="{0BA1BAFE-B929-70CF-75C1-06AFA2734A88}"/>
              </a:ext>
            </a:extLst>
          </p:cNvPr>
          <p:cNvSpPr txBox="1"/>
          <p:nvPr/>
        </p:nvSpPr>
        <p:spPr>
          <a:xfrm>
            <a:off x="4916615" y="4772936"/>
            <a:ext cx="1390810" cy="369332"/>
          </a:xfrm>
          <a:prstGeom prst="rect">
            <a:avLst/>
          </a:prstGeom>
          <a:noFill/>
        </p:spPr>
        <p:txBody>
          <a:bodyPr wrap="square" rtlCol="0">
            <a:spAutoFit/>
          </a:bodyPr>
          <a:lstStyle/>
          <a:p>
            <a:r>
              <a:rPr kumimoji="1" lang="en-US" altLang="ja-JP" dirty="0"/>
              <a:t>BottleNeck</a:t>
            </a:r>
            <a:endParaRPr kumimoji="1" lang="ja-JP" altLang="en-US" dirty="0"/>
          </a:p>
        </p:txBody>
      </p:sp>
      <p:cxnSp>
        <p:nvCxnSpPr>
          <p:cNvPr id="128" name="直接箭头连接符 127">
            <a:extLst>
              <a:ext uri="{FF2B5EF4-FFF2-40B4-BE49-F238E27FC236}">
                <a16:creationId xmlns:a16="http://schemas.microsoft.com/office/drawing/2014/main" id="{6F8E728C-E690-4062-CAC2-8378FBE76086}"/>
              </a:ext>
            </a:extLst>
          </p:cNvPr>
          <p:cNvCxnSpPr>
            <a:cxnSpLocks/>
          </p:cNvCxnSpPr>
          <p:nvPr/>
        </p:nvCxnSpPr>
        <p:spPr>
          <a:xfrm>
            <a:off x="4879430" y="5741135"/>
            <a:ext cx="348343"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30" name="矩形: 圆角 129">
            <a:extLst>
              <a:ext uri="{FF2B5EF4-FFF2-40B4-BE49-F238E27FC236}">
                <a16:creationId xmlns:a16="http://schemas.microsoft.com/office/drawing/2014/main" id="{DACD8317-5F2A-56D5-A8AC-B313F3BA4175}"/>
              </a:ext>
            </a:extLst>
          </p:cNvPr>
          <p:cNvSpPr/>
          <p:nvPr/>
        </p:nvSpPr>
        <p:spPr>
          <a:xfrm>
            <a:off x="5937229" y="5188918"/>
            <a:ext cx="1166929" cy="4965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32" name="矩形: 圆角 131">
            <a:extLst>
              <a:ext uri="{FF2B5EF4-FFF2-40B4-BE49-F238E27FC236}">
                <a16:creationId xmlns:a16="http://schemas.microsoft.com/office/drawing/2014/main" id="{3EDBB25D-B5A4-384D-CCE9-35B716C11124}"/>
              </a:ext>
            </a:extLst>
          </p:cNvPr>
          <p:cNvSpPr/>
          <p:nvPr/>
        </p:nvSpPr>
        <p:spPr>
          <a:xfrm>
            <a:off x="5937229" y="5957548"/>
            <a:ext cx="1166929" cy="4965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cxnSp>
        <p:nvCxnSpPr>
          <p:cNvPr id="133" name="直接箭头连接符 132">
            <a:extLst>
              <a:ext uri="{FF2B5EF4-FFF2-40B4-BE49-F238E27FC236}">
                <a16:creationId xmlns:a16="http://schemas.microsoft.com/office/drawing/2014/main" id="{F5E6D3AE-2C6E-3BF2-72C9-5FABD175C41D}"/>
              </a:ext>
            </a:extLst>
          </p:cNvPr>
          <p:cNvCxnSpPr>
            <a:cxnSpLocks/>
            <a:stCxn id="130" idx="2"/>
            <a:endCxn id="132" idx="0"/>
          </p:cNvCxnSpPr>
          <p:nvPr/>
        </p:nvCxnSpPr>
        <p:spPr>
          <a:xfrm>
            <a:off x="6520694" y="5685426"/>
            <a:ext cx="0" cy="27212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7" name="连接符: 肘形 136">
            <a:extLst>
              <a:ext uri="{FF2B5EF4-FFF2-40B4-BE49-F238E27FC236}">
                <a16:creationId xmlns:a16="http://schemas.microsoft.com/office/drawing/2014/main" id="{72CA66C0-2EDE-A24C-A39F-D3C42B25A687}"/>
              </a:ext>
            </a:extLst>
          </p:cNvPr>
          <p:cNvCxnSpPr>
            <a:stCxn id="126" idx="5"/>
            <a:endCxn id="130" idx="1"/>
          </p:cNvCxnSpPr>
          <p:nvPr/>
        </p:nvCxnSpPr>
        <p:spPr>
          <a:xfrm flipV="1">
            <a:off x="5713631" y="5437172"/>
            <a:ext cx="223598" cy="164458"/>
          </a:xfrm>
          <a:prstGeom prst="bentConnector3">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8" name="直接箭头连接符 137">
            <a:extLst>
              <a:ext uri="{FF2B5EF4-FFF2-40B4-BE49-F238E27FC236}">
                <a16:creationId xmlns:a16="http://schemas.microsoft.com/office/drawing/2014/main" id="{C91A877F-0EBB-A7EB-E1E4-2DFEFC55D8B4}"/>
              </a:ext>
            </a:extLst>
          </p:cNvPr>
          <p:cNvCxnSpPr>
            <a:cxnSpLocks/>
          </p:cNvCxnSpPr>
          <p:nvPr/>
        </p:nvCxnSpPr>
        <p:spPr>
          <a:xfrm>
            <a:off x="2915538" y="5483451"/>
            <a:ext cx="1508648" cy="844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41" name="文本框 140">
            <a:extLst>
              <a:ext uri="{FF2B5EF4-FFF2-40B4-BE49-F238E27FC236}">
                <a16:creationId xmlns:a16="http://schemas.microsoft.com/office/drawing/2014/main" id="{CAD07520-884B-A32F-2527-8E94B66FC6A3}"/>
              </a:ext>
            </a:extLst>
          </p:cNvPr>
          <p:cNvSpPr txBox="1"/>
          <p:nvPr/>
        </p:nvSpPr>
        <p:spPr>
          <a:xfrm>
            <a:off x="2940090" y="5174512"/>
            <a:ext cx="1272391" cy="307777"/>
          </a:xfrm>
          <a:prstGeom prst="rect">
            <a:avLst/>
          </a:prstGeom>
          <a:noFill/>
        </p:spPr>
        <p:txBody>
          <a:bodyPr wrap="square" rtlCol="0">
            <a:spAutoFit/>
          </a:bodyPr>
          <a:lstStyle/>
          <a:p>
            <a:r>
              <a:rPr kumimoji="1" lang="en-US" altLang="ja-JP" sz="1400" dirty="0"/>
              <a:t>(256,H/8,W/8)</a:t>
            </a:r>
            <a:endParaRPr kumimoji="1" lang="ja-JP" altLang="en-US" sz="1400" dirty="0"/>
          </a:p>
        </p:txBody>
      </p:sp>
      <p:sp>
        <p:nvSpPr>
          <p:cNvPr id="143" name="Google Shape;99;p15">
            <a:extLst>
              <a:ext uri="{FF2B5EF4-FFF2-40B4-BE49-F238E27FC236}">
                <a16:creationId xmlns:a16="http://schemas.microsoft.com/office/drawing/2014/main" id="{ADB4E3D3-88A1-9892-3136-10B213EF8C8E}"/>
              </a:ext>
            </a:extLst>
          </p:cNvPr>
          <p:cNvSpPr txBox="1">
            <a:spLocks/>
          </p:cNvSpPr>
          <p:nvPr/>
        </p:nvSpPr>
        <p:spPr>
          <a:xfrm>
            <a:off x="11428672" y="6326130"/>
            <a:ext cx="731600" cy="524800"/>
          </a:xfrm>
          <a:prstGeom prst="rect">
            <a:avLst/>
          </a:prstGeom>
        </p:spPr>
        <p:txBody>
          <a:bodyPr spcFirstLastPara="1" vert="horz" wrap="square" lIns="121900" tIns="121900" rIns="121900" bIns="121900" rtlCol="0" anchor="t" anchorCtr="0">
            <a:noAutofit/>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buClr>
                <a:srgbClr val="000000"/>
              </a:buClr>
              <a:defRPr/>
            </a:pPr>
            <a:fld id="{00000000-1234-1234-1234-123412341234}" type="slidenum">
              <a:rPr lang="en" sz="1733" b="1" kern="0" smtClean="0">
                <a:solidFill>
                  <a:srgbClr val="0091EA"/>
                </a:solidFill>
                <a:latin typeface="Source Sans Pro"/>
                <a:sym typeface="Source Sans Pro"/>
              </a:rPr>
              <a:pPr defTabSz="1219170">
                <a:buClr>
                  <a:srgbClr val="000000"/>
                </a:buClr>
                <a:defRPr/>
              </a:pPr>
              <a:t>14</a:t>
            </a:fld>
            <a:endParaRPr lang="en" sz="1733" b="1" kern="0" dirty="0">
              <a:solidFill>
                <a:srgbClr val="0091EA"/>
              </a:solidFill>
              <a:latin typeface="Source Sans Pro"/>
              <a:sym typeface="Source Sans Pro"/>
            </a:endParaRPr>
          </a:p>
        </p:txBody>
      </p:sp>
      <p:sp>
        <p:nvSpPr>
          <p:cNvPr id="144" name="立方体 143">
            <a:extLst>
              <a:ext uri="{FF2B5EF4-FFF2-40B4-BE49-F238E27FC236}">
                <a16:creationId xmlns:a16="http://schemas.microsoft.com/office/drawing/2014/main" id="{3C021EDD-94EB-FB40-57AB-976378B8295E}"/>
              </a:ext>
            </a:extLst>
          </p:cNvPr>
          <p:cNvSpPr/>
          <p:nvPr/>
        </p:nvSpPr>
        <p:spPr>
          <a:xfrm>
            <a:off x="8390282" y="5849827"/>
            <a:ext cx="1476823" cy="524800"/>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145" name="文本框 144">
            <a:extLst>
              <a:ext uri="{FF2B5EF4-FFF2-40B4-BE49-F238E27FC236}">
                <a16:creationId xmlns:a16="http://schemas.microsoft.com/office/drawing/2014/main" id="{78BBB349-8153-F90D-7212-D1661849672F}"/>
              </a:ext>
            </a:extLst>
          </p:cNvPr>
          <p:cNvSpPr txBox="1"/>
          <p:nvPr/>
        </p:nvSpPr>
        <p:spPr>
          <a:xfrm>
            <a:off x="8391761" y="6358205"/>
            <a:ext cx="2187390" cy="369332"/>
          </a:xfrm>
          <a:prstGeom prst="rect">
            <a:avLst/>
          </a:prstGeom>
          <a:noFill/>
        </p:spPr>
        <p:txBody>
          <a:bodyPr wrap="square" rtlCol="0">
            <a:spAutoFit/>
          </a:bodyPr>
          <a:lstStyle/>
          <a:p>
            <a:r>
              <a:rPr kumimoji="1" lang="en-US" altLang="ja-JP" dirty="0"/>
              <a:t>(256,H/8,W/8)</a:t>
            </a:r>
            <a:endParaRPr kumimoji="1" lang="ja-JP" altLang="en-US" dirty="0"/>
          </a:p>
        </p:txBody>
      </p:sp>
      <p:sp>
        <p:nvSpPr>
          <p:cNvPr id="146" name="箭头: 右 145">
            <a:extLst>
              <a:ext uri="{FF2B5EF4-FFF2-40B4-BE49-F238E27FC236}">
                <a16:creationId xmlns:a16="http://schemas.microsoft.com/office/drawing/2014/main" id="{8D6814B4-D046-3FE3-0C24-625291E685C8}"/>
              </a:ext>
            </a:extLst>
          </p:cNvPr>
          <p:cNvSpPr/>
          <p:nvPr/>
        </p:nvSpPr>
        <p:spPr>
          <a:xfrm rot="16200000">
            <a:off x="8530464" y="5248397"/>
            <a:ext cx="405001" cy="62649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47" name="立方体 146">
            <a:extLst>
              <a:ext uri="{FF2B5EF4-FFF2-40B4-BE49-F238E27FC236}">
                <a16:creationId xmlns:a16="http://schemas.microsoft.com/office/drawing/2014/main" id="{E8501A54-EBC3-89DC-574E-DD183BA123DC}"/>
              </a:ext>
            </a:extLst>
          </p:cNvPr>
          <p:cNvSpPr/>
          <p:nvPr/>
        </p:nvSpPr>
        <p:spPr>
          <a:xfrm>
            <a:off x="8074090" y="429605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48" name="立方体 147">
            <a:extLst>
              <a:ext uri="{FF2B5EF4-FFF2-40B4-BE49-F238E27FC236}">
                <a16:creationId xmlns:a16="http://schemas.microsoft.com/office/drawing/2014/main" id="{9C13B290-E9B2-C0AB-64A6-27E98D07608A}"/>
              </a:ext>
            </a:extLst>
          </p:cNvPr>
          <p:cNvSpPr/>
          <p:nvPr/>
        </p:nvSpPr>
        <p:spPr>
          <a:xfrm>
            <a:off x="8532853" y="4285518"/>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49" name="矩形: 圆角 148">
            <a:extLst>
              <a:ext uri="{FF2B5EF4-FFF2-40B4-BE49-F238E27FC236}">
                <a16:creationId xmlns:a16="http://schemas.microsoft.com/office/drawing/2014/main" id="{F9D430BD-1A3B-88D6-4563-9A6E94584D87}"/>
              </a:ext>
            </a:extLst>
          </p:cNvPr>
          <p:cNvSpPr/>
          <p:nvPr/>
        </p:nvSpPr>
        <p:spPr>
          <a:xfrm>
            <a:off x="7963369" y="4012425"/>
            <a:ext cx="128804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50" name="文本框 149">
            <a:extLst>
              <a:ext uri="{FF2B5EF4-FFF2-40B4-BE49-F238E27FC236}">
                <a16:creationId xmlns:a16="http://schemas.microsoft.com/office/drawing/2014/main" id="{C400ACD0-6B5B-19DA-CE35-6EC06979466C}"/>
              </a:ext>
            </a:extLst>
          </p:cNvPr>
          <p:cNvSpPr txBox="1"/>
          <p:nvPr/>
        </p:nvSpPr>
        <p:spPr>
          <a:xfrm>
            <a:off x="8151233" y="3934726"/>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51" name="文本框 150">
            <a:extLst>
              <a:ext uri="{FF2B5EF4-FFF2-40B4-BE49-F238E27FC236}">
                <a16:creationId xmlns:a16="http://schemas.microsoft.com/office/drawing/2014/main" id="{3C410462-8EF2-9BA8-A038-C9AEA9A2A5CE}"/>
              </a:ext>
            </a:extLst>
          </p:cNvPr>
          <p:cNvSpPr txBox="1"/>
          <p:nvPr/>
        </p:nvSpPr>
        <p:spPr>
          <a:xfrm>
            <a:off x="7916355" y="5005235"/>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152" name="箭头: 右 151">
            <a:extLst>
              <a:ext uri="{FF2B5EF4-FFF2-40B4-BE49-F238E27FC236}">
                <a16:creationId xmlns:a16="http://schemas.microsoft.com/office/drawing/2014/main" id="{2ED3C5B7-3699-C1C0-6D0D-02D33E697C07}"/>
              </a:ext>
            </a:extLst>
          </p:cNvPr>
          <p:cNvSpPr/>
          <p:nvPr/>
        </p:nvSpPr>
        <p:spPr>
          <a:xfrm>
            <a:off x="9209442" y="446147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3" name="立方体 152">
            <a:extLst>
              <a:ext uri="{FF2B5EF4-FFF2-40B4-BE49-F238E27FC236}">
                <a16:creationId xmlns:a16="http://schemas.microsoft.com/office/drawing/2014/main" id="{B5FBEDAB-1D9E-49BD-B146-B84E0DDF771F}"/>
              </a:ext>
            </a:extLst>
          </p:cNvPr>
          <p:cNvSpPr/>
          <p:nvPr/>
        </p:nvSpPr>
        <p:spPr>
          <a:xfrm>
            <a:off x="9744713" y="4229238"/>
            <a:ext cx="625328" cy="976053"/>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54" name="箭头: 右 153">
            <a:extLst>
              <a:ext uri="{FF2B5EF4-FFF2-40B4-BE49-F238E27FC236}">
                <a16:creationId xmlns:a16="http://schemas.microsoft.com/office/drawing/2014/main" id="{4DC57C2B-76D8-426E-3A0F-B7BD8109D7F2}"/>
              </a:ext>
            </a:extLst>
          </p:cNvPr>
          <p:cNvSpPr/>
          <p:nvPr/>
        </p:nvSpPr>
        <p:spPr>
          <a:xfrm rot="16200000">
            <a:off x="9684599" y="3604372"/>
            <a:ext cx="405003" cy="482622"/>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55" name="立方体 154">
            <a:extLst>
              <a:ext uri="{FF2B5EF4-FFF2-40B4-BE49-F238E27FC236}">
                <a16:creationId xmlns:a16="http://schemas.microsoft.com/office/drawing/2014/main" id="{C90EC8AB-A3AD-65B4-FB4E-F28A5E045E6F}"/>
              </a:ext>
            </a:extLst>
          </p:cNvPr>
          <p:cNvSpPr/>
          <p:nvPr/>
        </p:nvSpPr>
        <p:spPr>
          <a:xfrm>
            <a:off x="9577783" y="2596126"/>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56" name="立方体 155">
            <a:extLst>
              <a:ext uri="{FF2B5EF4-FFF2-40B4-BE49-F238E27FC236}">
                <a16:creationId xmlns:a16="http://schemas.microsoft.com/office/drawing/2014/main" id="{1DF6F080-00E9-620F-BE91-755F6F9F77C2}"/>
              </a:ext>
            </a:extLst>
          </p:cNvPr>
          <p:cNvSpPr/>
          <p:nvPr/>
        </p:nvSpPr>
        <p:spPr>
          <a:xfrm>
            <a:off x="8863701" y="2607460"/>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57" name="矩形: 圆角 156">
            <a:extLst>
              <a:ext uri="{FF2B5EF4-FFF2-40B4-BE49-F238E27FC236}">
                <a16:creationId xmlns:a16="http://schemas.microsoft.com/office/drawing/2014/main" id="{2B181951-B0E5-6E6F-DE3D-81986177785A}"/>
              </a:ext>
            </a:extLst>
          </p:cNvPr>
          <p:cNvSpPr/>
          <p:nvPr/>
        </p:nvSpPr>
        <p:spPr>
          <a:xfrm>
            <a:off x="8738927" y="2276485"/>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58" name="文本框 157">
            <a:extLst>
              <a:ext uri="{FF2B5EF4-FFF2-40B4-BE49-F238E27FC236}">
                <a16:creationId xmlns:a16="http://schemas.microsoft.com/office/drawing/2014/main" id="{4AE7E7DC-E0D0-2686-FDF2-19A1D3AA6D00}"/>
              </a:ext>
            </a:extLst>
          </p:cNvPr>
          <p:cNvSpPr txBox="1"/>
          <p:nvPr/>
        </p:nvSpPr>
        <p:spPr>
          <a:xfrm>
            <a:off x="9030270" y="2221019"/>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59" name="箭头: 右 158">
            <a:extLst>
              <a:ext uri="{FF2B5EF4-FFF2-40B4-BE49-F238E27FC236}">
                <a16:creationId xmlns:a16="http://schemas.microsoft.com/office/drawing/2014/main" id="{E8FC860F-6157-3299-AD08-1D631444465B}"/>
              </a:ext>
            </a:extLst>
          </p:cNvPr>
          <p:cNvSpPr/>
          <p:nvPr/>
        </p:nvSpPr>
        <p:spPr>
          <a:xfrm>
            <a:off x="10281660" y="276427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立方体 159">
            <a:extLst>
              <a:ext uri="{FF2B5EF4-FFF2-40B4-BE49-F238E27FC236}">
                <a16:creationId xmlns:a16="http://schemas.microsoft.com/office/drawing/2014/main" id="{EA8A1DFA-0E90-7EB1-AAFF-03E321200C93}"/>
              </a:ext>
            </a:extLst>
          </p:cNvPr>
          <p:cNvSpPr/>
          <p:nvPr/>
        </p:nvSpPr>
        <p:spPr>
          <a:xfrm>
            <a:off x="10988239" y="2471624"/>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61" name="箭头: 右 160">
            <a:extLst>
              <a:ext uri="{FF2B5EF4-FFF2-40B4-BE49-F238E27FC236}">
                <a16:creationId xmlns:a16="http://schemas.microsoft.com/office/drawing/2014/main" id="{EF43A6C1-5BDE-FB59-FF3F-1D7F5E692C96}"/>
              </a:ext>
            </a:extLst>
          </p:cNvPr>
          <p:cNvSpPr/>
          <p:nvPr/>
        </p:nvSpPr>
        <p:spPr>
          <a:xfrm rot="16200000">
            <a:off x="11310593" y="1847935"/>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62" name="立方体 161">
            <a:extLst>
              <a:ext uri="{FF2B5EF4-FFF2-40B4-BE49-F238E27FC236}">
                <a16:creationId xmlns:a16="http://schemas.microsoft.com/office/drawing/2014/main" id="{92E60EC9-D8EF-5909-352E-DFFD8002AA99}"/>
              </a:ext>
            </a:extLst>
          </p:cNvPr>
          <p:cNvSpPr/>
          <p:nvPr/>
        </p:nvSpPr>
        <p:spPr>
          <a:xfrm>
            <a:off x="11339059" y="917931"/>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63" name="立方体 162">
            <a:extLst>
              <a:ext uri="{FF2B5EF4-FFF2-40B4-BE49-F238E27FC236}">
                <a16:creationId xmlns:a16="http://schemas.microsoft.com/office/drawing/2014/main" id="{7956967D-7105-6D70-AD75-E603C4A49328}"/>
              </a:ext>
            </a:extLst>
          </p:cNvPr>
          <p:cNvSpPr/>
          <p:nvPr/>
        </p:nvSpPr>
        <p:spPr>
          <a:xfrm>
            <a:off x="10624977" y="929265"/>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4" name="矩形: 圆角 163">
            <a:extLst>
              <a:ext uri="{FF2B5EF4-FFF2-40B4-BE49-F238E27FC236}">
                <a16:creationId xmlns:a16="http://schemas.microsoft.com/office/drawing/2014/main" id="{95606B17-3A33-D483-E6B3-C7060C1AA2EB}"/>
              </a:ext>
            </a:extLst>
          </p:cNvPr>
          <p:cNvSpPr/>
          <p:nvPr/>
        </p:nvSpPr>
        <p:spPr>
          <a:xfrm>
            <a:off x="10500203" y="598290"/>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65" name="文本框 164">
            <a:extLst>
              <a:ext uri="{FF2B5EF4-FFF2-40B4-BE49-F238E27FC236}">
                <a16:creationId xmlns:a16="http://schemas.microsoft.com/office/drawing/2014/main" id="{EFCCEA85-905E-4AE4-D8C2-47ECFD02F900}"/>
              </a:ext>
            </a:extLst>
          </p:cNvPr>
          <p:cNvSpPr txBox="1"/>
          <p:nvPr/>
        </p:nvSpPr>
        <p:spPr>
          <a:xfrm>
            <a:off x="10791546" y="542824"/>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66" name="箭头: 右 165">
            <a:extLst>
              <a:ext uri="{FF2B5EF4-FFF2-40B4-BE49-F238E27FC236}">
                <a16:creationId xmlns:a16="http://schemas.microsoft.com/office/drawing/2014/main" id="{3201B358-95FD-74F0-4C67-1009C41C1619}"/>
              </a:ext>
            </a:extLst>
          </p:cNvPr>
          <p:cNvSpPr/>
          <p:nvPr/>
        </p:nvSpPr>
        <p:spPr>
          <a:xfrm rot="10800000">
            <a:off x="9956213" y="75486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文本框 166">
            <a:extLst>
              <a:ext uri="{FF2B5EF4-FFF2-40B4-BE49-F238E27FC236}">
                <a16:creationId xmlns:a16="http://schemas.microsoft.com/office/drawing/2014/main" id="{593610F7-823F-9DD1-18EF-A066703877D5}"/>
              </a:ext>
            </a:extLst>
          </p:cNvPr>
          <p:cNvSpPr txBox="1"/>
          <p:nvPr/>
        </p:nvSpPr>
        <p:spPr>
          <a:xfrm>
            <a:off x="9286852" y="5153346"/>
            <a:ext cx="1925472" cy="338554"/>
          </a:xfrm>
          <a:prstGeom prst="rect">
            <a:avLst/>
          </a:prstGeom>
          <a:noFill/>
        </p:spPr>
        <p:txBody>
          <a:bodyPr wrap="square" rtlCol="0">
            <a:spAutoFit/>
          </a:bodyPr>
          <a:lstStyle/>
          <a:p>
            <a:r>
              <a:rPr kumimoji="1" lang="en-US" altLang="ja-JP" sz="1600" dirty="0"/>
              <a:t>(128,H/4,W/4)</a:t>
            </a:r>
            <a:endParaRPr kumimoji="1" lang="ja-JP" altLang="en-US" sz="1600" dirty="0"/>
          </a:p>
        </p:txBody>
      </p:sp>
      <p:sp>
        <p:nvSpPr>
          <p:cNvPr id="168" name="文本框 167">
            <a:extLst>
              <a:ext uri="{FF2B5EF4-FFF2-40B4-BE49-F238E27FC236}">
                <a16:creationId xmlns:a16="http://schemas.microsoft.com/office/drawing/2014/main" id="{39C5210C-72BD-112A-769D-12F61F540AC5}"/>
              </a:ext>
            </a:extLst>
          </p:cNvPr>
          <p:cNvSpPr txBox="1"/>
          <p:nvPr/>
        </p:nvSpPr>
        <p:spPr>
          <a:xfrm>
            <a:off x="8741986" y="3314967"/>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169" name="文本框 168">
            <a:extLst>
              <a:ext uri="{FF2B5EF4-FFF2-40B4-BE49-F238E27FC236}">
                <a16:creationId xmlns:a16="http://schemas.microsoft.com/office/drawing/2014/main" id="{5D11E920-1938-63CC-93BF-5752E0E7EC65}"/>
              </a:ext>
            </a:extLst>
          </p:cNvPr>
          <p:cNvSpPr txBox="1"/>
          <p:nvPr/>
        </p:nvSpPr>
        <p:spPr>
          <a:xfrm>
            <a:off x="10690719" y="3331233"/>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170" name="文本框 169">
            <a:extLst>
              <a:ext uri="{FF2B5EF4-FFF2-40B4-BE49-F238E27FC236}">
                <a16:creationId xmlns:a16="http://schemas.microsoft.com/office/drawing/2014/main" id="{2DFF74C8-B903-3100-0F27-8ACF96CB8072}"/>
              </a:ext>
            </a:extLst>
          </p:cNvPr>
          <p:cNvSpPr txBox="1"/>
          <p:nvPr/>
        </p:nvSpPr>
        <p:spPr>
          <a:xfrm>
            <a:off x="10716337" y="1646249"/>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71" name="立方体 170">
            <a:extLst>
              <a:ext uri="{FF2B5EF4-FFF2-40B4-BE49-F238E27FC236}">
                <a16:creationId xmlns:a16="http://schemas.microsoft.com/office/drawing/2014/main" id="{86DA5467-C4C8-0561-99D8-B426B89CC80B}"/>
              </a:ext>
            </a:extLst>
          </p:cNvPr>
          <p:cNvSpPr/>
          <p:nvPr/>
        </p:nvSpPr>
        <p:spPr>
          <a:xfrm>
            <a:off x="9305335" y="539873"/>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72" name="文本框 171">
            <a:extLst>
              <a:ext uri="{FF2B5EF4-FFF2-40B4-BE49-F238E27FC236}">
                <a16:creationId xmlns:a16="http://schemas.microsoft.com/office/drawing/2014/main" id="{0747ED51-6E26-8C00-50E9-5DC57B4C0CD6}"/>
              </a:ext>
            </a:extLst>
          </p:cNvPr>
          <p:cNvSpPr txBox="1"/>
          <p:nvPr/>
        </p:nvSpPr>
        <p:spPr>
          <a:xfrm>
            <a:off x="9037972" y="1405458"/>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73" name="箭头: 直角上 172">
            <a:extLst>
              <a:ext uri="{FF2B5EF4-FFF2-40B4-BE49-F238E27FC236}">
                <a16:creationId xmlns:a16="http://schemas.microsoft.com/office/drawing/2014/main" id="{76346FD9-96A3-0677-6AFE-CE7484AC9B7D}"/>
              </a:ext>
            </a:extLst>
          </p:cNvPr>
          <p:cNvSpPr/>
          <p:nvPr/>
        </p:nvSpPr>
        <p:spPr>
          <a:xfrm flipH="1">
            <a:off x="8579356" y="349255"/>
            <a:ext cx="672056" cy="860233"/>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74" name="文本框 173">
            <a:extLst>
              <a:ext uri="{FF2B5EF4-FFF2-40B4-BE49-F238E27FC236}">
                <a16:creationId xmlns:a16="http://schemas.microsoft.com/office/drawing/2014/main" id="{68A2B2ED-3FD4-D227-E36D-DC2464A639F4}"/>
              </a:ext>
            </a:extLst>
          </p:cNvPr>
          <p:cNvSpPr txBox="1"/>
          <p:nvPr/>
        </p:nvSpPr>
        <p:spPr>
          <a:xfrm>
            <a:off x="8278660" y="-62395"/>
            <a:ext cx="1128835" cy="461665"/>
          </a:xfrm>
          <a:prstGeom prst="rect">
            <a:avLst/>
          </a:prstGeom>
          <a:noFill/>
        </p:spPr>
        <p:txBody>
          <a:bodyPr wrap="none" rtlCol="0">
            <a:spAutoFit/>
          </a:bodyPr>
          <a:lstStyle/>
          <a:p>
            <a:r>
              <a:rPr kumimoji="1" lang="en-US" altLang="ja-JP" sz="2400" dirty="0"/>
              <a:t>Output</a:t>
            </a:r>
            <a:endParaRPr kumimoji="1" lang="ja-JP" altLang="en-US" sz="2400" dirty="0"/>
          </a:p>
        </p:txBody>
      </p:sp>
      <p:sp>
        <p:nvSpPr>
          <p:cNvPr id="175" name="箭头: 右 174">
            <a:extLst>
              <a:ext uri="{FF2B5EF4-FFF2-40B4-BE49-F238E27FC236}">
                <a16:creationId xmlns:a16="http://schemas.microsoft.com/office/drawing/2014/main" id="{72B7683A-3C97-A5E8-2CE4-8A15464F6C4C}"/>
              </a:ext>
            </a:extLst>
          </p:cNvPr>
          <p:cNvSpPr/>
          <p:nvPr/>
        </p:nvSpPr>
        <p:spPr>
          <a:xfrm>
            <a:off x="10905921" y="4669828"/>
            <a:ext cx="281701" cy="3073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 name="箭头: 右 175">
            <a:extLst>
              <a:ext uri="{FF2B5EF4-FFF2-40B4-BE49-F238E27FC236}">
                <a16:creationId xmlns:a16="http://schemas.microsoft.com/office/drawing/2014/main" id="{CBC6D5F6-334E-1C67-DAAE-AF04606EF481}"/>
              </a:ext>
            </a:extLst>
          </p:cNvPr>
          <p:cNvSpPr/>
          <p:nvPr/>
        </p:nvSpPr>
        <p:spPr>
          <a:xfrm rot="16200000">
            <a:off x="10913402" y="5012584"/>
            <a:ext cx="258949" cy="472418"/>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77" name="文本框 176">
            <a:extLst>
              <a:ext uri="{FF2B5EF4-FFF2-40B4-BE49-F238E27FC236}">
                <a16:creationId xmlns:a16="http://schemas.microsoft.com/office/drawing/2014/main" id="{31BC951A-0DBB-FFCA-C0EE-BC02DEC5567D}"/>
              </a:ext>
            </a:extLst>
          </p:cNvPr>
          <p:cNvSpPr txBox="1"/>
          <p:nvPr/>
        </p:nvSpPr>
        <p:spPr>
          <a:xfrm>
            <a:off x="11271113" y="5100836"/>
            <a:ext cx="1208440" cy="338554"/>
          </a:xfrm>
          <a:prstGeom prst="rect">
            <a:avLst/>
          </a:prstGeom>
          <a:noFill/>
        </p:spPr>
        <p:txBody>
          <a:bodyPr wrap="square" rtlCol="0">
            <a:spAutoFit/>
          </a:bodyPr>
          <a:lstStyle/>
          <a:p>
            <a:r>
              <a:rPr kumimoji="1" lang="en-US" altLang="ja-JP" sz="1600"/>
              <a:t>Upsample</a:t>
            </a:r>
            <a:endParaRPr kumimoji="1" lang="ja-JP" altLang="en-US" sz="1600" dirty="0"/>
          </a:p>
        </p:txBody>
      </p:sp>
      <p:sp>
        <p:nvSpPr>
          <p:cNvPr id="178" name="箭头: 直角上 177">
            <a:extLst>
              <a:ext uri="{FF2B5EF4-FFF2-40B4-BE49-F238E27FC236}">
                <a16:creationId xmlns:a16="http://schemas.microsoft.com/office/drawing/2014/main" id="{F3B65193-F6DF-1152-03B8-9C93D56BB4CD}"/>
              </a:ext>
            </a:extLst>
          </p:cNvPr>
          <p:cNvSpPr/>
          <p:nvPr/>
        </p:nvSpPr>
        <p:spPr>
          <a:xfrm flipH="1">
            <a:off x="10963444" y="5614596"/>
            <a:ext cx="337459" cy="338554"/>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79" name="文本框 178">
            <a:extLst>
              <a:ext uri="{FF2B5EF4-FFF2-40B4-BE49-F238E27FC236}">
                <a16:creationId xmlns:a16="http://schemas.microsoft.com/office/drawing/2014/main" id="{A1875A61-7ACF-4FF9-7B0B-1F3A012A9A27}"/>
              </a:ext>
            </a:extLst>
          </p:cNvPr>
          <p:cNvSpPr txBox="1"/>
          <p:nvPr/>
        </p:nvSpPr>
        <p:spPr>
          <a:xfrm>
            <a:off x="11339059" y="5646981"/>
            <a:ext cx="910827" cy="338554"/>
          </a:xfrm>
          <a:prstGeom prst="rect">
            <a:avLst/>
          </a:prstGeom>
          <a:noFill/>
        </p:spPr>
        <p:txBody>
          <a:bodyPr wrap="none" rtlCol="0">
            <a:spAutoFit/>
          </a:bodyPr>
          <a:lstStyle/>
          <a:p>
            <a:r>
              <a:rPr kumimoji="1" lang="en-US" altLang="ja-JP" sz="1600" dirty="0"/>
              <a:t>Sigmoid</a:t>
            </a:r>
            <a:endParaRPr kumimoji="1" lang="ja-JP" altLang="en-US" sz="1600" dirty="0"/>
          </a:p>
        </p:txBody>
      </p:sp>
      <p:cxnSp>
        <p:nvCxnSpPr>
          <p:cNvPr id="180" name="直接箭头连接符 179">
            <a:extLst>
              <a:ext uri="{FF2B5EF4-FFF2-40B4-BE49-F238E27FC236}">
                <a16:creationId xmlns:a16="http://schemas.microsoft.com/office/drawing/2014/main" id="{B71AFD05-4E86-E486-42BC-7CD134E2335B}"/>
              </a:ext>
            </a:extLst>
          </p:cNvPr>
          <p:cNvCxnSpPr>
            <a:cxnSpLocks/>
            <a:stCxn id="132" idx="3"/>
            <a:endCxn id="144" idx="2"/>
          </p:cNvCxnSpPr>
          <p:nvPr/>
        </p:nvCxnSpPr>
        <p:spPr>
          <a:xfrm flipV="1">
            <a:off x="7104158" y="6177827"/>
            <a:ext cx="1286124" cy="2797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84" name="立方体 183">
            <a:extLst>
              <a:ext uri="{FF2B5EF4-FFF2-40B4-BE49-F238E27FC236}">
                <a16:creationId xmlns:a16="http://schemas.microsoft.com/office/drawing/2014/main" id="{0417D9EC-137B-0559-9F2D-3D5035F58EFE}"/>
              </a:ext>
            </a:extLst>
          </p:cNvPr>
          <p:cNvSpPr/>
          <p:nvPr/>
        </p:nvSpPr>
        <p:spPr>
          <a:xfrm>
            <a:off x="5238740" y="73807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85" name="立方体 184">
            <a:extLst>
              <a:ext uri="{FF2B5EF4-FFF2-40B4-BE49-F238E27FC236}">
                <a16:creationId xmlns:a16="http://schemas.microsoft.com/office/drawing/2014/main" id="{808263C7-48E4-E4CA-0394-81405BD66B86}"/>
              </a:ext>
            </a:extLst>
          </p:cNvPr>
          <p:cNvSpPr/>
          <p:nvPr/>
        </p:nvSpPr>
        <p:spPr>
          <a:xfrm>
            <a:off x="5697503" y="72753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86" name="矩形: 圆角 185">
            <a:extLst>
              <a:ext uri="{FF2B5EF4-FFF2-40B4-BE49-F238E27FC236}">
                <a16:creationId xmlns:a16="http://schemas.microsoft.com/office/drawing/2014/main" id="{B90B1CEA-155A-9E47-64F8-5A91050EFA70}"/>
              </a:ext>
            </a:extLst>
          </p:cNvPr>
          <p:cNvSpPr/>
          <p:nvPr/>
        </p:nvSpPr>
        <p:spPr>
          <a:xfrm>
            <a:off x="4939239" y="454446"/>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87" name="文本框 186">
            <a:extLst>
              <a:ext uri="{FF2B5EF4-FFF2-40B4-BE49-F238E27FC236}">
                <a16:creationId xmlns:a16="http://schemas.microsoft.com/office/drawing/2014/main" id="{5844193D-CCB0-240B-C33A-8793949FABFC}"/>
              </a:ext>
            </a:extLst>
          </p:cNvPr>
          <p:cNvSpPr txBox="1"/>
          <p:nvPr/>
        </p:nvSpPr>
        <p:spPr>
          <a:xfrm>
            <a:off x="5315883" y="37674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88" name="立方体 187">
            <a:extLst>
              <a:ext uri="{FF2B5EF4-FFF2-40B4-BE49-F238E27FC236}">
                <a16:creationId xmlns:a16="http://schemas.microsoft.com/office/drawing/2014/main" id="{8F657A82-FE38-DF63-C3F4-3947CD601B56}"/>
              </a:ext>
            </a:extLst>
          </p:cNvPr>
          <p:cNvSpPr/>
          <p:nvPr/>
        </p:nvSpPr>
        <p:spPr>
          <a:xfrm>
            <a:off x="5229294" y="2252211"/>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89" name="立方体 188">
            <a:extLst>
              <a:ext uri="{FF2B5EF4-FFF2-40B4-BE49-F238E27FC236}">
                <a16:creationId xmlns:a16="http://schemas.microsoft.com/office/drawing/2014/main" id="{94D25445-D37D-A1B5-7993-CD4FBE1A3BB5}"/>
              </a:ext>
            </a:extLst>
          </p:cNvPr>
          <p:cNvSpPr/>
          <p:nvPr/>
        </p:nvSpPr>
        <p:spPr>
          <a:xfrm>
            <a:off x="5688057" y="2241676"/>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90" name="矩形: 圆角 189">
            <a:extLst>
              <a:ext uri="{FF2B5EF4-FFF2-40B4-BE49-F238E27FC236}">
                <a16:creationId xmlns:a16="http://schemas.microsoft.com/office/drawing/2014/main" id="{2B2199DC-74BC-4B08-4CFD-41F68CBFFE95}"/>
              </a:ext>
            </a:extLst>
          </p:cNvPr>
          <p:cNvSpPr/>
          <p:nvPr/>
        </p:nvSpPr>
        <p:spPr>
          <a:xfrm>
            <a:off x="4929793" y="1968583"/>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91" name="文本框 190">
            <a:extLst>
              <a:ext uri="{FF2B5EF4-FFF2-40B4-BE49-F238E27FC236}">
                <a16:creationId xmlns:a16="http://schemas.microsoft.com/office/drawing/2014/main" id="{B140F3A3-C201-EA4A-7772-5756A9F607D6}"/>
              </a:ext>
            </a:extLst>
          </p:cNvPr>
          <p:cNvSpPr txBox="1"/>
          <p:nvPr/>
        </p:nvSpPr>
        <p:spPr>
          <a:xfrm>
            <a:off x="5306437" y="1890884"/>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92" name="立方体 191">
            <a:extLst>
              <a:ext uri="{FF2B5EF4-FFF2-40B4-BE49-F238E27FC236}">
                <a16:creationId xmlns:a16="http://schemas.microsoft.com/office/drawing/2014/main" id="{6AD02DB7-6095-5A17-DE1E-C9D41380C9AA}"/>
              </a:ext>
            </a:extLst>
          </p:cNvPr>
          <p:cNvSpPr/>
          <p:nvPr/>
        </p:nvSpPr>
        <p:spPr>
          <a:xfrm>
            <a:off x="5238179" y="368179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93" name="立方体 192">
            <a:extLst>
              <a:ext uri="{FF2B5EF4-FFF2-40B4-BE49-F238E27FC236}">
                <a16:creationId xmlns:a16="http://schemas.microsoft.com/office/drawing/2014/main" id="{F22614BE-19E9-4226-83E7-A25B4B0D062B}"/>
              </a:ext>
            </a:extLst>
          </p:cNvPr>
          <p:cNvSpPr/>
          <p:nvPr/>
        </p:nvSpPr>
        <p:spPr>
          <a:xfrm>
            <a:off x="5696942" y="3671258"/>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94" name="矩形: 圆角 193">
            <a:extLst>
              <a:ext uri="{FF2B5EF4-FFF2-40B4-BE49-F238E27FC236}">
                <a16:creationId xmlns:a16="http://schemas.microsoft.com/office/drawing/2014/main" id="{BA5B19ED-85A7-958A-C1C6-ABFAA59C5D67}"/>
              </a:ext>
            </a:extLst>
          </p:cNvPr>
          <p:cNvSpPr/>
          <p:nvPr/>
        </p:nvSpPr>
        <p:spPr>
          <a:xfrm>
            <a:off x="4938678" y="3398165"/>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95" name="文本框 194">
            <a:extLst>
              <a:ext uri="{FF2B5EF4-FFF2-40B4-BE49-F238E27FC236}">
                <a16:creationId xmlns:a16="http://schemas.microsoft.com/office/drawing/2014/main" id="{E9868793-4EF5-47B9-D8D5-DC0EE405986F}"/>
              </a:ext>
            </a:extLst>
          </p:cNvPr>
          <p:cNvSpPr txBox="1"/>
          <p:nvPr/>
        </p:nvSpPr>
        <p:spPr>
          <a:xfrm>
            <a:off x="5315322" y="3320466"/>
            <a:ext cx="917894" cy="369332"/>
          </a:xfrm>
          <a:prstGeom prst="rect">
            <a:avLst/>
          </a:prstGeom>
          <a:noFill/>
        </p:spPr>
        <p:txBody>
          <a:bodyPr wrap="square" rtlCol="0">
            <a:spAutoFit/>
          </a:bodyPr>
          <a:lstStyle/>
          <a:p>
            <a:r>
              <a:rPr kumimoji="1" lang="en-US" altLang="ja-JP" dirty="0"/>
              <a:t>Concat</a:t>
            </a:r>
            <a:endParaRPr kumimoji="1" lang="ja-JP" altLang="en-US" dirty="0"/>
          </a:p>
        </p:txBody>
      </p:sp>
      <p:cxnSp>
        <p:nvCxnSpPr>
          <p:cNvPr id="197" name="连接符: 曲线 196">
            <a:extLst>
              <a:ext uri="{FF2B5EF4-FFF2-40B4-BE49-F238E27FC236}">
                <a16:creationId xmlns:a16="http://schemas.microsoft.com/office/drawing/2014/main" id="{A81B4457-0990-F0DF-130D-F2CB51186EC8}"/>
              </a:ext>
            </a:extLst>
          </p:cNvPr>
          <p:cNvCxnSpPr>
            <a:cxnSpLocks/>
            <a:endCxn id="184" idx="1"/>
          </p:cNvCxnSpPr>
          <p:nvPr/>
        </p:nvCxnSpPr>
        <p:spPr>
          <a:xfrm flipV="1">
            <a:off x="1813076" y="1045654"/>
            <a:ext cx="3540011" cy="212984"/>
          </a:xfrm>
          <a:prstGeom prst="curvedConnector4">
            <a:avLst>
              <a:gd name="adj1" fmla="val 48385"/>
              <a:gd name="adj2" fmla="val 351747"/>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9" name="连接符: 曲线 198">
            <a:extLst>
              <a:ext uri="{FF2B5EF4-FFF2-40B4-BE49-F238E27FC236}">
                <a16:creationId xmlns:a16="http://schemas.microsoft.com/office/drawing/2014/main" id="{78CD1F05-474E-AC43-5176-9CE832E0999D}"/>
              </a:ext>
            </a:extLst>
          </p:cNvPr>
          <p:cNvCxnSpPr>
            <a:stCxn id="46" idx="1"/>
            <a:endCxn id="185" idx="2"/>
          </p:cNvCxnSpPr>
          <p:nvPr/>
        </p:nvCxnSpPr>
        <p:spPr>
          <a:xfrm rot="10800000" flipH="1">
            <a:off x="3623569" y="1281584"/>
            <a:ext cx="2073933" cy="491849"/>
          </a:xfrm>
          <a:prstGeom prst="curvedConnector3">
            <a:avLst>
              <a:gd name="adj1" fmla="val 31585"/>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2" name="连接符: 曲线 201">
            <a:extLst>
              <a:ext uri="{FF2B5EF4-FFF2-40B4-BE49-F238E27FC236}">
                <a16:creationId xmlns:a16="http://schemas.microsoft.com/office/drawing/2014/main" id="{6E2470A0-A6D0-1005-B0B8-A372D560ECBC}"/>
              </a:ext>
            </a:extLst>
          </p:cNvPr>
          <p:cNvCxnSpPr>
            <a:cxnSpLocks/>
          </p:cNvCxnSpPr>
          <p:nvPr/>
        </p:nvCxnSpPr>
        <p:spPr>
          <a:xfrm>
            <a:off x="7449524" y="1582673"/>
            <a:ext cx="3217934" cy="71333"/>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5" name="连接符: 曲线 204">
            <a:extLst>
              <a:ext uri="{FF2B5EF4-FFF2-40B4-BE49-F238E27FC236}">
                <a16:creationId xmlns:a16="http://schemas.microsoft.com/office/drawing/2014/main" id="{1268EF80-B30F-F151-B614-3794F0D6A65C}"/>
              </a:ext>
            </a:extLst>
          </p:cNvPr>
          <p:cNvCxnSpPr>
            <a:cxnSpLocks/>
            <a:endCxn id="188" idx="1"/>
          </p:cNvCxnSpPr>
          <p:nvPr/>
        </p:nvCxnSpPr>
        <p:spPr>
          <a:xfrm flipV="1">
            <a:off x="1509752" y="2559791"/>
            <a:ext cx="3833889" cy="74088"/>
          </a:xfrm>
          <a:prstGeom prst="curvedConnector4">
            <a:avLst>
              <a:gd name="adj1" fmla="val 48509"/>
              <a:gd name="adj2" fmla="val 823707"/>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6" name="连接符: 曲线 205">
            <a:extLst>
              <a:ext uri="{FF2B5EF4-FFF2-40B4-BE49-F238E27FC236}">
                <a16:creationId xmlns:a16="http://schemas.microsoft.com/office/drawing/2014/main" id="{44E3B673-8263-D73F-CF17-308AA6927B79}"/>
              </a:ext>
            </a:extLst>
          </p:cNvPr>
          <p:cNvCxnSpPr>
            <a:cxnSpLocks/>
            <a:stCxn id="45" idx="1"/>
            <a:endCxn id="189" idx="2"/>
          </p:cNvCxnSpPr>
          <p:nvPr/>
        </p:nvCxnSpPr>
        <p:spPr>
          <a:xfrm rot="10800000" flipH="1" flipV="1">
            <a:off x="3652959" y="2558864"/>
            <a:ext cx="2035097" cy="236856"/>
          </a:xfrm>
          <a:prstGeom prst="curvedConnector3">
            <a:avLst>
              <a:gd name="adj1" fmla="val 35964"/>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1" name="连接符: 曲线 210">
            <a:extLst>
              <a:ext uri="{FF2B5EF4-FFF2-40B4-BE49-F238E27FC236}">
                <a16:creationId xmlns:a16="http://schemas.microsoft.com/office/drawing/2014/main" id="{6FB5E40C-1D97-711F-6833-FA9F3BB20436}"/>
              </a:ext>
            </a:extLst>
          </p:cNvPr>
          <p:cNvCxnSpPr>
            <a:cxnSpLocks/>
            <a:endCxn id="192" idx="1"/>
          </p:cNvCxnSpPr>
          <p:nvPr/>
        </p:nvCxnSpPr>
        <p:spPr>
          <a:xfrm>
            <a:off x="1452442" y="3770303"/>
            <a:ext cx="3900084" cy="219070"/>
          </a:xfrm>
          <a:prstGeom prst="curvedConnector4">
            <a:avLst>
              <a:gd name="adj1" fmla="val 48534"/>
              <a:gd name="adj2" fmla="val -14475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5" name="连接符: 曲线 214">
            <a:extLst>
              <a:ext uri="{FF2B5EF4-FFF2-40B4-BE49-F238E27FC236}">
                <a16:creationId xmlns:a16="http://schemas.microsoft.com/office/drawing/2014/main" id="{58D50024-379B-9004-85EE-20836C009CA2}"/>
              </a:ext>
            </a:extLst>
          </p:cNvPr>
          <p:cNvCxnSpPr>
            <a:cxnSpLocks/>
            <a:stCxn id="44" idx="1"/>
            <a:endCxn id="193" idx="2"/>
          </p:cNvCxnSpPr>
          <p:nvPr/>
        </p:nvCxnSpPr>
        <p:spPr>
          <a:xfrm rot="10800000" flipH="1" flipV="1">
            <a:off x="3664702" y="3409416"/>
            <a:ext cx="2032240" cy="815886"/>
          </a:xfrm>
          <a:prstGeom prst="curvedConnector3">
            <a:avLst>
              <a:gd name="adj1" fmla="val 49248"/>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7" name="连接符: 曲线 216">
            <a:extLst>
              <a:ext uri="{FF2B5EF4-FFF2-40B4-BE49-F238E27FC236}">
                <a16:creationId xmlns:a16="http://schemas.microsoft.com/office/drawing/2014/main" id="{08125AE4-2C19-40D4-FE76-82D0D3EF391D}"/>
              </a:ext>
            </a:extLst>
          </p:cNvPr>
          <p:cNvCxnSpPr>
            <a:cxnSpLocks/>
            <a:stCxn id="232" idx="5"/>
            <a:endCxn id="156" idx="2"/>
          </p:cNvCxnSpPr>
          <p:nvPr/>
        </p:nvCxnSpPr>
        <p:spPr>
          <a:xfrm>
            <a:off x="7662970" y="2488389"/>
            <a:ext cx="1200731" cy="673115"/>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9" name="连接符: 曲线 218">
            <a:extLst>
              <a:ext uri="{FF2B5EF4-FFF2-40B4-BE49-F238E27FC236}">
                <a16:creationId xmlns:a16="http://schemas.microsoft.com/office/drawing/2014/main" id="{704294B7-25A2-0518-5BEF-E1E40651C796}"/>
              </a:ext>
            </a:extLst>
          </p:cNvPr>
          <p:cNvCxnSpPr>
            <a:cxnSpLocks/>
            <a:stCxn id="235" idx="5"/>
            <a:endCxn id="147" idx="1"/>
          </p:cNvCxnSpPr>
          <p:nvPr/>
        </p:nvCxnSpPr>
        <p:spPr>
          <a:xfrm>
            <a:off x="7483406" y="3618205"/>
            <a:ext cx="705031" cy="985428"/>
          </a:xfrm>
          <a:prstGeom prst="curvedConnector2">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2" name="文本框 221">
            <a:extLst>
              <a:ext uri="{FF2B5EF4-FFF2-40B4-BE49-F238E27FC236}">
                <a16:creationId xmlns:a16="http://schemas.microsoft.com/office/drawing/2014/main" id="{4C8BD428-FA74-7611-0420-8CAD99B41268}"/>
              </a:ext>
            </a:extLst>
          </p:cNvPr>
          <p:cNvSpPr txBox="1"/>
          <p:nvPr/>
        </p:nvSpPr>
        <p:spPr>
          <a:xfrm>
            <a:off x="5037173" y="4382454"/>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223" name="文本框 222">
            <a:extLst>
              <a:ext uri="{FF2B5EF4-FFF2-40B4-BE49-F238E27FC236}">
                <a16:creationId xmlns:a16="http://schemas.microsoft.com/office/drawing/2014/main" id="{588B1B03-9F4C-8EAB-5B53-FEE6DB48AEE0}"/>
              </a:ext>
            </a:extLst>
          </p:cNvPr>
          <p:cNvSpPr txBox="1"/>
          <p:nvPr/>
        </p:nvSpPr>
        <p:spPr>
          <a:xfrm>
            <a:off x="5028657" y="2976645"/>
            <a:ext cx="1925472" cy="338554"/>
          </a:xfrm>
          <a:prstGeom prst="rect">
            <a:avLst/>
          </a:prstGeom>
          <a:noFill/>
        </p:spPr>
        <p:txBody>
          <a:bodyPr wrap="square" rtlCol="0">
            <a:spAutoFit/>
          </a:bodyPr>
          <a:lstStyle/>
          <a:p>
            <a:r>
              <a:rPr kumimoji="1" lang="en-US" altLang="ja-JP" sz="1600" dirty="0"/>
              <a:t>(128,H/2,W/2)</a:t>
            </a:r>
            <a:endParaRPr kumimoji="1" lang="ja-JP" altLang="en-US" sz="1600" dirty="0"/>
          </a:p>
        </p:txBody>
      </p:sp>
      <p:sp>
        <p:nvSpPr>
          <p:cNvPr id="224" name="文本框 223">
            <a:extLst>
              <a:ext uri="{FF2B5EF4-FFF2-40B4-BE49-F238E27FC236}">
                <a16:creationId xmlns:a16="http://schemas.microsoft.com/office/drawing/2014/main" id="{27990AEB-9941-0CD5-3A66-9C50DBD444EC}"/>
              </a:ext>
            </a:extLst>
          </p:cNvPr>
          <p:cNvSpPr txBox="1"/>
          <p:nvPr/>
        </p:nvSpPr>
        <p:spPr>
          <a:xfrm>
            <a:off x="4990340" y="1476972"/>
            <a:ext cx="1925472" cy="338554"/>
          </a:xfrm>
          <a:prstGeom prst="rect">
            <a:avLst/>
          </a:prstGeom>
          <a:noFill/>
        </p:spPr>
        <p:txBody>
          <a:bodyPr wrap="square" rtlCol="0">
            <a:spAutoFit/>
          </a:bodyPr>
          <a:lstStyle/>
          <a:p>
            <a:r>
              <a:rPr kumimoji="1" lang="en-US" altLang="ja-JP" sz="1600" dirty="0"/>
              <a:t>(64,H,W)</a:t>
            </a:r>
            <a:endParaRPr kumimoji="1" lang="ja-JP" altLang="en-US" sz="1600" dirty="0"/>
          </a:p>
        </p:txBody>
      </p:sp>
      <p:sp>
        <p:nvSpPr>
          <p:cNvPr id="228" name="箭头: 右 227">
            <a:extLst>
              <a:ext uri="{FF2B5EF4-FFF2-40B4-BE49-F238E27FC236}">
                <a16:creationId xmlns:a16="http://schemas.microsoft.com/office/drawing/2014/main" id="{99222AFA-4F43-1DA7-E5A3-C3E2025D6381}"/>
              </a:ext>
            </a:extLst>
          </p:cNvPr>
          <p:cNvSpPr/>
          <p:nvPr/>
        </p:nvSpPr>
        <p:spPr>
          <a:xfrm>
            <a:off x="6502540" y="112647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9" name="立方体 228">
            <a:extLst>
              <a:ext uri="{FF2B5EF4-FFF2-40B4-BE49-F238E27FC236}">
                <a16:creationId xmlns:a16="http://schemas.microsoft.com/office/drawing/2014/main" id="{050D4E47-48D0-48A7-1FFB-624842B9F395}"/>
              </a:ext>
            </a:extLst>
          </p:cNvPr>
          <p:cNvSpPr/>
          <p:nvPr/>
        </p:nvSpPr>
        <p:spPr>
          <a:xfrm>
            <a:off x="7054704" y="848992"/>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231" name="箭头: 右 230">
            <a:extLst>
              <a:ext uri="{FF2B5EF4-FFF2-40B4-BE49-F238E27FC236}">
                <a16:creationId xmlns:a16="http://schemas.microsoft.com/office/drawing/2014/main" id="{1D761902-FCE3-A93E-D5CB-7419931EA6BE}"/>
              </a:ext>
            </a:extLst>
          </p:cNvPr>
          <p:cNvSpPr/>
          <p:nvPr/>
        </p:nvSpPr>
        <p:spPr>
          <a:xfrm>
            <a:off x="6485478" y="2492439"/>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2" name="立方体 231">
            <a:extLst>
              <a:ext uri="{FF2B5EF4-FFF2-40B4-BE49-F238E27FC236}">
                <a16:creationId xmlns:a16="http://schemas.microsoft.com/office/drawing/2014/main" id="{8056A385-6F69-7177-340A-B14B6A3927BF}"/>
              </a:ext>
            </a:extLst>
          </p:cNvPr>
          <p:cNvSpPr/>
          <p:nvPr/>
        </p:nvSpPr>
        <p:spPr>
          <a:xfrm>
            <a:off x="7037642" y="2214957"/>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234" name="箭头: 右 233">
            <a:extLst>
              <a:ext uri="{FF2B5EF4-FFF2-40B4-BE49-F238E27FC236}">
                <a16:creationId xmlns:a16="http://schemas.microsoft.com/office/drawing/2014/main" id="{E6DCBAB4-745D-CE66-7008-CA0DFF17633E}"/>
              </a:ext>
            </a:extLst>
          </p:cNvPr>
          <p:cNvSpPr/>
          <p:nvPr/>
        </p:nvSpPr>
        <p:spPr>
          <a:xfrm>
            <a:off x="6446532" y="3584415"/>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5" name="立方体 234">
            <a:extLst>
              <a:ext uri="{FF2B5EF4-FFF2-40B4-BE49-F238E27FC236}">
                <a16:creationId xmlns:a16="http://schemas.microsoft.com/office/drawing/2014/main" id="{5DD0A458-B011-29B1-1661-EBB4082CEB9F}"/>
              </a:ext>
            </a:extLst>
          </p:cNvPr>
          <p:cNvSpPr/>
          <p:nvPr/>
        </p:nvSpPr>
        <p:spPr>
          <a:xfrm>
            <a:off x="6969610" y="3375778"/>
            <a:ext cx="513796" cy="793707"/>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240" name="文本框 239">
            <a:extLst>
              <a:ext uri="{FF2B5EF4-FFF2-40B4-BE49-F238E27FC236}">
                <a16:creationId xmlns:a16="http://schemas.microsoft.com/office/drawing/2014/main" id="{3AE8353A-43AE-D3CC-EDBC-67F6D7ADE40E}"/>
              </a:ext>
            </a:extLst>
          </p:cNvPr>
          <p:cNvSpPr txBox="1"/>
          <p:nvPr/>
        </p:nvSpPr>
        <p:spPr>
          <a:xfrm>
            <a:off x="6906642" y="4183544"/>
            <a:ext cx="1925472" cy="276999"/>
          </a:xfrm>
          <a:prstGeom prst="rect">
            <a:avLst/>
          </a:prstGeom>
          <a:noFill/>
        </p:spPr>
        <p:txBody>
          <a:bodyPr wrap="square" rtlCol="0">
            <a:spAutoFit/>
          </a:bodyPr>
          <a:lstStyle/>
          <a:p>
            <a:r>
              <a:rPr kumimoji="1" lang="en-US" altLang="ja-JP" sz="1200" dirty="0"/>
              <a:t>(128,H/4,W/4)</a:t>
            </a:r>
            <a:endParaRPr kumimoji="1" lang="ja-JP" altLang="en-US" sz="1200" dirty="0"/>
          </a:p>
        </p:txBody>
      </p:sp>
      <p:sp>
        <p:nvSpPr>
          <p:cNvPr id="241" name="文本框 240">
            <a:extLst>
              <a:ext uri="{FF2B5EF4-FFF2-40B4-BE49-F238E27FC236}">
                <a16:creationId xmlns:a16="http://schemas.microsoft.com/office/drawing/2014/main" id="{2EE34480-3993-806F-D074-0850E54435F6}"/>
              </a:ext>
            </a:extLst>
          </p:cNvPr>
          <p:cNvSpPr txBox="1"/>
          <p:nvPr/>
        </p:nvSpPr>
        <p:spPr>
          <a:xfrm>
            <a:off x="6883311" y="3083085"/>
            <a:ext cx="1925472" cy="276999"/>
          </a:xfrm>
          <a:prstGeom prst="rect">
            <a:avLst/>
          </a:prstGeom>
          <a:noFill/>
        </p:spPr>
        <p:txBody>
          <a:bodyPr wrap="square" rtlCol="0">
            <a:spAutoFit/>
          </a:bodyPr>
          <a:lstStyle/>
          <a:p>
            <a:r>
              <a:rPr kumimoji="1" lang="en-US" altLang="ja-JP" sz="1200" dirty="0"/>
              <a:t>(64,H/4,W/4)</a:t>
            </a:r>
            <a:endParaRPr kumimoji="1" lang="ja-JP" altLang="en-US" sz="1200" dirty="0"/>
          </a:p>
        </p:txBody>
      </p:sp>
      <p:sp>
        <p:nvSpPr>
          <p:cNvPr id="242" name="文本框 241">
            <a:extLst>
              <a:ext uri="{FF2B5EF4-FFF2-40B4-BE49-F238E27FC236}">
                <a16:creationId xmlns:a16="http://schemas.microsoft.com/office/drawing/2014/main" id="{2B053EE1-E0B1-E3D8-01B6-3FE935274E40}"/>
              </a:ext>
            </a:extLst>
          </p:cNvPr>
          <p:cNvSpPr txBox="1"/>
          <p:nvPr/>
        </p:nvSpPr>
        <p:spPr>
          <a:xfrm>
            <a:off x="6873185" y="1762324"/>
            <a:ext cx="1925472" cy="276999"/>
          </a:xfrm>
          <a:prstGeom prst="rect">
            <a:avLst/>
          </a:prstGeom>
          <a:noFill/>
        </p:spPr>
        <p:txBody>
          <a:bodyPr wrap="square" rtlCol="0">
            <a:spAutoFit/>
          </a:bodyPr>
          <a:lstStyle/>
          <a:p>
            <a:r>
              <a:rPr kumimoji="1" lang="en-US" altLang="ja-JP" sz="1200" dirty="0"/>
              <a:t>(32,H/4,W/4)</a:t>
            </a:r>
            <a:endParaRPr kumimoji="1" lang="ja-JP" altLang="en-US" sz="1200" dirty="0"/>
          </a:p>
        </p:txBody>
      </p:sp>
      <p:sp>
        <p:nvSpPr>
          <p:cNvPr id="244" name="文本框 243">
            <a:extLst>
              <a:ext uri="{FF2B5EF4-FFF2-40B4-BE49-F238E27FC236}">
                <a16:creationId xmlns:a16="http://schemas.microsoft.com/office/drawing/2014/main" id="{5398B990-02A9-122E-E966-CB127F3FCA74}"/>
              </a:ext>
            </a:extLst>
          </p:cNvPr>
          <p:cNvSpPr txBox="1"/>
          <p:nvPr/>
        </p:nvSpPr>
        <p:spPr>
          <a:xfrm>
            <a:off x="5436212" y="-50438"/>
            <a:ext cx="2555316" cy="400110"/>
          </a:xfrm>
          <a:prstGeom prst="rect">
            <a:avLst/>
          </a:prstGeom>
          <a:noFill/>
        </p:spPr>
        <p:txBody>
          <a:bodyPr wrap="square" rtlCol="0">
            <a:spAutoFit/>
          </a:bodyPr>
          <a:lstStyle/>
          <a:p>
            <a:r>
              <a:rPr kumimoji="1" lang="en-US" altLang="zh-CN" sz="2000" dirty="0" err="1">
                <a:solidFill>
                  <a:srgbClr val="FF0000"/>
                </a:solidFill>
              </a:rPr>
              <a:t>Concat</a:t>
            </a:r>
            <a:r>
              <a:rPr kumimoji="1" lang="en-US" altLang="zh-CN" sz="2000" dirty="0">
                <a:solidFill>
                  <a:srgbClr val="FF0000"/>
                </a:solidFill>
              </a:rPr>
              <a:t> Layer</a:t>
            </a:r>
            <a:endParaRPr kumimoji="1" lang="ja-JP" altLang="en-US" sz="2000" dirty="0">
              <a:solidFill>
                <a:srgbClr val="FF0000"/>
              </a:solidFill>
            </a:endParaRPr>
          </a:p>
        </p:txBody>
      </p:sp>
      <p:sp>
        <p:nvSpPr>
          <p:cNvPr id="262" name="文本框 261">
            <a:extLst>
              <a:ext uri="{FF2B5EF4-FFF2-40B4-BE49-F238E27FC236}">
                <a16:creationId xmlns:a16="http://schemas.microsoft.com/office/drawing/2014/main" id="{F4C49306-4F41-5188-1981-0F7785BDB1C9}"/>
              </a:ext>
            </a:extLst>
          </p:cNvPr>
          <p:cNvSpPr txBox="1"/>
          <p:nvPr/>
        </p:nvSpPr>
        <p:spPr>
          <a:xfrm>
            <a:off x="618349" y="293415"/>
            <a:ext cx="2555316" cy="523220"/>
          </a:xfrm>
          <a:prstGeom prst="rect">
            <a:avLst/>
          </a:prstGeom>
          <a:noFill/>
        </p:spPr>
        <p:txBody>
          <a:bodyPr wrap="square" rtlCol="0">
            <a:spAutoFit/>
          </a:bodyPr>
          <a:lstStyle/>
          <a:p>
            <a:r>
              <a:rPr kumimoji="1" lang="en-US" altLang="zh-CN" sz="2800" dirty="0">
                <a:solidFill>
                  <a:srgbClr val="FF0000"/>
                </a:solidFill>
              </a:rPr>
              <a:t>Encoder</a:t>
            </a:r>
            <a:endParaRPr kumimoji="1" lang="ja-JP" altLang="en-US" sz="2800" dirty="0">
              <a:solidFill>
                <a:srgbClr val="FF0000"/>
              </a:solidFill>
            </a:endParaRPr>
          </a:p>
        </p:txBody>
      </p:sp>
      <p:sp>
        <p:nvSpPr>
          <p:cNvPr id="263" name="文本框 262">
            <a:extLst>
              <a:ext uri="{FF2B5EF4-FFF2-40B4-BE49-F238E27FC236}">
                <a16:creationId xmlns:a16="http://schemas.microsoft.com/office/drawing/2014/main" id="{1E5F0EEE-6B11-4282-D74B-576F1C0DBAEB}"/>
              </a:ext>
            </a:extLst>
          </p:cNvPr>
          <p:cNvSpPr txBox="1"/>
          <p:nvPr/>
        </p:nvSpPr>
        <p:spPr>
          <a:xfrm>
            <a:off x="8026357" y="1652158"/>
            <a:ext cx="2555316" cy="523220"/>
          </a:xfrm>
          <a:prstGeom prst="rect">
            <a:avLst/>
          </a:prstGeom>
          <a:noFill/>
        </p:spPr>
        <p:txBody>
          <a:bodyPr wrap="square" rtlCol="0">
            <a:spAutoFit/>
          </a:bodyPr>
          <a:lstStyle/>
          <a:p>
            <a:r>
              <a:rPr kumimoji="1" lang="en-US" altLang="zh-CN" sz="2800" dirty="0">
                <a:solidFill>
                  <a:srgbClr val="FF0000"/>
                </a:solidFill>
              </a:rPr>
              <a:t>Decoder</a:t>
            </a:r>
            <a:endParaRPr kumimoji="1" lang="ja-JP" altLang="en-US" sz="2800" dirty="0">
              <a:solidFill>
                <a:srgbClr val="FF0000"/>
              </a:solidFill>
            </a:endParaRPr>
          </a:p>
        </p:txBody>
      </p:sp>
      <p:sp>
        <p:nvSpPr>
          <p:cNvPr id="264" name="文本框 263">
            <a:extLst>
              <a:ext uri="{FF2B5EF4-FFF2-40B4-BE49-F238E27FC236}">
                <a16:creationId xmlns:a16="http://schemas.microsoft.com/office/drawing/2014/main" id="{B0808B62-1513-4A99-5B51-D26549C2843E}"/>
              </a:ext>
            </a:extLst>
          </p:cNvPr>
          <p:cNvSpPr txBox="1"/>
          <p:nvPr/>
        </p:nvSpPr>
        <p:spPr>
          <a:xfrm>
            <a:off x="11200429" y="4540784"/>
            <a:ext cx="1005312" cy="584775"/>
          </a:xfrm>
          <a:prstGeom prst="rect">
            <a:avLst/>
          </a:prstGeom>
          <a:noFill/>
        </p:spPr>
        <p:txBody>
          <a:bodyPr wrap="square" rtlCol="0">
            <a:spAutoFit/>
          </a:bodyPr>
          <a:lstStyle/>
          <a:p>
            <a:r>
              <a:rPr kumimoji="1" lang="en-US" altLang="zh-CN" sz="1600" dirty="0"/>
              <a:t>Conv3*3,ReLU,BN</a:t>
            </a:r>
            <a:endParaRPr kumimoji="1" lang="ja-JP" altLang="en-US" sz="1600" dirty="0"/>
          </a:p>
        </p:txBody>
      </p:sp>
      <p:cxnSp>
        <p:nvCxnSpPr>
          <p:cNvPr id="265" name="连接符: 曲线 264">
            <a:extLst>
              <a:ext uri="{FF2B5EF4-FFF2-40B4-BE49-F238E27FC236}">
                <a16:creationId xmlns:a16="http://schemas.microsoft.com/office/drawing/2014/main" id="{C4F530AA-B0FE-42C0-9684-F320A6093EAE}"/>
              </a:ext>
            </a:extLst>
          </p:cNvPr>
          <p:cNvCxnSpPr>
            <a:cxnSpLocks/>
            <a:endCxn id="269" idx="1"/>
          </p:cNvCxnSpPr>
          <p:nvPr/>
        </p:nvCxnSpPr>
        <p:spPr>
          <a:xfrm flipV="1">
            <a:off x="10893114" y="6277567"/>
            <a:ext cx="377999" cy="207107"/>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9" name="文本框 268">
            <a:extLst>
              <a:ext uri="{FF2B5EF4-FFF2-40B4-BE49-F238E27FC236}">
                <a16:creationId xmlns:a16="http://schemas.microsoft.com/office/drawing/2014/main" id="{910D140A-6785-0E4F-599E-BBBB7FBB18EC}"/>
              </a:ext>
            </a:extLst>
          </p:cNvPr>
          <p:cNvSpPr txBox="1"/>
          <p:nvPr/>
        </p:nvSpPr>
        <p:spPr>
          <a:xfrm>
            <a:off x="11271113" y="6015957"/>
            <a:ext cx="1080241" cy="523220"/>
          </a:xfrm>
          <a:prstGeom prst="rect">
            <a:avLst/>
          </a:prstGeom>
          <a:noFill/>
        </p:spPr>
        <p:txBody>
          <a:bodyPr wrap="square" rtlCol="0">
            <a:spAutoFit/>
          </a:bodyPr>
          <a:lstStyle/>
          <a:p>
            <a:r>
              <a:rPr kumimoji="1" lang="en-US" altLang="zh-CN" sz="1400" dirty="0"/>
              <a:t>Skip-</a:t>
            </a:r>
          </a:p>
          <a:p>
            <a:r>
              <a:rPr kumimoji="1" lang="en-US" altLang="zh-CN" sz="1400" dirty="0"/>
              <a:t>connection</a:t>
            </a:r>
            <a:endParaRPr kumimoji="1" lang="ja-JP" altLang="en-US" sz="1400" dirty="0"/>
          </a:p>
        </p:txBody>
      </p:sp>
      <p:sp>
        <p:nvSpPr>
          <p:cNvPr id="275" name="文本框 274">
            <a:extLst>
              <a:ext uri="{FF2B5EF4-FFF2-40B4-BE49-F238E27FC236}">
                <a16:creationId xmlns:a16="http://schemas.microsoft.com/office/drawing/2014/main" id="{FAEAA27F-B45F-66D4-9E49-E8008BDEEEF9}"/>
              </a:ext>
            </a:extLst>
          </p:cNvPr>
          <p:cNvSpPr txBox="1"/>
          <p:nvPr/>
        </p:nvSpPr>
        <p:spPr>
          <a:xfrm>
            <a:off x="9353614" y="5346"/>
            <a:ext cx="1925472" cy="338554"/>
          </a:xfrm>
          <a:prstGeom prst="rect">
            <a:avLst/>
          </a:prstGeom>
          <a:noFill/>
        </p:spPr>
        <p:txBody>
          <a:bodyPr wrap="square" rtlCol="0">
            <a:spAutoFit/>
          </a:bodyPr>
          <a:lstStyle/>
          <a:p>
            <a:r>
              <a:rPr kumimoji="1" lang="en-US" altLang="ja-JP" sz="1600" dirty="0"/>
              <a:t>(1,H,W)</a:t>
            </a:r>
            <a:endParaRPr kumimoji="1" lang="ja-JP" altLang="en-US" sz="1600" dirty="0"/>
          </a:p>
        </p:txBody>
      </p:sp>
    </p:spTree>
    <p:extLst>
      <p:ext uri="{BB962C8B-B14F-4D97-AF65-F5344CB8AC3E}">
        <p14:creationId xmlns:p14="http://schemas.microsoft.com/office/powerpoint/2010/main" val="1520787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22" name="立方体 121">
            <a:extLst>
              <a:ext uri="{FF2B5EF4-FFF2-40B4-BE49-F238E27FC236}">
                <a16:creationId xmlns:a16="http://schemas.microsoft.com/office/drawing/2014/main" id="{1FE1E50E-1922-F72A-6F4A-87083CB0E4D7}"/>
              </a:ext>
            </a:extLst>
          </p:cNvPr>
          <p:cNvSpPr/>
          <p:nvPr/>
        </p:nvSpPr>
        <p:spPr>
          <a:xfrm>
            <a:off x="2250462" y="6125156"/>
            <a:ext cx="1347260" cy="445762"/>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114" name="矩形: 圆角 113">
            <a:extLst>
              <a:ext uri="{FF2B5EF4-FFF2-40B4-BE49-F238E27FC236}">
                <a16:creationId xmlns:a16="http://schemas.microsoft.com/office/drawing/2014/main" id="{6240780D-D0FB-A170-647E-192B98759CD8}"/>
              </a:ext>
            </a:extLst>
          </p:cNvPr>
          <p:cNvSpPr/>
          <p:nvPr/>
        </p:nvSpPr>
        <p:spPr>
          <a:xfrm>
            <a:off x="6809783" y="543942"/>
            <a:ext cx="4828673" cy="620129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26" name="矩形: 圆角 25">
            <a:extLst>
              <a:ext uri="{FF2B5EF4-FFF2-40B4-BE49-F238E27FC236}">
                <a16:creationId xmlns:a16="http://schemas.microsoft.com/office/drawing/2014/main" id="{618A57A8-04AE-3A26-094E-167FF19DC9B7}"/>
              </a:ext>
            </a:extLst>
          </p:cNvPr>
          <p:cNvSpPr/>
          <p:nvPr/>
        </p:nvSpPr>
        <p:spPr>
          <a:xfrm>
            <a:off x="4917783" y="4925466"/>
            <a:ext cx="1997018" cy="19325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4" name="矩形: 圆角 23">
            <a:extLst>
              <a:ext uri="{FF2B5EF4-FFF2-40B4-BE49-F238E27FC236}">
                <a16:creationId xmlns:a16="http://schemas.microsoft.com/office/drawing/2014/main" id="{A5307A15-F6B3-CCE4-7ABD-08348E2C4A9A}"/>
              </a:ext>
            </a:extLst>
          </p:cNvPr>
          <p:cNvSpPr/>
          <p:nvPr/>
        </p:nvSpPr>
        <p:spPr>
          <a:xfrm>
            <a:off x="-24561" y="140676"/>
            <a:ext cx="4725681" cy="596978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dirty="0"/>
          </a:p>
        </p:txBody>
      </p:sp>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15</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1" name="立方体 20">
            <a:extLst>
              <a:ext uri="{FF2B5EF4-FFF2-40B4-BE49-F238E27FC236}">
                <a16:creationId xmlns:a16="http://schemas.microsoft.com/office/drawing/2014/main" id="{10D8648D-DFE1-5E1B-DD11-6E2729843EA6}"/>
              </a:ext>
            </a:extLst>
          </p:cNvPr>
          <p:cNvSpPr/>
          <p:nvPr/>
        </p:nvSpPr>
        <p:spPr>
          <a:xfrm>
            <a:off x="5141381" y="538860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立方体 22">
            <a:extLst>
              <a:ext uri="{FF2B5EF4-FFF2-40B4-BE49-F238E27FC236}">
                <a16:creationId xmlns:a16="http://schemas.microsoft.com/office/drawing/2014/main" id="{8DE40654-EDE4-5C1A-CC64-7591AF27BD45}"/>
              </a:ext>
            </a:extLst>
          </p:cNvPr>
          <p:cNvSpPr/>
          <p:nvPr/>
        </p:nvSpPr>
        <p:spPr>
          <a:xfrm>
            <a:off x="5975582" y="531047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文本框 26">
            <a:extLst>
              <a:ext uri="{FF2B5EF4-FFF2-40B4-BE49-F238E27FC236}">
                <a16:creationId xmlns:a16="http://schemas.microsoft.com/office/drawing/2014/main" id="{9E7F2FC8-43B0-5252-5B2B-7CFC4D786268}"/>
              </a:ext>
            </a:extLst>
          </p:cNvPr>
          <p:cNvSpPr txBox="1"/>
          <p:nvPr/>
        </p:nvSpPr>
        <p:spPr>
          <a:xfrm>
            <a:off x="5299954" y="4978826"/>
            <a:ext cx="1390810" cy="369332"/>
          </a:xfrm>
          <a:prstGeom prst="rect">
            <a:avLst/>
          </a:prstGeom>
          <a:noFill/>
        </p:spPr>
        <p:txBody>
          <a:bodyPr wrap="square" rtlCol="0">
            <a:spAutoFit/>
          </a:bodyPr>
          <a:lstStyle/>
          <a:p>
            <a:r>
              <a:rPr kumimoji="1" lang="en-US" altLang="ja-JP" dirty="0">
                <a:solidFill>
                  <a:srgbClr val="FF0000"/>
                </a:solidFill>
              </a:rPr>
              <a:t>BottleNeck</a:t>
            </a:r>
            <a:endParaRPr kumimoji="1" lang="ja-JP" altLang="en-US" dirty="0">
              <a:solidFill>
                <a:srgbClr val="FF0000"/>
              </a:solidFill>
            </a:endParaRPr>
          </a:p>
        </p:txBody>
      </p:sp>
      <p:sp>
        <p:nvSpPr>
          <p:cNvPr id="32" name="文本框 31">
            <a:extLst>
              <a:ext uri="{FF2B5EF4-FFF2-40B4-BE49-F238E27FC236}">
                <a16:creationId xmlns:a16="http://schemas.microsoft.com/office/drawing/2014/main" id="{42EE62F1-35B2-6C96-F24E-1483173BA709}"/>
              </a:ext>
            </a:extLst>
          </p:cNvPr>
          <p:cNvSpPr txBox="1"/>
          <p:nvPr/>
        </p:nvSpPr>
        <p:spPr>
          <a:xfrm>
            <a:off x="190635" y="5537187"/>
            <a:ext cx="2187390" cy="369332"/>
          </a:xfrm>
          <a:prstGeom prst="rect">
            <a:avLst/>
          </a:prstGeom>
          <a:noFill/>
        </p:spPr>
        <p:txBody>
          <a:bodyPr wrap="square" rtlCol="0">
            <a:spAutoFit/>
          </a:bodyPr>
          <a:lstStyle/>
          <a:p>
            <a:r>
              <a:rPr kumimoji="1" lang="en-US" altLang="ja-JP" dirty="0"/>
              <a:t>(128,H/4,W/4)</a:t>
            </a:r>
            <a:endParaRPr kumimoji="1" lang="ja-JP" altLang="en-US" dirty="0"/>
          </a:p>
        </p:txBody>
      </p:sp>
      <p:cxnSp>
        <p:nvCxnSpPr>
          <p:cNvPr id="37" name="直接箭头连接符 36">
            <a:extLst>
              <a:ext uri="{FF2B5EF4-FFF2-40B4-BE49-F238E27FC236}">
                <a16:creationId xmlns:a16="http://schemas.microsoft.com/office/drawing/2014/main" id="{762EEB1E-1253-30DD-1FC1-57AE242A5940}"/>
              </a:ext>
            </a:extLst>
          </p:cNvPr>
          <p:cNvCxnSpPr>
            <a:cxnSpLocks/>
          </p:cNvCxnSpPr>
          <p:nvPr/>
        </p:nvCxnSpPr>
        <p:spPr>
          <a:xfrm>
            <a:off x="5594740" y="5947442"/>
            <a:ext cx="348343"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9" name="立方体 38">
            <a:extLst>
              <a:ext uri="{FF2B5EF4-FFF2-40B4-BE49-F238E27FC236}">
                <a16:creationId xmlns:a16="http://schemas.microsoft.com/office/drawing/2014/main" id="{FA4AB6A9-A943-DF1A-C542-F3AF658F5BF7}"/>
              </a:ext>
            </a:extLst>
          </p:cNvPr>
          <p:cNvSpPr/>
          <p:nvPr/>
        </p:nvSpPr>
        <p:spPr>
          <a:xfrm>
            <a:off x="7165849" y="5871760"/>
            <a:ext cx="1476823" cy="524800"/>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cxnSp>
        <p:nvCxnSpPr>
          <p:cNvPr id="41" name="直接箭头连接符 40">
            <a:extLst>
              <a:ext uri="{FF2B5EF4-FFF2-40B4-BE49-F238E27FC236}">
                <a16:creationId xmlns:a16="http://schemas.microsoft.com/office/drawing/2014/main" id="{3683E935-C812-D066-6553-ACACE7FEA4AB}"/>
              </a:ext>
            </a:extLst>
          </p:cNvPr>
          <p:cNvCxnSpPr>
            <a:cxnSpLocks/>
          </p:cNvCxnSpPr>
          <p:nvPr/>
        </p:nvCxnSpPr>
        <p:spPr>
          <a:xfrm>
            <a:off x="6458884" y="6134160"/>
            <a:ext cx="671899"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2" name="文本框 41">
            <a:extLst>
              <a:ext uri="{FF2B5EF4-FFF2-40B4-BE49-F238E27FC236}">
                <a16:creationId xmlns:a16="http://schemas.microsoft.com/office/drawing/2014/main" id="{69ED581F-AC10-FF61-DB7E-D6CA54A231ED}"/>
              </a:ext>
            </a:extLst>
          </p:cNvPr>
          <p:cNvSpPr txBox="1"/>
          <p:nvPr/>
        </p:nvSpPr>
        <p:spPr>
          <a:xfrm>
            <a:off x="7185718" y="6430778"/>
            <a:ext cx="2187390" cy="369332"/>
          </a:xfrm>
          <a:prstGeom prst="rect">
            <a:avLst/>
          </a:prstGeom>
          <a:noFill/>
        </p:spPr>
        <p:txBody>
          <a:bodyPr wrap="square" rtlCol="0">
            <a:spAutoFit/>
          </a:bodyPr>
          <a:lstStyle/>
          <a:p>
            <a:r>
              <a:rPr kumimoji="1" lang="en-US" altLang="ja-JP" dirty="0"/>
              <a:t>(128,H/8,W/8)</a:t>
            </a:r>
            <a:endParaRPr kumimoji="1" lang="ja-JP" altLang="en-US" dirty="0"/>
          </a:p>
        </p:txBody>
      </p:sp>
      <p:sp>
        <p:nvSpPr>
          <p:cNvPr id="49" name="箭头: 右 48">
            <a:extLst>
              <a:ext uri="{FF2B5EF4-FFF2-40B4-BE49-F238E27FC236}">
                <a16:creationId xmlns:a16="http://schemas.microsoft.com/office/drawing/2014/main" id="{A546C3C5-9809-B6E3-E26A-A02DC9AE6969}"/>
              </a:ext>
            </a:extLst>
          </p:cNvPr>
          <p:cNvSpPr/>
          <p:nvPr/>
        </p:nvSpPr>
        <p:spPr>
          <a:xfrm rot="16200000">
            <a:off x="7544806" y="5299679"/>
            <a:ext cx="405001" cy="62649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52" name="立方体 51">
            <a:extLst>
              <a:ext uri="{FF2B5EF4-FFF2-40B4-BE49-F238E27FC236}">
                <a16:creationId xmlns:a16="http://schemas.microsoft.com/office/drawing/2014/main" id="{E7C87C2F-4C98-13DC-8D71-38901841C23D}"/>
              </a:ext>
            </a:extLst>
          </p:cNvPr>
          <p:cNvSpPr/>
          <p:nvPr/>
        </p:nvSpPr>
        <p:spPr>
          <a:xfrm>
            <a:off x="7245122" y="439313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60" name="立方体 59">
            <a:extLst>
              <a:ext uri="{FF2B5EF4-FFF2-40B4-BE49-F238E27FC236}">
                <a16:creationId xmlns:a16="http://schemas.microsoft.com/office/drawing/2014/main" id="{F02E726E-2354-949F-C1EB-A43788E4E69B}"/>
              </a:ext>
            </a:extLst>
          </p:cNvPr>
          <p:cNvSpPr/>
          <p:nvPr/>
        </p:nvSpPr>
        <p:spPr>
          <a:xfrm>
            <a:off x="7703885" y="438259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63" name="矩形: 圆角 62">
            <a:extLst>
              <a:ext uri="{FF2B5EF4-FFF2-40B4-BE49-F238E27FC236}">
                <a16:creationId xmlns:a16="http://schemas.microsoft.com/office/drawing/2014/main" id="{F617EC26-5EE2-5B90-F63E-AD3099C5EA90}"/>
              </a:ext>
            </a:extLst>
          </p:cNvPr>
          <p:cNvSpPr/>
          <p:nvPr/>
        </p:nvSpPr>
        <p:spPr>
          <a:xfrm>
            <a:off x="6945621" y="4109505"/>
            <a:ext cx="1476823" cy="1300815"/>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64" name="文本框 63">
            <a:extLst>
              <a:ext uri="{FF2B5EF4-FFF2-40B4-BE49-F238E27FC236}">
                <a16:creationId xmlns:a16="http://schemas.microsoft.com/office/drawing/2014/main" id="{BD92356F-4979-4CB0-19AD-46E20F3D8B90}"/>
              </a:ext>
            </a:extLst>
          </p:cNvPr>
          <p:cNvSpPr txBox="1"/>
          <p:nvPr/>
        </p:nvSpPr>
        <p:spPr>
          <a:xfrm>
            <a:off x="7322265" y="403180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65" name="文本框 64">
            <a:extLst>
              <a:ext uri="{FF2B5EF4-FFF2-40B4-BE49-F238E27FC236}">
                <a16:creationId xmlns:a16="http://schemas.microsoft.com/office/drawing/2014/main" id="{50634AED-5017-BD1E-ADA9-A3583A2A3F75}"/>
              </a:ext>
            </a:extLst>
          </p:cNvPr>
          <p:cNvSpPr txBox="1"/>
          <p:nvPr/>
        </p:nvSpPr>
        <p:spPr>
          <a:xfrm>
            <a:off x="7017488" y="5108992"/>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66" name="箭头: 右 65">
            <a:extLst>
              <a:ext uri="{FF2B5EF4-FFF2-40B4-BE49-F238E27FC236}">
                <a16:creationId xmlns:a16="http://schemas.microsoft.com/office/drawing/2014/main" id="{A9BA8C08-11F4-2E90-CEEB-B72682CC47C9}"/>
              </a:ext>
            </a:extLst>
          </p:cNvPr>
          <p:cNvSpPr/>
          <p:nvPr/>
        </p:nvSpPr>
        <p:spPr>
          <a:xfrm>
            <a:off x="8380474" y="4558555"/>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立方体 66">
            <a:extLst>
              <a:ext uri="{FF2B5EF4-FFF2-40B4-BE49-F238E27FC236}">
                <a16:creationId xmlns:a16="http://schemas.microsoft.com/office/drawing/2014/main" id="{E507EE1B-0410-72D4-25DF-DC7E98D9FBFC}"/>
              </a:ext>
            </a:extLst>
          </p:cNvPr>
          <p:cNvSpPr/>
          <p:nvPr/>
        </p:nvSpPr>
        <p:spPr>
          <a:xfrm>
            <a:off x="8915745" y="4326319"/>
            <a:ext cx="625328" cy="976053"/>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68" name="箭头: 右 67">
            <a:extLst>
              <a:ext uri="{FF2B5EF4-FFF2-40B4-BE49-F238E27FC236}">
                <a16:creationId xmlns:a16="http://schemas.microsoft.com/office/drawing/2014/main" id="{97FE5267-5315-B08C-337F-270320367D49}"/>
              </a:ext>
            </a:extLst>
          </p:cNvPr>
          <p:cNvSpPr/>
          <p:nvPr/>
        </p:nvSpPr>
        <p:spPr>
          <a:xfrm rot="16200000">
            <a:off x="9034547" y="3658800"/>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1" name="立方体 70">
            <a:extLst>
              <a:ext uri="{FF2B5EF4-FFF2-40B4-BE49-F238E27FC236}">
                <a16:creationId xmlns:a16="http://schemas.microsoft.com/office/drawing/2014/main" id="{ACF2E093-ACF9-BDEF-9861-CE287A162D1F}"/>
              </a:ext>
            </a:extLst>
          </p:cNvPr>
          <p:cNvSpPr/>
          <p:nvPr/>
        </p:nvSpPr>
        <p:spPr>
          <a:xfrm>
            <a:off x="9102191" y="272104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72" name="立方体 71">
            <a:extLst>
              <a:ext uri="{FF2B5EF4-FFF2-40B4-BE49-F238E27FC236}">
                <a16:creationId xmlns:a16="http://schemas.microsoft.com/office/drawing/2014/main" id="{24B3C4AE-0FAD-27E3-7C07-8F5F47A44042}"/>
              </a:ext>
            </a:extLst>
          </p:cNvPr>
          <p:cNvSpPr/>
          <p:nvPr/>
        </p:nvSpPr>
        <p:spPr>
          <a:xfrm>
            <a:off x="8388109" y="273238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73" name="矩形: 圆角 72">
            <a:extLst>
              <a:ext uri="{FF2B5EF4-FFF2-40B4-BE49-F238E27FC236}">
                <a16:creationId xmlns:a16="http://schemas.microsoft.com/office/drawing/2014/main" id="{66E8EF0B-2609-B65F-D7D2-F82C09378FD1}"/>
              </a:ext>
            </a:extLst>
          </p:cNvPr>
          <p:cNvSpPr/>
          <p:nvPr/>
        </p:nvSpPr>
        <p:spPr>
          <a:xfrm>
            <a:off x="8263335" y="2401407"/>
            <a:ext cx="1476823" cy="1340217"/>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74" name="文本框 73">
            <a:extLst>
              <a:ext uri="{FF2B5EF4-FFF2-40B4-BE49-F238E27FC236}">
                <a16:creationId xmlns:a16="http://schemas.microsoft.com/office/drawing/2014/main" id="{C5D25AE6-C9DD-8037-A98F-8CB3D18FC4A5}"/>
              </a:ext>
            </a:extLst>
          </p:cNvPr>
          <p:cNvSpPr txBox="1"/>
          <p:nvPr/>
        </p:nvSpPr>
        <p:spPr>
          <a:xfrm>
            <a:off x="8554678" y="2345942"/>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75" name="箭头: 右 74">
            <a:extLst>
              <a:ext uri="{FF2B5EF4-FFF2-40B4-BE49-F238E27FC236}">
                <a16:creationId xmlns:a16="http://schemas.microsoft.com/office/drawing/2014/main" id="{5AE0C321-24A9-26AA-8809-C9151526EE2E}"/>
              </a:ext>
            </a:extLst>
          </p:cNvPr>
          <p:cNvSpPr/>
          <p:nvPr/>
        </p:nvSpPr>
        <p:spPr>
          <a:xfrm>
            <a:off x="9806068" y="288919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立方体 76">
            <a:extLst>
              <a:ext uri="{FF2B5EF4-FFF2-40B4-BE49-F238E27FC236}">
                <a16:creationId xmlns:a16="http://schemas.microsoft.com/office/drawing/2014/main" id="{EAB19706-9515-F717-55A9-043B560FBB02}"/>
              </a:ext>
            </a:extLst>
          </p:cNvPr>
          <p:cNvSpPr/>
          <p:nvPr/>
        </p:nvSpPr>
        <p:spPr>
          <a:xfrm>
            <a:off x="10358232" y="2611715"/>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78" name="箭头: 右 77">
            <a:extLst>
              <a:ext uri="{FF2B5EF4-FFF2-40B4-BE49-F238E27FC236}">
                <a16:creationId xmlns:a16="http://schemas.microsoft.com/office/drawing/2014/main" id="{11217711-D893-04A5-F84C-C0F334F41DF1}"/>
              </a:ext>
            </a:extLst>
          </p:cNvPr>
          <p:cNvSpPr/>
          <p:nvPr/>
        </p:nvSpPr>
        <p:spPr>
          <a:xfrm rot="16200000">
            <a:off x="10573526" y="1975411"/>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9" name="立方体 78">
            <a:extLst>
              <a:ext uri="{FF2B5EF4-FFF2-40B4-BE49-F238E27FC236}">
                <a16:creationId xmlns:a16="http://schemas.microsoft.com/office/drawing/2014/main" id="{EB7C640D-63A9-C196-6640-63F37FCE3138}"/>
              </a:ext>
            </a:extLst>
          </p:cNvPr>
          <p:cNvSpPr/>
          <p:nvPr/>
        </p:nvSpPr>
        <p:spPr>
          <a:xfrm>
            <a:off x="10863467" y="1042854"/>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80" name="立方体 79">
            <a:extLst>
              <a:ext uri="{FF2B5EF4-FFF2-40B4-BE49-F238E27FC236}">
                <a16:creationId xmlns:a16="http://schemas.microsoft.com/office/drawing/2014/main" id="{914F90EA-2B2C-EBC3-C569-3E77902BC31C}"/>
              </a:ext>
            </a:extLst>
          </p:cNvPr>
          <p:cNvSpPr/>
          <p:nvPr/>
        </p:nvSpPr>
        <p:spPr>
          <a:xfrm>
            <a:off x="10149385" y="1054188"/>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81" name="矩形: 圆角 80">
            <a:extLst>
              <a:ext uri="{FF2B5EF4-FFF2-40B4-BE49-F238E27FC236}">
                <a16:creationId xmlns:a16="http://schemas.microsoft.com/office/drawing/2014/main" id="{5568F8FE-6FAA-7C73-A7D9-4244F0EAF273}"/>
              </a:ext>
            </a:extLst>
          </p:cNvPr>
          <p:cNvSpPr/>
          <p:nvPr/>
        </p:nvSpPr>
        <p:spPr>
          <a:xfrm>
            <a:off x="10024611" y="723213"/>
            <a:ext cx="1476823" cy="1328044"/>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82" name="文本框 81">
            <a:extLst>
              <a:ext uri="{FF2B5EF4-FFF2-40B4-BE49-F238E27FC236}">
                <a16:creationId xmlns:a16="http://schemas.microsoft.com/office/drawing/2014/main" id="{A19B11EF-99FF-99EE-B36A-C5487C3C14F7}"/>
              </a:ext>
            </a:extLst>
          </p:cNvPr>
          <p:cNvSpPr txBox="1"/>
          <p:nvPr/>
        </p:nvSpPr>
        <p:spPr>
          <a:xfrm>
            <a:off x="10315954" y="66774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83" name="箭头: 右 82">
            <a:extLst>
              <a:ext uri="{FF2B5EF4-FFF2-40B4-BE49-F238E27FC236}">
                <a16:creationId xmlns:a16="http://schemas.microsoft.com/office/drawing/2014/main" id="{8A7F917D-C608-55EB-7E04-BAAA050569CB}"/>
              </a:ext>
            </a:extLst>
          </p:cNvPr>
          <p:cNvSpPr/>
          <p:nvPr/>
        </p:nvSpPr>
        <p:spPr>
          <a:xfrm rot="10800000">
            <a:off x="9480621" y="87978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文本框 90">
            <a:extLst>
              <a:ext uri="{FF2B5EF4-FFF2-40B4-BE49-F238E27FC236}">
                <a16:creationId xmlns:a16="http://schemas.microsoft.com/office/drawing/2014/main" id="{8EB55F4E-6DB9-DF1F-ADC9-378A91DB1946}"/>
              </a:ext>
            </a:extLst>
          </p:cNvPr>
          <p:cNvSpPr txBox="1"/>
          <p:nvPr/>
        </p:nvSpPr>
        <p:spPr>
          <a:xfrm>
            <a:off x="5594740" y="1233287"/>
            <a:ext cx="2026454" cy="369332"/>
          </a:xfrm>
          <a:prstGeom prst="rect">
            <a:avLst/>
          </a:prstGeom>
          <a:noFill/>
        </p:spPr>
        <p:txBody>
          <a:bodyPr wrap="square" rtlCol="0">
            <a:spAutoFit/>
          </a:bodyPr>
          <a:lstStyle/>
          <a:p>
            <a:r>
              <a:rPr kumimoji="1" lang="en-US" altLang="ja-JP" dirty="0"/>
              <a:t>Skip-connection 1</a:t>
            </a:r>
            <a:endParaRPr kumimoji="1" lang="ja-JP" altLang="en-US" dirty="0"/>
          </a:p>
        </p:txBody>
      </p:sp>
      <p:sp>
        <p:nvSpPr>
          <p:cNvPr id="92" name="文本框 91">
            <a:extLst>
              <a:ext uri="{FF2B5EF4-FFF2-40B4-BE49-F238E27FC236}">
                <a16:creationId xmlns:a16="http://schemas.microsoft.com/office/drawing/2014/main" id="{E7E08C31-018F-4C14-0F38-EC3343B0E8C0}"/>
              </a:ext>
            </a:extLst>
          </p:cNvPr>
          <p:cNvSpPr txBox="1"/>
          <p:nvPr/>
        </p:nvSpPr>
        <p:spPr>
          <a:xfrm>
            <a:off x="5843307" y="3037295"/>
            <a:ext cx="2026454" cy="369332"/>
          </a:xfrm>
          <a:prstGeom prst="rect">
            <a:avLst/>
          </a:prstGeom>
          <a:noFill/>
        </p:spPr>
        <p:txBody>
          <a:bodyPr wrap="square" rtlCol="0">
            <a:spAutoFit/>
          </a:bodyPr>
          <a:lstStyle/>
          <a:p>
            <a:r>
              <a:rPr kumimoji="1" lang="en-US" altLang="ja-JP" dirty="0"/>
              <a:t>Skip-connection 2</a:t>
            </a:r>
            <a:endParaRPr kumimoji="1" lang="ja-JP" altLang="en-US" dirty="0"/>
          </a:p>
        </p:txBody>
      </p:sp>
      <p:sp>
        <p:nvSpPr>
          <p:cNvPr id="93" name="文本框 92">
            <a:extLst>
              <a:ext uri="{FF2B5EF4-FFF2-40B4-BE49-F238E27FC236}">
                <a16:creationId xmlns:a16="http://schemas.microsoft.com/office/drawing/2014/main" id="{8C3DF167-15A0-E527-5CAB-B99261802C0A}"/>
              </a:ext>
            </a:extLst>
          </p:cNvPr>
          <p:cNvSpPr txBox="1"/>
          <p:nvPr/>
        </p:nvSpPr>
        <p:spPr>
          <a:xfrm>
            <a:off x="5395351" y="4472083"/>
            <a:ext cx="2026454" cy="338554"/>
          </a:xfrm>
          <a:prstGeom prst="rect">
            <a:avLst/>
          </a:prstGeom>
          <a:noFill/>
        </p:spPr>
        <p:txBody>
          <a:bodyPr wrap="square" rtlCol="0">
            <a:spAutoFit/>
          </a:bodyPr>
          <a:lstStyle/>
          <a:p>
            <a:r>
              <a:rPr kumimoji="1" lang="en-US" altLang="ja-JP" sz="1600" dirty="0"/>
              <a:t>Skip-connection 3</a:t>
            </a:r>
            <a:endParaRPr kumimoji="1" lang="ja-JP" altLang="en-US" sz="1600" dirty="0"/>
          </a:p>
        </p:txBody>
      </p:sp>
      <p:sp>
        <p:nvSpPr>
          <p:cNvPr id="94" name="文本框 93">
            <a:extLst>
              <a:ext uri="{FF2B5EF4-FFF2-40B4-BE49-F238E27FC236}">
                <a16:creationId xmlns:a16="http://schemas.microsoft.com/office/drawing/2014/main" id="{67DD97E1-BEA4-B737-0C6F-9E38DA6A7652}"/>
              </a:ext>
            </a:extLst>
          </p:cNvPr>
          <p:cNvSpPr txBox="1"/>
          <p:nvPr/>
        </p:nvSpPr>
        <p:spPr>
          <a:xfrm>
            <a:off x="8642672" y="5278269"/>
            <a:ext cx="1925472" cy="338554"/>
          </a:xfrm>
          <a:prstGeom prst="rect">
            <a:avLst/>
          </a:prstGeom>
          <a:noFill/>
        </p:spPr>
        <p:txBody>
          <a:bodyPr wrap="square" rtlCol="0">
            <a:spAutoFit/>
          </a:bodyPr>
          <a:lstStyle/>
          <a:p>
            <a:r>
              <a:rPr kumimoji="1" lang="en-US" altLang="ja-JP" sz="1600"/>
              <a:t>(128,H/4,W/4)</a:t>
            </a:r>
            <a:endParaRPr kumimoji="1" lang="ja-JP" altLang="en-US" sz="1600" dirty="0"/>
          </a:p>
        </p:txBody>
      </p:sp>
      <p:sp>
        <p:nvSpPr>
          <p:cNvPr id="95" name="文本框 94">
            <a:extLst>
              <a:ext uri="{FF2B5EF4-FFF2-40B4-BE49-F238E27FC236}">
                <a16:creationId xmlns:a16="http://schemas.microsoft.com/office/drawing/2014/main" id="{CCB49B15-F7DE-59E9-EB61-703F3067893E}"/>
              </a:ext>
            </a:extLst>
          </p:cNvPr>
          <p:cNvSpPr txBox="1"/>
          <p:nvPr/>
        </p:nvSpPr>
        <p:spPr>
          <a:xfrm>
            <a:off x="8266394" y="3439890"/>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6" name="文本框 95">
            <a:extLst>
              <a:ext uri="{FF2B5EF4-FFF2-40B4-BE49-F238E27FC236}">
                <a16:creationId xmlns:a16="http://schemas.microsoft.com/office/drawing/2014/main" id="{66707DAE-7DC5-C589-CAF3-37EC9B46112B}"/>
              </a:ext>
            </a:extLst>
          </p:cNvPr>
          <p:cNvSpPr txBox="1"/>
          <p:nvPr/>
        </p:nvSpPr>
        <p:spPr>
          <a:xfrm>
            <a:off x="9942846" y="3517054"/>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7" name="文本框 96">
            <a:extLst>
              <a:ext uri="{FF2B5EF4-FFF2-40B4-BE49-F238E27FC236}">
                <a16:creationId xmlns:a16="http://schemas.microsoft.com/office/drawing/2014/main" id="{00EA42BD-F7F5-A4AD-38E8-20183D8E5D3D}"/>
              </a:ext>
            </a:extLst>
          </p:cNvPr>
          <p:cNvSpPr txBox="1"/>
          <p:nvPr/>
        </p:nvSpPr>
        <p:spPr>
          <a:xfrm>
            <a:off x="10239810" y="1764708"/>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0" name="立方体 99">
            <a:extLst>
              <a:ext uri="{FF2B5EF4-FFF2-40B4-BE49-F238E27FC236}">
                <a16:creationId xmlns:a16="http://schemas.microsoft.com/office/drawing/2014/main" id="{31973180-4ED5-3160-5EAF-A2903F4CD4E1}"/>
              </a:ext>
            </a:extLst>
          </p:cNvPr>
          <p:cNvSpPr/>
          <p:nvPr/>
        </p:nvSpPr>
        <p:spPr>
          <a:xfrm>
            <a:off x="8744672" y="546714"/>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01" name="文本框 100">
            <a:extLst>
              <a:ext uri="{FF2B5EF4-FFF2-40B4-BE49-F238E27FC236}">
                <a16:creationId xmlns:a16="http://schemas.microsoft.com/office/drawing/2014/main" id="{FD0C8CBC-0962-B35F-EB18-877A488960C7}"/>
              </a:ext>
            </a:extLst>
          </p:cNvPr>
          <p:cNvSpPr txBox="1"/>
          <p:nvPr/>
        </p:nvSpPr>
        <p:spPr>
          <a:xfrm>
            <a:off x="8589169" y="1445554"/>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5" name="箭头: 直角上 104">
            <a:extLst>
              <a:ext uri="{FF2B5EF4-FFF2-40B4-BE49-F238E27FC236}">
                <a16:creationId xmlns:a16="http://schemas.microsoft.com/office/drawing/2014/main" id="{4E7E1381-C318-65B2-ABA3-43E9F22E3671}"/>
              </a:ext>
            </a:extLst>
          </p:cNvPr>
          <p:cNvSpPr/>
          <p:nvPr/>
        </p:nvSpPr>
        <p:spPr>
          <a:xfrm flipH="1">
            <a:off x="7894414" y="372069"/>
            <a:ext cx="672056" cy="826363"/>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06" name="文本框 105">
            <a:extLst>
              <a:ext uri="{FF2B5EF4-FFF2-40B4-BE49-F238E27FC236}">
                <a16:creationId xmlns:a16="http://schemas.microsoft.com/office/drawing/2014/main" id="{4129D9AF-D94D-43D6-F62D-E3A39C7A2FEF}"/>
              </a:ext>
            </a:extLst>
          </p:cNvPr>
          <p:cNvSpPr txBox="1"/>
          <p:nvPr/>
        </p:nvSpPr>
        <p:spPr>
          <a:xfrm>
            <a:off x="7683123" y="9132"/>
            <a:ext cx="1128835" cy="461665"/>
          </a:xfrm>
          <a:prstGeom prst="rect">
            <a:avLst/>
          </a:prstGeom>
          <a:noFill/>
        </p:spPr>
        <p:txBody>
          <a:bodyPr wrap="none" rtlCol="0">
            <a:spAutoFit/>
          </a:bodyPr>
          <a:lstStyle/>
          <a:p>
            <a:r>
              <a:rPr kumimoji="1" lang="en-US" altLang="ja-JP" sz="2400" dirty="0"/>
              <a:t>Output</a:t>
            </a:r>
            <a:endParaRPr kumimoji="1" lang="ja-JP" altLang="en-US" dirty="0"/>
          </a:p>
        </p:txBody>
      </p:sp>
      <p:sp>
        <p:nvSpPr>
          <p:cNvPr id="108" name="文本框 107">
            <a:extLst>
              <a:ext uri="{FF2B5EF4-FFF2-40B4-BE49-F238E27FC236}">
                <a16:creationId xmlns:a16="http://schemas.microsoft.com/office/drawing/2014/main" id="{6EE38B50-8C99-28B3-E3C8-F7CD4666F0BB}"/>
              </a:ext>
            </a:extLst>
          </p:cNvPr>
          <p:cNvSpPr txBox="1"/>
          <p:nvPr/>
        </p:nvSpPr>
        <p:spPr>
          <a:xfrm>
            <a:off x="10670896" y="4771577"/>
            <a:ext cx="1997018" cy="307777"/>
          </a:xfrm>
          <a:prstGeom prst="rect">
            <a:avLst/>
          </a:prstGeom>
          <a:noFill/>
        </p:spPr>
        <p:txBody>
          <a:bodyPr wrap="square">
            <a:spAutoFit/>
          </a:bodyPr>
          <a:lstStyle/>
          <a:p>
            <a:r>
              <a:rPr kumimoji="1" lang="en-US" altLang="zh-CN" sz="1400" dirty="0"/>
              <a:t>Conv3*3,ReLU,BN</a:t>
            </a:r>
            <a:endParaRPr kumimoji="1" lang="ja-JP" altLang="en-US" sz="1400" dirty="0"/>
          </a:p>
        </p:txBody>
      </p:sp>
      <p:sp>
        <p:nvSpPr>
          <p:cNvPr id="109" name="箭头: 右 108">
            <a:extLst>
              <a:ext uri="{FF2B5EF4-FFF2-40B4-BE49-F238E27FC236}">
                <a16:creationId xmlns:a16="http://schemas.microsoft.com/office/drawing/2014/main" id="{FE4894AE-9F77-5F43-17ED-A3D49B7DE386}"/>
              </a:ext>
            </a:extLst>
          </p:cNvPr>
          <p:cNvSpPr/>
          <p:nvPr/>
        </p:nvSpPr>
        <p:spPr>
          <a:xfrm rot="181711">
            <a:off x="10430329" y="4794751"/>
            <a:ext cx="281701" cy="3073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箭头: 右 109">
            <a:extLst>
              <a:ext uri="{FF2B5EF4-FFF2-40B4-BE49-F238E27FC236}">
                <a16:creationId xmlns:a16="http://schemas.microsoft.com/office/drawing/2014/main" id="{AB738F00-6A95-8F40-9F2A-36A511121FAD}"/>
              </a:ext>
            </a:extLst>
          </p:cNvPr>
          <p:cNvSpPr/>
          <p:nvPr/>
        </p:nvSpPr>
        <p:spPr>
          <a:xfrm rot="16200000">
            <a:off x="10437810" y="5137507"/>
            <a:ext cx="258949" cy="472418"/>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11" name="文本框 110">
            <a:extLst>
              <a:ext uri="{FF2B5EF4-FFF2-40B4-BE49-F238E27FC236}">
                <a16:creationId xmlns:a16="http://schemas.microsoft.com/office/drawing/2014/main" id="{562DD8DD-EC60-53B7-C391-B0ACE505BB60}"/>
              </a:ext>
            </a:extLst>
          </p:cNvPr>
          <p:cNvSpPr txBox="1"/>
          <p:nvPr/>
        </p:nvSpPr>
        <p:spPr>
          <a:xfrm>
            <a:off x="10795521" y="5225759"/>
            <a:ext cx="1208440" cy="338554"/>
          </a:xfrm>
          <a:prstGeom prst="rect">
            <a:avLst/>
          </a:prstGeom>
          <a:noFill/>
        </p:spPr>
        <p:txBody>
          <a:bodyPr wrap="square" rtlCol="0">
            <a:spAutoFit/>
          </a:bodyPr>
          <a:lstStyle/>
          <a:p>
            <a:r>
              <a:rPr kumimoji="1" lang="en-US" altLang="ja-JP" sz="1600" dirty="0"/>
              <a:t>Upsample</a:t>
            </a:r>
            <a:endParaRPr kumimoji="1" lang="ja-JP" altLang="en-US" sz="1600" dirty="0"/>
          </a:p>
        </p:txBody>
      </p:sp>
      <p:sp>
        <p:nvSpPr>
          <p:cNvPr id="112" name="箭头: 直角上 111">
            <a:extLst>
              <a:ext uri="{FF2B5EF4-FFF2-40B4-BE49-F238E27FC236}">
                <a16:creationId xmlns:a16="http://schemas.microsoft.com/office/drawing/2014/main" id="{78D5A9A9-4CBE-5E13-1B84-8834F7C4173F}"/>
              </a:ext>
            </a:extLst>
          </p:cNvPr>
          <p:cNvSpPr/>
          <p:nvPr/>
        </p:nvSpPr>
        <p:spPr>
          <a:xfrm flipH="1">
            <a:off x="10487852" y="5739519"/>
            <a:ext cx="337459" cy="338554"/>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13" name="文本框 112">
            <a:extLst>
              <a:ext uri="{FF2B5EF4-FFF2-40B4-BE49-F238E27FC236}">
                <a16:creationId xmlns:a16="http://schemas.microsoft.com/office/drawing/2014/main" id="{58782B63-1F0D-0047-EA21-D4E23541A199}"/>
              </a:ext>
            </a:extLst>
          </p:cNvPr>
          <p:cNvSpPr txBox="1"/>
          <p:nvPr/>
        </p:nvSpPr>
        <p:spPr>
          <a:xfrm>
            <a:off x="10863467" y="5771904"/>
            <a:ext cx="910827" cy="338554"/>
          </a:xfrm>
          <a:prstGeom prst="rect">
            <a:avLst/>
          </a:prstGeom>
          <a:noFill/>
        </p:spPr>
        <p:txBody>
          <a:bodyPr wrap="none" rtlCol="0">
            <a:spAutoFit/>
          </a:bodyPr>
          <a:lstStyle/>
          <a:p>
            <a:r>
              <a:rPr kumimoji="1" lang="en-US" altLang="ja-JP" sz="1600" dirty="0"/>
              <a:t>Sigmoid</a:t>
            </a:r>
            <a:endParaRPr kumimoji="1" lang="ja-JP" altLang="en-US" sz="1600" dirty="0"/>
          </a:p>
        </p:txBody>
      </p:sp>
      <p:sp>
        <p:nvSpPr>
          <p:cNvPr id="115" name="文本框 114">
            <a:extLst>
              <a:ext uri="{FF2B5EF4-FFF2-40B4-BE49-F238E27FC236}">
                <a16:creationId xmlns:a16="http://schemas.microsoft.com/office/drawing/2014/main" id="{5D577CC9-6285-A71F-EBF3-4A809BBA6EBC}"/>
              </a:ext>
            </a:extLst>
          </p:cNvPr>
          <p:cNvSpPr txBox="1"/>
          <p:nvPr/>
        </p:nvSpPr>
        <p:spPr>
          <a:xfrm>
            <a:off x="6877549" y="1874525"/>
            <a:ext cx="1793600" cy="523220"/>
          </a:xfrm>
          <a:prstGeom prst="rect">
            <a:avLst/>
          </a:prstGeom>
          <a:noFill/>
        </p:spPr>
        <p:txBody>
          <a:bodyPr wrap="square" rtlCol="0">
            <a:spAutoFit/>
          </a:bodyPr>
          <a:lstStyle/>
          <a:p>
            <a:r>
              <a:rPr kumimoji="1" lang="en-US" altLang="zh-CN" sz="2800" dirty="0">
                <a:solidFill>
                  <a:srgbClr val="FF0000"/>
                </a:solidFill>
              </a:rPr>
              <a:t>Decoder</a:t>
            </a:r>
            <a:endParaRPr kumimoji="1" lang="ja-JP" altLang="en-US" sz="2800" dirty="0">
              <a:solidFill>
                <a:srgbClr val="FF0000"/>
              </a:solidFill>
            </a:endParaRPr>
          </a:p>
        </p:txBody>
      </p:sp>
      <p:sp>
        <p:nvSpPr>
          <p:cNvPr id="116" name="文本框 115">
            <a:extLst>
              <a:ext uri="{FF2B5EF4-FFF2-40B4-BE49-F238E27FC236}">
                <a16:creationId xmlns:a16="http://schemas.microsoft.com/office/drawing/2014/main" id="{1BBF45E4-F71A-8382-52CD-A98082963E6E}"/>
              </a:ext>
            </a:extLst>
          </p:cNvPr>
          <p:cNvSpPr txBox="1"/>
          <p:nvPr/>
        </p:nvSpPr>
        <p:spPr>
          <a:xfrm>
            <a:off x="8696345" y="76807"/>
            <a:ext cx="1925472" cy="338554"/>
          </a:xfrm>
          <a:prstGeom prst="rect">
            <a:avLst/>
          </a:prstGeom>
          <a:noFill/>
        </p:spPr>
        <p:txBody>
          <a:bodyPr wrap="square" rtlCol="0">
            <a:spAutoFit/>
          </a:bodyPr>
          <a:lstStyle/>
          <a:p>
            <a:r>
              <a:rPr kumimoji="1" lang="en-US" altLang="ja-JP" sz="1600" dirty="0"/>
              <a:t>(1,H,W)</a:t>
            </a:r>
            <a:endParaRPr kumimoji="1" lang="ja-JP" altLang="en-US" sz="1600" dirty="0"/>
          </a:p>
        </p:txBody>
      </p:sp>
      <p:sp>
        <p:nvSpPr>
          <p:cNvPr id="2" name="立方体 1">
            <a:extLst>
              <a:ext uri="{FF2B5EF4-FFF2-40B4-BE49-F238E27FC236}">
                <a16:creationId xmlns:a16="http://schemas.microsoft.com/office/drawing/2014/main" id="{6F26DDA1-FDBA-5A40-1366-AC419028850E}"/>
              </a:ext>
            </a:extLst>
          </p:cNvPr>
          <p:cNvSpPr/>
          <p:nvPr/>
        </p:nvSpPr>
        <p:spPr>
          <a:xfrm>
            <a:off x="203418" y="272312"/>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1" name="立方体 10">
            <a:extLst>
              <a:ext uri="{FF2B5EF4-FFF2-40B4-BE49-F238E27FC236}">
                <a16:creationId xmlns:a16="http://schemas.microsoft.com/office/drawing/2014/main" id="{D55CE94D-36DD-29E1-6D04-FB918E69B9AB}"/>
              </a:ext>
            </a:extLst>
          </p:cNvPr>
          <p:cNvSpPr/>
          <p:nvPr/>
        </p:nvSpPr>
        <p:spPr>
          <a:xfrm>
            <a:off x="1065431" y="272312"/>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2" name="立方体 11">
            <a:extLst>
              <a:ext uri="{FF2B5EF4-FFF2-40B4-BE49-F238E27FC236}">
                <a16:creationId xmlns:a16="http://schemas.microsoft.com/office/drawing/2014/main" id="{E10EE09A-A240-76A7-3A69-80A22A34EF36}"/>
              </a:ext>
            </a:extLst>
          </p:cNvPr>
          <p:cNvSpPr/>
          <p:nvPr/>
        </p:nvSpPr>
        <p:spPr>
          <a:xfrm>
            <a:off x="1996758" y="272312"/>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3" name="矩形: 圆角 12">
            <a:extLst>
              <a:ext uri="{FF2B5EF4-FFF2-40B4-BE49-F238E27FC236}">
                <a16:creationId xmlns:a16="http://schemas.microsoft.com/office/drawing/2014/main" id="{E1FFE461-604A-DFC5-93C3-DB22E4BAFB3D}"/>
              </a:ext>
            </a:extLst>
          </p:cNvPr>
          <p:cNvSpPr/>
          <p:nvPr/>
        </p:nvSpPr>
        <p:spPr>
          <a:xfrm>
            <a:off x="3170940" y="500764"/>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4" name="矩形: 圆角 13">
            <a:extLst>
              <a:ext uri="{FF2B5EF4-FFF2-40B4-BE49-F238E27FC236}">
                <a16:creationId xmlns:a16="http://schemas.microsoft.com/office/drawing/2014/main" id="{ED455B6B-018A-07F6-5937-FDF3232B00AF}"/>
              </a:ext>
            </a:extLst>
          </p:cNvPr>
          <p:cNvSpPr/>
          <p:nvPr/>
        </p:nvSpPr>
        <p:spPr>
          <a:xfrm>
            <a:off x="3181775" y="1312573"/>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6" name="箭头: 右 15">
            <a:extLst>
              <a:ext uri="{FF2B5EF4-FFF2-40B4-BE49-F238E27FC236}">
                <a16:creationId xmlns:a16="http://schemas.microsoft.com/office/drawing/2014/main" id="{CB63BB48-3833-F23E-BC61-0C8402698569}"/>
              </a:ext>
            </a:extLst>
          </p:cNvPr>
          <p:cNvSpPr/>
          <p:nvPr/>
        </p:nvSpPr>
        <p:spPr>
          <a:xfrm>
            <a:off x="580783" y="925362"/>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箭头: 右 19">
            <a:extLst>
              <a:ext uri="{FF2B5EF4-FFF2-40B4-BE49-F238E27FC236}">
                <a16:creationId xmlns:a16="http://schemas.microsoft.com/office/drawing/2014/main" id="{5DA43329-3ADA-74D6-D332-91A1E710345D}"/>
              </a:ext>
            </a:extLst>
          </p:cNvPr>
          <p:cNvSpPr/>
          <p:nvPr/>
        </p:nvSpPr>
        <p:spPr>
          <a:xfrm>
            <a:off x="1524633" y="938003"/>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接箭头连接符 32">
            <a:extLst>
              <a:ext uri="{FF2B5EF4-FFF2-40B4-BE49-F238E27FC236}">
                <a16:creationId xmlns:a16="http://schemas.microsoft.com/office/drawing/2014/main" id="{E5B52477-9CFD-5A4C-F85B-D0AAD9B15C03}"/>
              </a:ext>
            </a:extLst>
          </p:cNvPr>
          <p:cNvCxnSpPr>
            <a:endCxn id="13" idx="1"/>
          </p:cNvCxnSpPr>
          <p:nvPr/>
        </p:nvCxnSpPr>
        <p:spPr>
          <a:xfrm flipV="1">
            <a:off x="2553413" y="726832"/>
            <a:ext cx="617527" cy="395137"/>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接箭头连接符 33">
            <a:extLst>
              <a:ext uri="{FF2B5EF4-FFF2-40B4-BE49-F238E27FC236}">
                <a16:creationId xmlns:a16="http://schemas.microsoft.com/office/drawing/2014/main" id="{D4DCEC93-158A-BCB5-B5D7-C1158DF7243A}"/>
              </a:ext>
            </a:extLst>
          </p:cNvPr>
          <p:cNvCxnSpPr>
            <a:cxnSpLocks/>
            <a:stCxn id="13" idx="2"/>
            <a:endCxn id="14" idx="0"/>
          </p:cNvCxnSpPr>
          <p:nvPr/>
        </p:nvCxnSpPr>
        <p:spPr>
          <a:xfrm>
            <a:off x="3754405" y="952899"/>
            <a:ext cx="10835" cy="35967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立方体 39">
            <a:extLst>
              <a:ext uri="{FF2B5EF4-FFF2-40B4-BE49-F238E27FC236}">
                <a16:creationId xmlns:a16="http://schemas.microsoft.com/office/drawing/2014/main" id="{B56E24C2-A418-E44A-CF79-5C349A76671C}"/>
              </a:ext>
            </a:extLst>
          </p:cNvPr>
          <p:cNvSpPr/>
          <p:nvPr/>
        </p:nvSpPr>
        <p:spPr>
          <a:xfrm>
            <a:off x="1648062" y="2172341"/>
            <a:ext cx="532160" cy="1267550"/>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44" name="立方体 43">
            <a:extLst>
              <a:ext uri="{FF2B5EF4-FFF2-40B4-BE49-F238E27FC236}">
                <a16:creationId xmlns:a16="http://schemas.microsoft.com/office/drawing/2014/main" id="{393E5FCF-F612-7F7D-6FC5-B3C0ED55AB40}"/>
              </a:ext>
            </a:extLst>
          </p:cNvPr>
          <p:cNvSpPr/>
          <p:nvPr/>
        </p:nvSpPr>
        <p:spPr>
          <a:xfrm>
            <a:off x="2510075" y="2172341"/>
            <a:ext cx="532160" cy="1267550"/>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45" name="立方体 44">
            <a:extLst>
              <a:ext uri="{FF2B5EF4-FFF2-40B4-BE49-F238E27FC236}">
                <a16:creationId xmlns:a16="http://schemas.microsoft.com/office/drawing/2014/main" id="{D680F018-053E-BB17-FFF9-875038A22FDC}"/>
              </a:ext>
            </a:extLst>
          </p:cNvPr>
          <p:cNvSpPr/>
          <p:nvPr/>
        </p:nvSpPr>
        <p:spPr>
          <a:xfrm>
            <a:off x="3441402" y="2172341"/>
            <a:ext cx="532160" cy="1267550"/>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46" name="矩形: 圆角 45">
            <a:extLst>
              <a:ext uri="{FF2B5EF4-FFF2-40B4-BE49-F238E27FC236}">
                <a16:creationId xmlns:a16="http://schemas.microsoft.com/office/drawing/2014/main" id="{0F890E82-CB56-9D13-E557-268C7EE3D3D5}"/>
              </a:ext>
            </a:extLst>
          </p:cNvPr>
          <p:cNvSpPr/>
          <p:nvPr/>
        </p:nvSpPr>
        <p:spPr>
          <a:xfrm>
            <a:off x="112355" y="2280248"/>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47" name="矩形: 圆角 46">
            <a:extLst>
              <a:ext uri="{FF2B5EF4-FFF2-40B4-BE49-F238E27FC236}">
                <a16:creationId xmlns:a16="http://schemas.microsoft.com/office/drawing/2014/main" id="{EE2F13BC-6B8F-AC5F-00C8-0E0C7E16DDFC}"/>
              </a:ext>
            </a:extLst>
          </p:cNvPr>
          <p:cNvSpPr/>
          <p:nvPr/>
        </p:nvSpPr>
        <p:spPr>
          <a:xfrm>
            <a:off x="123190" y="3092057"/>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50" name="箭头: 右 49">
            <a:extLst>
              <a:ext uri="{FF2B5EF4-FFF2-40B4-BE49-F238E27FC236}">
                <a16:creationId xmlns:a16="http://schemas.microsoft.com/office/drawing/2014/main" id="{0C38F791-F7B6-775F-6EE4-F69AE4FBC089}"/>
              </a:ext>
            </a:extLst>
          </p:cNvPr>
          <p:cNvSpPr/>
          <p:nvPr/>
        </p:nvSpPr>
        <p:spPr>
          <a:xfrm rot="10800000">
            <a:off x="2088270" y="2661035"/>
            <a:ext cx="395706" cy="3121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箭头: 右 50">
            <a:extLst>
              <a:ext uri="{FF2B5EF4-FFF2-40B4-BE49-F238E27FC236}">
                <a16:creationId xmlns:a16="http://schemas.microsoft.com/office/drawing/2014/main" id="{A92DF084-2C54-2CAE-E6DC-E86F9629B39D}"/>
              </a:ext>
            </a:extLst>
          </p:cNvPr>
          <p:cNvSpPr/>
          <p:nvPr/>
        </p:nvSpPr>
        <p:spPr>
          <a:xfrm rot="10800000">
            <a:off x="3005012" y="2698164"/>
            <a:ext cx="395706" cy="3121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5" name="直接箭头连接符 54">
            <a:extLst>
              <a:ext uri="{FF2B5EF4-FFF2-40B4-BE49-F238E27FC236}">
                <a16:creationId xmlns:a16="http://schemas.microsoft.com/office/drawing/2014/main" id="{CD2846E4-A33E-BBF3-7B60-61CCA83827C6}"/>
              </a:ext>
            </a:extLst>
          </p:cNvPr>
          <p:cNvCxnSpPr>
            <a:cxnSpLocks/>
            <a:stCxn id="46" idx="2"/>
            <a:endCxn id="47" idx="0"/>
          </p:cNvCxnSpPr>
          <p:nvPr/>
        </p:nvCxnSpPr>
        <p:spPr>
          <a:xfrm>
            <a:off x="695820" y="2732383"/>
            <a:ext cx="10835" cy="35967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箭头: 下 55">
            <a:extLst>
              <a:ext uri="{FF2B5EF4-FFF2-40B4-BE49-F238E27FC236}">
                <a16:creationId xmlns:a16="http://schemas.microsoft.com/office/drawing/2014/main" id="{50F55E29-574F-E772-4798-B087402D722A}"/>
              </a:ext>
            </a:extLst>
          </p:cNvPr>
          <p:cNvSpPr/>
          <p:nvPr/>
        </p:nvSpPr>
        <p:spPr>
          <a:xfrm>
            <a:off x="3580228" y="1843363"/>
            <a:ext cx="434018" cy="328978"/>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7" name="立方体 56">
            <a:extLst>
              <a:ext uri="{FF2B5EF4-FFF2-40B4-BE49-F238E27FC236}">
                <a16:creationId xmlns:a16="http://schemas.microsoft.com/office/drawing/2014/main" id="{EDD445D4-E689-6580-BB64-0185CF484459}"/>
              </a:ext>
            </a:extLst>
          </p:cNvPr>
          <p:cNvSpPr/>
          <p:nvPr/>
        </p:nvSpPr>
        <p:spPr>
          <a:xfrm>
            <a:off x="116116" y="3946619"/>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8" name="立方体 57">
            <a:extLst>
              <a:ext uri="{FF2B5EF4-FFF2-40B4-BE49-F238E27FC236}">
                <a16:creationId xmlns:a16="http://schemas.microsoft.com/office/drawing/2014/main" id="{652167D3-2ECB-077A-7284-FD3A11FD8B19}"/>
              </a:ext>
            </a:extLst>
          </p:cNvPr>
          <p:cNvSpPr/>
          <p:nvPr/>
        </p:nvSpPr>
        <p:spPr>
          <a:xfrm>
            <a:off x="978129" y="3946619"/>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9" name="立方体 58">
            <a:extLst>
              <a:ext uri="{FF2B5EF4-FFF2-40B4-BE49-F238E27FC236}">
                <a16:creationId xmlns:a16="http://schemas.microsoft.com/office/drawing/2014/main" id="{1D18EB21-F3F7-E4D5-5B74-272225D28AC0}"/>
              </a:ext>
            </a:extLst>
          </p:cNvPr>
          <p:cNvSpPr/>
          <p:nvPr/>
        </p:nvSpPr>
        <p:spPr>
          <a:xfrm>
            <a:off x="1909456" y="3946619"/>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61" name="矩形: 圆角 60">
            <a:extLst>
              <a:ext uri="{FF2B5EF4-FFF2-40B4-BE49-F238E27FC236}">
                <a16:creationId xmlns:a16="http://schemas.microsoft.com/office/drawing/2014/main" id="{8178DE4D-8064-E15D-2DE0-0B106ECDD610}"/>
              </a:ext>
            </a:extLst>
          </p:cNvPr>
          <p:cNvSpPr/>
          <p:nvPr/>
        </p:nvSpPr>
        <p:spPr>
          <a:xfrm>
            <a:off x="3151307" y="3614200"/>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62" name="矩形: 圆角 61">
            <a:extLst>
              <a:ext uri="{FF2B5EF4-FFF2-40B4-BE49-F238E27FC236}">
                <a16:creationId xmlns:a16="http://schemas.microsoft.com/office/drawing/2014/main" id="{B5A7109B-B223-DE37-F534-A59B03388415}"/>
              </a:ext>
            </a:extLst>
          </p:cNvPr>
          <p:cNvSpPr/>
          <p:nvPr/>
        </p:nvSpPr>
        <p:spPr>
          <a:xfrm>
            <a:off x="3124017" y="4305334"/>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69" name="箭头: 右 68">
            <a:extLst>
              <a:ext uri="{FF2B5EF4-FFF2-40B4-BE49-F238E27FC236}">
                <a16:creationId xmlns:a16="http://schemas.microsoft.com/office/drawing/2014/main" id="{6FD9F779-1499-0A88-0894-41D3FBD44310}"/>
              </a:ext>
            </a:extLst>
          </p:cNvPr>
          <p:cNvSpPr/>
          <p:nvPr/>
        </p:nvSpPr>
        <p:spPr>
          <a:xfrm>
            <a:off x="493481" y="4599669"/>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箭头: 右 69">
            <a:extLst>
              <a:ext uri="{FF2B5EF4-FFF2-40B4-BE49-F238E27FC236}">
                <a16:creationId xmlns:a16="http://schemas.microsoft.com/office/drawing/2014/main" id="{6F138821-E421-934E-48FC-0BB520A9410E}"/>
              </a:ext>
            </a:extLst>
          </p:cNvPr>
          <p:cNvSpPr/>
          <p:nvPr/>
        </p:nvSpPr>
        <p:spPr>
          <a:xfrm>
            <a:off x="1437331" y="4612310"/>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直接箭头连接符 75">
            <a:extLst>
              <a:ext uri="{FF2B5EF4-FFF2-40B4-BE49-F238E27FC236}">
                <a16:creationId xmlns:a16="http://schemas.microsoft.com/office/drawing/2014/main" id="{A608E11D-E162-CBD2-A39D-439B391DAEC2}"/>
              </a:ext>
            </a:extLst>
          </p:cNvPr>
          <p:cNvCxnSpPr>
            <a:endCxn id="61" idx="1"/>
          </p:cNvCxnSpPr>
          <p:nvPr/>
        </p:nvCxnSpPr>
        <p:spPr>
          <a:xfrm flipV="1">
            <a:off x="2533780" y="3840268"/>
            <a:ext cx="617527" cy="395137"/>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直接箭头连接符 84">
            <a:extLst>
              <a:ext uri="{FF2B5EF4-FFF2-40B4-BE49-F238E27FC236}">
                <a16:creationId xmlns:a16="http://schemas.microsoft.com/office/drawing/2014/main" id="{F4BE0BEB-FDCC-A246-B054-8F422568EA15}"/>
              </a:ext>
            </a:extLst>
          </p:cNvPr>
          <p:cNvCxnSpPr>
            <a:cxnSpLocks/>
            <a:stCxn id="61" idx="2"/>
            <a:endCxn id="62" idx="0"/>
          </p:cNvCxnSpPr>
          <p:nvPr/>
        </p:nvCxnSpPr>
        <p:spPr>
          <a:xfrm flipH="1">
            <a:off x="3707482" y="4066335"/>
            <a:ext cx="27290" cy="23899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7" name="箭头: 下 86">
            <a:extLst>
              <a:ext uri="{FF2B5EF4-FFF2-40B4-BE49-F238E27FC236}">
                <a16:creationId xmlns:a16="http://schemas.microsoft.com/office/drawing/2014/main" id="{E214121B-4BE6-4890-4452-3BEFE50AFF48}"/>
              </a:ext>
            </a:extLst>
          </p:cNvPr>
          <p:cNvSpPr/>
          <p:nvPr/>
        </p:nvSpPr>
        <p:spPr>
          <a:xfrm>
            <a:off x="471600" y="3663573"/>
            <a:ext cx="434018" cy="328978"/>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88" name="直接箭头连接符 87">
            <a:extLst>
              <a:ext uri="{FF2B5EF4-FFF2-40B4-BE49-F238E27FC236}">
                <a16:creationId xmlns:a16="http://schemas.microsoft.com/office/drawing/2014/main" id="{47EEF585-D836-16F0-BD93-385DD9362BDD}"/>
              </a:ext>
            </a:extLst>
          </p:cNvPr>
          <p:cNvCxnSpPr>
            <a:cxnSpLocks/>
            <a:endCxn id="46" idx="3"/>
          </p:cNvCxnSpPr>
          <p:nvPr/>
        </p:nvCxnSpPr>
        <p:spPr>
          <a:xfrm flipH="1" flipV="1">
            <a:off x="1279284" y="2506316"/>
            <a:ext cx="346522" cy="487553"/>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4" name="矩形: 圆角 103">
            <a:extLst>
              <a:ext uri="{FF2B5EF4-FFF2-40B4-BE49-F238E27FC236}">
                <a16:creationId xmlns:a16="http://schemas.microsoft.com/office/drawing/2014/main" id="{55BC802F-765D-CB03-E90D-650374DE8142}"/>
              </a:ext>
            </a:extLst>
          </p:cNvPr>
          <p:cNvSpPr/>
          <p:nvPr/>
        </p:nvSpPr>
        <p:spPr>
          <a:xfrm>
            <a:off x="3080832" y="4967575"/>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07" name="矩形: 圆角 106">
            <a:extLst>
              <a:ext uri="{FF2B5EF4-FFF2-40B4-BE49-F238E27FC236}">
                <a16:creationId xmlns:a16="http://schemas.microsoft.com/office/drawing/2014/main" id="{FCB53B2B-570A-173B-2762-950F19EC614B}"/>
              </a:ext>
            </a:extLst>
          </p:cNvPr>
          <p:cNvSpPr/>
          <p:nvPr/>
        </p:nvSpPr>
        <p:spPr>
          <a:xfrm>
            <a:off x="2277660" y="5477503"/>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cxnSp>
        <p:nvCxnSpPr>
          <p:cNvPr id="117" name="直接箭头连接符 116">
            <a:extLst>
              <a:ext uri="{FF2B5EF4-FFF2-40B4-BE49-F238E27FC236}">
                <a16:creationId xmlns:a16="http://schemas.microsoft.com/office/drawing/2014/main" id="{4E389018-E158-2345-A570-7C7861E8CA42}"/>
              </a:ext>
            </a:extLst>
          </p:cNvPr>
          <p:cNvCxnSpPr>
            <a:cxnSpLocks/>
          </p:cNvCxnSpPr>
          <p:nvPr/>
        </p:nvCxnSpPr>
        <p:spPr>
          <a:xfrm flipH="1">
            <a:off x="3673311" y="4753885"/>
            <a:ext cx="27290" cy="23899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1" name="箭头: 下 120">
            <a:extLst>
              <a:ext uri="{FF2B5EF4-FFF2-40B4-BE49-F238E27FC236}">
                <a16:creationId xmlns:a16="http://schemas.microsoft.com/office/drawing/2014/main" id="{794C6B1F-B97D-CF14-D76F-E1380D9DFD7A}"/>
              </a:ext>
            </a:extLst>
          </p:cNvPr>
          <p:cNvSpPr/>
          <p:nvPr/>
        </p:nvSpPr>
        <p:spPr>
          <a:xfrm>
            <a:off x="2741000" y="5966105"/>
            <a:ext cx="269562" cy="239420"/>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125" name="连接符: 肘形 124">
            <a:extLst>
              <a:ext uri="{FF2B5EF4-FFF2-40B4-BE49-F238E27FC236}">
                <a16:creationId xmlns:a16="http://schemas.microsoft.com/office/drawing/2014/main" id="{679A55FB-734F-CFD7-8FD2-5D6BAC693611}"/>
              </a:ext>
            </a:extLst>
          </p:cNvPr>
          <p:cNvCxnSpPr>
            <a:stCxn id="104" idx="2"/>
            <a:endCxn id="107" idx="3"/>
          </p:cNvCxnSpPr>
          <p:nvPr/>
        </p:nvCxnSpPr>
        <p:spPr>
          <a:xfrm rot="5400000">
            <a:off x="3412513" y="5451786"/>
            <a:ext cx="283861" cy="219708"/>
          </a:xfrm>
          <a:prstGeom prst="bentConnector2">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6" name="文本框 125">
            <a:extLst>
              <a:ext uri="{FF2B5EF4-FFF2-40B4-BE49-F238E27FC236}">
                <a16:creationId xmlns:a16="http://schemas.microsoft.com/office/drawing/2014/main" id="{50A17BAC-CCC4-CE24-1C53-40BCC275C6EF}"/>
              </a:ext>
            </a:extLst>
          </p:cNvPr>
          <p:cNvSpPr txBox="1"/>
          <p:nvPr/>
        </p:nvSpPr>
        <p:spPr>
          <a:xfrm>
            <a:off x="2143439" y="6510835"/>
            <a:ext cx="2187390" cy="369332"/>
          </a:xfrm>
          <a:prstGeom prst="rect">
            <a:avLst/>
          </a:prstGeom>
          <a:noFill/>
        </p:spPr>
        <p:txBody>
          <a:bodyPr wrap="square" rtlCol="0">
            <a:spAutoFit/>
          </a:bodyPr>
          <a:lstStyle/>
          <a:p>
            <a:r>
              <a:rPr kumimoji="1" lang="en-US" altLang="ja-JP" dirty="0"/>
              <a:t>(256,H/8,W/8)</a:t>
            </a:r>
            <a:endParaRPr kumimoji="1" lang="ja-JP" altLang="en-US" dirty="0"/>
          </a:p>
        </p:txBody>
      </p:sp>
      <p:sp>
        <p:nvSpPr>
          <p:cNvPr id="127" name="文本框 126">
            <a:extLst>
              <a:ext uri="{FF2B5EF4-FFF2-40B4-BE49-F238E27FC236}">
                <a16:creationId xmlns:a16="http://schemas.microsoft.com/office/drawing/2014/main" id="{7F628D8F-8A87-000D-0EA6-B71731A0C717}"/>
              </a:ext>
            </a:extLst>
          </p:cNvPr>
          <p:cNvSpPr txBox="1"/>
          <p:nvPr/>
        </p:nvSpPr>
        <p:spPr>
          <a:xfrm>
            <a:off x="1728618" y="3440032"/>
            <a:ext cx="2187390" cy="369332"/>
          </a:xfrm>
          <a:prstGeom prst="rect">
            <a:avLst/>
          </a:prstGeom>
          <a:noFill/>
        </p:spPr>
        <p:txBody>
          <a:bodyPr wrap="square" rtlCol="0">
            <a:spAutoFit/>
          </a:bodyPr>
          <a:lstStyle/>
          <a:p>
            <a:r>
              <a:rPr kumimoji="1" lang="en-US" altLang="ja-JP" dirty="0"/>
              <a:t>(64,H/2,W/2)</a:t>
            </a:r>
            <a:endParaRPr kumimoji="1" lang="ja-JP" altLang="en-US" dirty="0"/>
          </a:p>
        </p:txBody>
      </p:sp>
      <p:sp>
        <p:nvSpPr>
          <p:cNvPr id="128" name="文本框 127">
            <a:extLst>
              <a:ext uri="{FF2B5EF4-FFF2-40B4-BE49-F238E27FC236}">
                <a16:creationId xmlns:a16="http://schemas.microsoft.com/office/drawing/2014/main" id="{B026D58A-25EC-BA70-23C4-E8FF24BA3010}"/>
              </a:ext>
            </a:extLst>
          </p:cNvPr>
          <p:cNvSpPr txBox="1"/>
          <p:nvPr/>
        </p:nvSpPr>
        <p:spPr>
          <a:xfrm>
            <a:off x="854845" y="1806855"/>
            <a:ext cx="2187390" cy="369332"/>
          </a:xfrm>
          <a:prstGeom prst="rect">
            <a:avLst/>
          </a:prstGeom>
          <a:noFill/>
        </p:spPr>
        <p:txBody>
          <a:bodyPr wrap="square" rtlCol="0">
            <a:spAutoFit/>
          </a:bodyPr>
          <a:lstStyle/>
          <a:p>
            <a:r>
              <a:rPr kumimoji="1" lang="en-US" altLang="ja-JP" dirty="0"/>
              <a:t>(32,H,W)</a:t>
            </a:r>
            <a:endParaRPr kumimoji="1" lang="ja-JP" altLang="en-US" dirty="0"/>
          </a:p>
        </p:txBody>
      </p:sp>
      <p:cxnSp>
        <p:nvCxnSpPr>
          <p:cNvPr id="129" name="直接箭头连接符 128">
            <a:extLst>
              <a:ext uri="{FF2B5EF4-FFF2-40B4-BE49-F238E27FC236}">
                <a16:creationId xmlns:a16="http://schemas.microsoft.com/office/drawing/2014/main" id="{7F2C2DEB-0601-2466-7E73-4A2182C9EF12}"/>
              </a:ext>
            </a:extLst>
          </p:cNvPr>
          <p:cNvCxnSpPr>
            <a:cxnSpLocks/>
            <a:endCxn id="21" idx="2"/>
          </p:cNvCxnSpPr>
          <p:nvPr/>
        </p:nvCxnSpPr>
        <p:spPr>
          <a:xfrm flipV="1">
            <a:off x="3524244" y="6193516"/>
            <a:ext cx="1617137" cy="12001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2" name="连接符: 曲线 131">
            <a:extLst>
              <a:ext uri="{FF2B5EF4-FFF2-40B4-BE49-F238E27FC236}">
                <a16:creationId xmlns:a16="http://schemas.microsoft.com/office/drawing/2014/main" id="{A3ED62CA-C100-A469-19AA-0355210F07FE}"/>
              </a:ext>
            </a:extLst>
          </p:cNvPr>
          <p:cNvCxnSpPr>
            <a:cxnSpLocks/>
            <a:stCxn id="14" idx="3"/>
          </p:cNvCxnSpPr>
          <p:nvPr/>
        </p:nvCxnSpPr>
        <p:spPr>
          <a:xfrm>
            <a:off x="4348704" y="1538641"/>
            <a:ext cx="5800681" cy="211369"/>
          </a:xfrm>
          <a:prstGeom prst="curvedConnector3">
            <a:avLst>
              <a:gd name="adj1" fmla="val 51819"/>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6" name="连接符: 曲线 135">
            <a:extLst>
              <a:ext uri="{FF2B5EF4-FFF2-40B4-BE49-F238E27FC236}">
                <a16:creationId xmlns:a16="http://schemas.microsoft.com/office/drawing/2014/main" id="{6A57C5CD-3CC3-0564-8BE6-1C2B306D48F3}"/>
              </a:ext>
            </a:extLst>
          </p:cNvPr>
          <p:cNvCxnSpPr>
            <a:stCxn id="47" idx="3"/>
          </p:cNvCxnSpPr>
          <p:nvPr/>
        </p:nvCxnSpPr>
        <p:spPr>
          <a:xfrm>
            <a:off x="1290119" y="3318125"/>
            <a:ext cx="7090355" cy="110875"/>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9" name="连接符: 曲线 138">
            <a:extLst>
              <a:ext uri="{FF2B5EF4-FFF2-40B4-BE49-F238E27FC236}">
                <a16:creationId xmlns:a16="http://schemas.microsoft.com/office/drawing/2014/main" id="{7DC564F2-4FF0-9B23-2F06-404EC25E6F28}"/>
              </a:ext>
            </a:extLst>
          </p:cNvPr>
          <p:cNvCxnSpPr>
            <a:stCxn id="107" idx="3"/>
          </p:cNvCxnSpPr>
          <p:nvPr/>
        </p:nvCxnSpPr>
        <p:spPr>
          <a:xfrm flipV="1">
            <a:off x="3444589" y="4753885"/>
            <a:ext cx="3800533" cy="949686"/>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1" name="箭头: 下 140">
            <a:extLst>
              <a:ext uri="{FF2B5EF4-FFF2-40B4-BE49-F238E27FC236}">
                <a16:creationId xmlns:a16="http://schemas.microsoft.com/office/drawing/2014/main" id="{DCDE9F9A-ABCF-CE72-ACE0-F7E873C92A44}"/>
              </a:ext>
            </a:extLst>
          </p:cNvPr>
          <p:cNvSpPr/>
          <p:nvPr/>
        </p:nvSpPr>
        <p:spPr>
          <a:xfrm>
            <a:off x="10358232" y="4301711"/>
            <a:ext cx="434018" cy="328978"/>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42" name="文本框 141">
            <a:extLst>
              <a:ext uri="{FF2B5EF4-FFF2-40B4-BE49-F238E27FC236}">
                <a16:creationId xmlns:a16="http://schemas.microsoft.com/office/drawing/2014/main" id="{4A67BA6E-DD68-864C-3B74-B20623A8E601}"/>
              </a:ext>
            </a:extLst>
          </p:cNvPr>
          <p:cNvSpPr txBox="1"/>
          <p:nvPr/>
        </p:nvSpPr>
        <p:spPr>
          <a:xfrm>
            <a:off x="10783030" y="4269300"/>
            <a:ext cx="1997018" cy="307777"/>
          </a:xfrm>
          <a:prstGeom prst="rect">
            <a:avLst/>
          </a:prstGeom>
          <a:noFill/>
        </p:spPr>
        <p:txBody>
          <a:bodyPr wrap="square">
            <a:spAutoFit/>
          </a:bodyPr>
          <a:lstStyle/>
          <a:p>
            <a:r>
              <a:rPr kumimoji="1" lang="en-US" altLang="zh-CN" sz="1400" dirty="0"/>
              <a:t>Patch Merging</a:t>
            </a:r>
            <a:endParaRPr kumimoji="1" lang="ja-JP" altLang="en-US" sz="1400" dirty="0"/>
          </a:p>
        </p:txBody>
      </p:sp>
      <p:sp>
        <p:nvSpPr>
          <p:cNvPr id="144" name="文本框 143">
            <a:extLst>
              <a:ext uri="{FF2B5EF4-FFF2-40B4-BE49-F238E27FC236}">
                <a16:creationId xmlns:a16="http://schemas.microsoft.com/office/drawing/2014/main" id="{D2ECF224-352B-2F2E-4015-B69D56E15A15}"/>
              </a:ext>
            </a:extLst>
          </p:cNvPr>
          <p:cNvSpPr txBox="1"/>
          <p:nvPr/>
        </p:nvSpPr>
        <p:spPr>
          <a:xfrm>
            <a:off x="1512911" y="64844"/>
            <a:ext cx="1793600" cy="523220"/>
          </a:xfrm>
          <a:prstGeom prst="rect">
            <a:avLst/>
          </a:prstGeom>
          <a:noFill/>
        </p:spPr>
        <p:txBody>
          <a:bodyPr wrap="square" rtlCol="0">
            <a:spAutoFit/>
          </a:bodyPr>
          <a:lstStyle/>
          <a:p>
            <a:r>
              <a:rPr kumimoji="1" lang="en-US" altLang="zh-CN" sz="2800" dirty="0">
                <a:solidFill>
                  <a:srgbClr val="FF0000"/>
                </a:solidFill>
              </a:rPr>
              <a:t>Encoder</a:t>
            </a:r>
            <a:endParaRPr kumimoji="1" lang="ja-JP" altLang="en-US" sz="2800" dirty="0">
              <a:solidFill>
                <a:srgbClr val="FF0000"/>
              </a:solidFill>
            </a:endParaRPr>
          </a:p>
        </p:txBody>
      </p:sp>
    </p:spTree>
    <p:extLst>
      <p:ext uri="{BB962C8B-B14F-4D97-AF65-F5344CB8AC3E}">
        <p14:creationId xmlns:p14="http://schemas.microsoft.com/office/powerpoint/2010/main" val="3380846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16</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FF7A27A3-12E2-645F-67A9-F518B02FEA6C}"/>
              </a:ext>
            </a:extLst>
          </p:cNvPr>
          <p:cNvSpPr txBox="1"/>
          <p:nvPr/>
        </p:nvSpPr>
        <p:spPr>
          <a:xfrm>
            <a:off x="161778" y="94734"/>
            <a:ext cx="6096000" cy="646331"/>
          </a:xfrm>
          <a:prstGeom prst="rect">
            <a:avLst/>
          </a:prstGeom>
          <a:noFill/>
        </p:spPr>
        <p:txBody>
          <a:bodyPr wrap="square">
            <a:spAutoFit/>
          </a:bodyPr>
          <a:lstStyle/>
          <a:p>
            <a:r>
              <a:rPr kumimoji="1" lang="zh-CN" altLang="en-US" sz="3600" dirty="0"/>
              <a:t>四、</a:t>
            </a:r>
            <a:r>
              <a:rPr kumimoji="1" lang="ja-JP" altLang="en-US" sz="3600" dirty="0"/>
              <a:t>予定</a:t>
            </a:r>
          </a:p>
        </p:txBody>
      </p:sp>
      <p:sp>
        <p:nvSpPr>
          <p:cNvPr id="2" name="文本框 1">
            <a:extLst>
              <a:ext uri="{FF2B5EF4-FFF2-40B4-BE49-F238E27FC236}">
                <a16:creationId xmlns:a16="http://schemas.microsoft.com/office/drawing/2014/main" id="{02C094C4-ED0B-607D-36BF-1CF54C5216C9}"/>
              </a:ext>
            </a:extLst>
          </p:cNvPr>
          <p:cNvSpPr txBox="1"/>
          <p:nvPr/>
        </p:nvSpPr>
        <p:spPr>
          <a:xfrm>
            <a:off x="3397348" y="2110155"/>
            <a:ext cx="6668086" cy="1938992"/>
          </a:xfrm>
          <a:prstGeom prst="rect">
            <a:avLst/>
          </a:prstGeom>
          <a:noFill/>
        </p:spPr>
        <p:txBody>
          <a:bodyPr wrap="square" rtlCol="0">
            <a:spAutoFit/>
          </a:bodyPr>
          <a:lstStyle/>
          <a:p>
            <a:r>
              <a:rPr lang="ja-JP" altLang="en-US" sz="2400" dirty="0"/>
              <a:t>１、</a:t>
            </a:r>
            <a:r>
              <a:rPr lang="en-US" altLang="ja-JP" sz="2400" dirty="0"/>
              <a:t>Swin</a:t>
            </a:r>
            <a:r>
              <a:rPr lang="ja-JP" altLang="en-US" sz="2400" dirty="0"/>
              <a:t>ー</a:t>
            </a:r>
            <a:r>
              <a:rPr lang="en-US" altLang="ja-JP" sz="2400" dirty="0"/>
              <a:t>Transformer</a:t>
            </a:r>
            <a:r>
              <a:rPr lang="ja-JP" altLang="en-US" sz="2400" dirty="0"/>
              <a:t>をモデル化</a:t>
            </a:r>
            <a:endParaRPr lang="en-US" altLang="ja-JP" sz="2400" dirty="0"/>
          </a:p>
          <a:p>
            <a:endParaRPr lang="en-US" altLang="zh-CN" sz="2400" dirty="0"/>
          </a:p>
          <a:p>
            <a:r>
              <a:rPr lang="ja-JP" altLang="en-US" sz="2400" dirty="0"/>
              <a:t>２、モデルを構築</a:t>
            </a:r>
            <a:endParaRPr lang="en-US" altLang="ja-JP" sz="2400" dirty="0"/>
          </a:p>
          <a:p>
            <a:endParaRPr lang="en-US" altLang="zh-CN" sz="2400" dirty="0"/>
          </a:p>
          <a:p>
            <a:r>
              <a:rPr lang="ja-JP" altLang="en-US" sz="2400" dirty="0"/>
              <a:t>３、モデルを最適化</a:t>
            </a:r>
            <a:endParaRPr lang="en-US" altLang="ja-JP" sz="2400" dirty="0"/>
          </a:p>
        </p:txBody>
      </p:sp>
    </p:spTree>
    <p:extLst>
      <p:ext uri="{BB962C8B-B14F-4D97-AF65-F5344CB8AC3E}">
        <p14:creationId xmlns:p14="http://schemas.microsoft.com/office/powerpoint/2010/main" val="180752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21A92B-A048-81B2-EC39-45969FD1151E}"/>
              </a:ext>
            </a:extLst>
          </p:cNvPr>
          <p:cNvSpPr>
            <a:spLocks noGrp="1"/>
          </p:cNvSpPr>
          <p:nvPr>
            <p:ph type="ctrTitle"/>
          </p:nvPr>
        </p:nvSpPr>
        <p:spPr>
          <a:xfrm>
            <a:off x="1507067" y="2320718"/>
            <a:ext cx="9177866" cy="1546400"/>
          </a:xfrm>
        </p:spPr>
        <p:txBody>
          <a:bodyPr/>
          <a:lstStyle/>
          <a:p>
            <a:r>
              <a:rPr kumimoji="1" lang="ja-JP" altLang="en-US" sz="4800" dirty="0"/>
              <a:t>ご清聴ありがとうございました。</a:t>
            </a:r>
          </a:p>
        </p:txBody>
      </p:sp>
    </p:spTree>
    <p:extLst>
      <p:ext uri="{BB962C8B-B14F-4D97-AF65-F5344CB8AC3E}">
        <p14:creationId xmlns:p14="http://schemas.microsoft.com/office/powerpoint/2010/main" val="596499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18334</TotalTime>
  <Words>3016</Words>
  <Application>Microsoft Office PowerPoint</Application>
  <PresentationFormat>宽屏</PresentationFormat>
  <Paragraphs>244</Paragraphs>
  <Slides>17</Slides>
  <Notes>17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MS Mincho</vt:lpstr>
      <vt:lpstr>MS PMincho</vt:lpstr>
      <vt:lpstr>Source Sans Pro</vt: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自己紹介</dc:title>
  <dc:creator>ドン 凛</dc:creator>
  <cp:lastModifiedBy>ドン 凛</cp:lastModifiedBy>
  <cp:revision>98</cp:revision>
  <dcterms:created xsi:type="dcterms:W3CDTF">2023-10-26T04:30:33Z</dcterms:created>
  <dcterms:modified xsi:type="dcterms:W3CDTF">2024-04-24T05:12:23Z</dcterms:modified>
</cp:coreProperties>
</file>