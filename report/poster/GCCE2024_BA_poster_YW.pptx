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
  </p:notesMasterIdLst>
  <p:sldIdLst>
    <p:sldId id="256" r:id="rId2"/>
  </p:sldIdLst>
  <p:sldSz cx="28803600" cy="41405175"/>
  <p:notesSz cx="6735763" cy="9866313"/>
  <p:embeddedFontLst>
    <p:embeddedFont>
      <p:font typeface="Segoe UI Semibold" panose="020B0702040204020203" pitchFamily="34" charset="0"/>
      <p:bold r:id="rId4"/>
      <p:boldItalic r:id="rId5"/>
    </p:embeddedFont>
    <p:embeddedFont>
      <p:font typeface="宋体" panose="02010600030101010101" pitchFamily="2" charset="-122"/>
      <p:regular r:id="rId6"/>
    </p:embeddedFont>
    <p:embeddedFont>
      <p:font typeface="Calibri" panose="020F0502020204030204" pitchFamily="34" charset="0"/>
      <p:regular r:id="rId7"/>
      <p:bold r:id="rId8"/>
      <p:italic r:id="rId9"/>
      <p:boldItalic r:id="rId10"/>
    </p:embeddedFont>
    <p:embeddedFont>
      <p:font typeface="Hiragino Maru Gothic Pro" panose="020B0600070205080204" charset="-128"/>
      <p:regular r:id="rId11"/>
    </p:embeddedFont>
  </p:embeddedFontLst>
  <p:defaultTextStyle>
    <a:defPPr>
      <a:defRPr lang="ja-JP"/>
    </a:defPPr>
    <a:lvl1pPr marL="0" algn="l" defTabSz="4010660" rtl="0" eaLnBrk="1" latinLnBrk="0" hangingPunct="1">
      <a:defRPr kumimoji="1" sz="7900" kern="1200">
        <a:solidFill>
          <a:schemeClr val="tx1"/>
        </a:solidFill>
        <a:latin typeface="+mn-lt"/>
        <a:ea typeface="+mn-ea"/>
        <a:cs typeface="+mn-cs"/>
      </a:defRPr>
    </a:lvl1pPr>
    <a:lvl2pPr marL="2005330" algn="l" defTabSz="4010660" rtl="0" eaLnBrk="1" latinLnBrk="0" hangingPunct="1">
      <a:defRPr kumimoji="1" sz="7900" kern="1200">
        <a:solidFill>
          <a:schemeClr val="tx1"/>
        </a:solidFill>
        <a:latin typeface="+mn-lt"/>
        <a:ea typeface="+mn-ea"/>
        <a:cs typeface="+mn-cs"/>
      </a:defRPr>
    </a:lvl2pPr>
    <a:lvl3pPr marL="4010660" algn="l" defTabSz="4010660" rtl="0" eaLnBrk="1" latinLnBrk="0" hangingPunct="1">
      <a:defRPr kumimoji="1" sz="7900" kern="1200">
        <a:solidFill>
          <a:schemeClr val="tx1"/>
        </a:solidFill>
        <a:latin typeface="+mn-lt"/>
        <a:ea typeface="+mn-ea"/>
        <a:cs typeface="+mn-cs"/>
      </a:defRPr>
    </a:lvl3pPr>
    <a:lvl4pPr marL="6015990" algn="l" defTabSz="4010660" rtl="0" eaLnBrk="1" latinLnBrk="0" hangingPunct="1">
      <a:defRPr kumimoji="1" sz="7900" kern="1200">
        <a:solidFill>
          <a:schemeClr val="tx1"/>
        </a:solidFill>
        <a:latin typeface="+mn-lt"/>
        <a:ea typeface="+mn-ea"/>
        <a:cs typeface="+mn-cs"/>
      </a:defRPr>
    </a:lvl4pPr>
    <a:lvl5pPr marL="8021320" algn="l" defTabSz="4010660" rtl="0" eaLnBrk="1" latinLnBrk="0" hangingPunct="1">
      <a:defRPr kumimoji="1" sz="7900" kern="1200">
        <a:solidFill>
          <a:schemeClr val="tx1"/>
        </a:solidFill>
        <a:latin typeface="+mn-lt"/>
        <a:ea typeface="+mn-ea"/>
        <a:cs typeface="+mn-cs"/>
      </a:defRPr>
    </a:lvl5pPr>
    <a:lvl6pPr marL="10026650" algn="l" defTabSz="4010660" rtl="0" eaLnBrk="1" latinLnBrk="0" hangingPunct="1">
      <a:defRPr kumimoji="1" sz="7900" kern="1200">
        <a:solidFill>
          <a:schemeClr val="tx1"/>
        </a:solidFill>
        <a:latin typeface="+mn-lt"/>
        <a:ea typeface="+mn-ea"/>
        <a:cs typeface="+mn-cs"/>
      </a:defRPr>
    </a:lvl6pPr>
    <a:lvl7pPr marL="12031345" algn="l" defTabSz="4010660" rtl="0" eaLnBrk="1" latinLnBrk="0" hangingPunct="1">
      <a:defRPr kumimoji="1" sz="7900" kern="1200">
        <a:solidFill>
          <a:schemeClr val="tx1"/>
        </a:solidFill>
        <a:latin typeface="+mn-lt"/>
        <a:ea typeface="+mn-ea"/>
        <a:cs typeface="+mn-cs"/>
      </a:defRPr>
    </a:lvl7pPr>
    <a:lvl8pPr marL="14036675" algn="l" defTabSz="4010660" rtl="0" eaLnBrk="1" latinLnBrk="0" hangingPunct="1">
      <a:defRPr kumimoji="1" sz="7900" kern="1200">
        <a:solidFill>
          <a:schemeClr val="tx1"/>
        </a:solidFill>
        <a:latin typeface="+mn-lt"/>
        <a:ea typeface="+mn-ea"/>
        <a:cs typeface="+mn-cs"/>
      </a:defRPr>
    </a:lvl8pPr>
    <a:lvl9pPr marL="16042005" algn="l" defTabSz="4010660" rtl="0" eaLnBrk="1" latinLnBrk="0" hangingPunct="1">
      <a:defRPr kumimoji="1" sz="79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F66FF"/>
    <a:srgbClr val="B9B9B9"/>
    <a:srgbClr val="028812"/>
    <a:srgbClr val="A1D99C"/>
    <a:srgbClr val="60B46A"/>
    <a:srgbClr val="CFDB00"/>
    <a:srgbClr val="85E076"/>
    <a:srgbClr val="ECF363"/>
    <a:srgbClr val="A7AF0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showGuides="1">
      <p:cViewPr>
        <p:scale>
          <a:sx n="30" d="100"/>
          <a:sy n="30" d="100"/>
        </p:scale>
        <p:origin x="2700"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tableStyles" Target="tableStyles.xml"/><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18693" cy="49501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15194" y="0"/>
            <a:ext cx="2918693" cy="495013"/>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2024/10/25</a:t>
            </a:fld>
            <a:endParaRPr lang="zh-CN" altLang="en-US"/>
          </a:p>
        </p:txBody>
      </p:sp>
      <p:sp>
        <p:nvSpPr>
          <p:cNvPr id="4" name="幻灯片图像占位符 3"/>
          <p:cNvSpPr>
            <a:spLocks noGrp="1" noRot="1" noChangeAspect="1"/>
          </p:cNvSpPr>
          <p:nvPr>
            <p:ph type="sldImg" idx="2"/>
          </p:nvPr>
        </p:nvSpPr>
        <p:spPr>
          <a:xfrm>
            <a:off x="407924" y="1233249"/>
            <a:ext cx="5919597" cy="3329773"/>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3545" y="4748010"/>
            <a:ext cx="5388356" cy="3884736"/>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370983"/>
            <a:ext cx="2918693" cy="495012"/>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15194" y="9370983"/>
            <a:ext cx="2918693" cy="495012"/>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2209800" y="1233488"/>
            <a:ext cx="2316163" cy="3328987"/>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2160270" y="12862450"/>
            <a:ext cx="24483060" cy="8875276"/>
          </a:xfrm>
        </p:spPr>
        <p:txBody>
          <a:bodyPr/>
          <a:lstStyle/>
          <a:p>
            <a:r>
              <a:rPr kumimoji="1" lang="ja-JP" altLang="en-US"/>
              <a:t>マスター タイトルの書式設定</a:t>
            </a:r>
          </a:p>
        </p:txBody>
      </p:sp>
      <p:sp>
        <p:nvSpPr>
          <p:cNvPr id="3" name="サブタイトル 2"/>
          <p:cNvSpPr>
            <a:spLocks noGrp="1"/>
          </p:cNvSpPr>
          <p:nvPr>
            <p:ph type="subTitle" idx="1"/>
          </p:nvPr>
        </p:nvSpPr>
        <p:spPr>
          <a:xfrm>
            <a:off x="4320540" y="23462932"/>
            <a:ext cx="20162520" cy="10581322"/>
          </a:xfrm>
        </p:spPr>
        <p:txBody>
          <a:bodyPr/>
          <a:lstStyle>
            <a:lvl1pPr marL="0" indent="0" algn="ctr">
              <a:buNone/>
              <a:defRPr>
                <a:solidFill>
                  <a:schemeClr val="tx1">
                    <a:tint val="75000"/>
                  </a:schemeClr>
                </a:solidFill>
              </a:defRPr>
            </a:lvl1pPr>
            <a:lvl2pPr marL="2005330" indent="0" algn="ctr">
              <a:buNone/>
              <a:defRPr>
                <a:solidFill>
                  <a:schemeClr val="tx1">
                    <a:tint val="75000"/>
                  </a:schemeClr>
                </a:solidFill>
              </a:defRPr>
            </a:lvl2pPr>
            <a:lvl3pPr marL="4010660" indent="0" algn="ctr">
              <a:buNone/>
              <a:defRPr>
                <a:solidFill>
                  <a:schemeClr val="tx1">
                    <a:tint val="75000"/>
                  </a:schemeClr>
                </a:solidFill>
              </a:defRPr>
            </a:lvl3pPr>
            <a:lvl4pPr marL="6015990" indent="0" algn="ctr">
              <a:buNone/>
              <a:defRPr>
                <a:solidFill>
                  <a:schemeClr val="tx1">
                    <a:tint val="75000"/>
                  </a:schemeClr>
                </a:solidFill>
              </a:defRPr>
            </a:lvl4pPr>
            <a:lvl5pPr marL="8021320" indent="0" algn="ctr">
              <a:buNone/>
              <a:defRPr>
                <a:solidFill>
                  <a:schemeClr val="tx1">
                    <a:tint val="75000"/>
                  </a:schemeClr>
                </a:solidFill>
              </a:defRPr>
            </a:lvl5pPr>
            <a:lvl6pPr marL="10026650" indent="0" algn="ctr">
              <a:buNone/>
              <a:defRPr>
                <a:solidFill>
                  <a:schemeClr val="tx1">
                    <a:tint val="75000"/>
                  </a:schemeClr>
                </a:solidFill>
              </a:defRPr>
            </a:lvl6pPr>
            <a:lvl7pPr marL="12031980" indent="0" algn="ctr">
              <a:buNone/>
              <a:defRPr>
                <a:solidFill>
                  <a:schemeClr val="tx1">
                    <a:tint val="75000"/>
                  </a:schemeClr>
                </a:solidFill>
              </a:defRPr>
            </a:lvl7pPr>
            <a:lvl8pPr marL="14037310" indent="0" algn="ctr">
              <a:buNone/>
              <a:defRPr>
                <a:solidFill>
                  <a:schemeClr val="tx1">
                    <a:tint val="75000"/>
                  </a:schemeClr>
                </a:solidFill>
              </a:defRPr>
            </a:lvl8pPr>
            <a:lvl9pPr marL="16042640" indent="0" algn="ctr">
              <a:buNone/>
              <a:defRPr>
                <a:solidFill>
                  <a:schemeClr val="tx1">
                    <a:tint val="75000"/>
                  </a:schemeClr>
                </a:solidFill>
              </a:defRPr>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E79983CC-C5CD-4660-8EFA-84CE1102611A}" type="datetimeFigureOut">
              <a:rPr kumimoji="1" lang="ja-JP" altLang="en-US" smtClean="0"/>
              <a:t>2024/10/25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53ADCC8-0883-400D-AF1A-E5CCD24E4989}" type="slidenum">
              <a:rPr kumimoji="1" lang="ja-JP" altLang="en-US" smtClean="0"/>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E79983CC-C5CD-4660-8EFA-84CE1102611A}" type="datetimeFigureOut">
              <a:rPr kumimoji="1" lang="ja-JP" altLang="en-US" smtClean="0"/>
              <a:t>2024/10/25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53ADCC8-0883-400D-AF1A-E5CCD24E4989}" type="slidenum">
              <a:rPr kumimoji="1" lang="ja-JP" altLang="en-US" smtClean="0"/>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2275286" y="26606668"/>
            <a:ext cx="24483060" cy="8223528"/>
          </a:xfrm>
        </p:spPr>
        <p:txBody>
          <a:bodyPr anchor="t"/>
          <a:lstStyle>
            <a:lvl1pPr algn="l">
              <a:defRPr sz="17600" b="1" cap="all"/>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2275286" y="17549282"/>
            <a:ext cx="24483060" cy="9057379"/>
          </a:xfrm>
        </p:spPr>
        <p:txBody>
          <a:bodyPr anchor="b"/>
          <a:lstStyle>
            <a:lvl1pPr marL="0" indent="0">
              <a:buNone/>
              <a:defRPr sz="8700">
                <a:solidFill>
                  <a:schemeClr val="tx1">
                    <a:tint val="75000"/>
                  </a:schemeClr>
                </a:solidFill>
              </a:defRPr>
            </a:lvl1pPr>
            <a:lvl2pPr marL="2005330" indent="0">
              <a:buNone/>
              <a:defRPr sz="7900">
                <a:solidFill>
                  <a:schemeClr val="tx1">
                    <a:tint val="75000"/>
                  </a:schemeClr>
                </a:solidFill>
              </a:defRPr>
            </a:lvl2pPr>
            <a:lvl3pPr marL="4010660" indent="0">
              <a:buNone/>
              <a:defRPr sz="7000">
                <a:solidFill>
                  <a:schemeClr val="tx1">
                    <a:tint val="75000"/>
                  </a:schemeClr>
                </a:solidFill>
              </a:defRPr>
            </a:lvl3pPr>
            <a:lvl4pPr marL="6015990" indent="0">
              <a:buNone/>
              <a:defRPr sz="6100">
                <a:solidFill>
                  <a:schemeClr val="tx1">
                    <a:tint val="75000"/>
                  </a:schemeClr>
                </a:solidFill>
              </a:defRPr>
            </a:lvl4pPr>
            <a:lvl5pPr marL="8021320" indent="0">
              <a:buNone/>
              <a:defRPr sz="6100">
                <a:solidFill>
                  <a:schemeClr val="tx1">
                    <a:tint val="75000"/>
                  </a:schemeClr>
                </a:solidFill>
              </a:defRPr>
            </a:lvl5pPr>
            <a:lvl6pPr marL="10026650" indent="0">
              <a:buNone/>
              <a:defRPr sz="6100">
                <a:solidFill>
                  <a:schemeClr val="tx1">
                    <a:tint val="75000"/>
                  </a:schemeClr>
                </a:solidFill>
              </a:defRPr>
            </a:lvl6pPr>
            <a:lvl7pPr marL="12031980" indent="0">
              <a:buNone/>
              <a:defRPr sz="6100">
                <a:solidFill>
                  <a:schemeClr val="tx1">
                    <a:tint val="75000"/>
                  </a:schemeClr>
                </a:solidFill>
              </a:defRPr>
            </a:lvl7pPr>
            <a:lvl8pPr marL="14037310" indent="0">
              <a:buNone/>
              <a:defRPr sz="6100">
                <a:solidFill>
                  <a:schemeClr val="tx1">
                    <a:tint val="75000"/>
                  </a:schemeClr>
                </a:solidFill>
              </a:defRPr>
            </a:lvl8pPr>
            <a:lvl9pPr marL="16042640" indent="0">
              <a:buNone/>
              <a:defRPr sz="61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E79983CC-C5CD-4660-8EFA-84CE1102611A}" type="datetimeFigureOut">
              <a:rPr kumimoji="1" lang="ja-JP" altLang="en-US" smtClean="0"/>
              <a:t>2024/10/25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53ADCC8-0883-400D-AF1A-E5CCD24E4989}" type="slidenum">
              <a:rPr kumimoji="1" lang="ja-JP" altLang="en-US" smtClean="0"/>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4770601" y="60305871"/>
            <a:ext cx="42680336" cy="170566318"/>
          </a:xfrm>
        </p:spPr>
        <p:txBody>
          <a:bodyPr/>
          <a:lstStyle>
            <a:lvl1pPr>
              <a:defRPr sz="12300"/>
            </a:lvl1pPr>
            <a:lvl2pPr>
              <a:defRPr sz="10600"/>
            </a:lvl2pPr>
            <a:lvl3pPr>
              <a:defRPr sz="8700"/>
            </a:lvl3pPr>
            <a:lvl4pPr>
              <a:defRPr sz="7900"/>
            </a:lvl4pPr>
            <a:lvl5pPr>
              <a:defRPr sz="7900"/>
            </a:lvl5pPr>
            <a:lvl6pPr>
              <a:defRPr sz="7900"/>
            </a:lvl6pPr>
            <a:lvl7pPr>
              <a:defRPr sz="7900"/>
            </a:lvl7pPr>
            <a:lvl8pPr>
              <a:defRPr sz="7900"/>
            </a:lvl8pPr>
            <a:lvl9pPr>
              <a:defRPr sz="79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47930992" y="60305871"/>
            <a:ext cx="42680333" cy="170566318"/>
          </a:xfrm>
        </p:spPr>
        <p:txBody>
          <a:bodyPr/>
          <a:lstStyle>
            <a:lvl1pPr>
              <a:defRPr sz="12300"/>
            </a:lvl1pPr>
            <a:lvl2pPr>
              <a:defRPr sz="10600"/>
            </a:lvl2pPr>
            <a:lvl3pPr>
              <a:defRPr sz="8700"/>
            </a:lvl3pPr>
            <a:lvl4pPr>
              <a:defRPr sz="7900"/>
            </a:lvl4pPr>
            <a:lvl5pPr>
              <a:defRPr sz="7900"/>
            </a:lvl5pPr>
            <a:lvl6pPr>
              <a:defRPr sz="7900"/>
            </a:lvl6pPr>
            <a:lvl7pPr>
              <a:defRPr sz="7900"/>
            </a:lvl7pPr>
            <a:lvl8pPr>
              <a:defRPr sz="7900"/>
            </a:lvl8pPr>
            <a:lvl9pPr>
              <a:defRPr sz="79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E79983CC-C5CD-4660-8EFA-84CE1102611A}" type="datetimeFigureOut">
              <a:rPr kumimoji="1" lang="ja-JP" altLang="en-US" smtClean="0"/>
              <a:t>2024/10/25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53ADCC8-0883-400D-AF1A-E5CCD24E4989}" type="slidenum">
              <a:rPr kumimoji="1" lang="ja-JP" altLang="en-US" smtClean="0"/>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1440180" y="1658127"/>
            <a:ext cx="25923240" cy="6900862"/>
          </a:xfrm>
        </p:spPr>
        <p:txBody>
          <a:bodyPr/>
          <a:lstStyle>
            <a:lvl1pPr>
              <a:defRPr/>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1440180" y="9268246"/>
            <a:ext cx="12726592" cy="3862563"/>
          </a:xfrm>
        </p:spPr>
        <p:txBody>
          <a:bodyPr anchor="b"/>
          <a:lstStyle>
            <a:lvl1pPr marL="0" indent="0">
              <a:buNone/>
              <a:defRPr sz="10600" b="1"/>
            </a:lvl1pPr>
            <a:lvl2pPr marL="2005330" indent="0">
              <a:buNone/>
              <a:defRPr sz="8700" b="1"/>
            </a:lvl2pPr>
            <a:lvl3pPr marL="4010660" indent="0">
              <a:buNone/>
              <a:defRPr sz="7900" b="1"/>
            </a:lvl3pPr>
            <a:lvl4pPr marL="6015990" indent="0">
              <a:buNone/>
              <a:defRPr sz="7000" b="1"/>
            </a:lvl4pPr>
            <a:lvl5pPr marL="8021320" indent="0">
              <a:buNone/>
              <a:defRPr sz="7000" b="1"/>
            </a:lvl5pPr>
            <a:lvl6pPr marL="10026650" indent="0">
              <a:buNone/>
              <a:defRPr sz="7000" b="1"/>
            </a:lvl6pPr>
            <a:lvl7pPr marL="12031980" indent="0">
              <a:buNone/>
              <a:defRPr sz="7000" b="1"/>
            </a:lvl7pPr>
            <a:lvl8pPr marL="14037310" indent="0">
              <a:buNone/>
              <a:defRPr sz="7000" b="1"/>
            </a:lvl8pPr>
            <a:lvl9pPr marL="16042640" indent="0">
              <a:buNone/>
              <a:defRPr sz="70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1440180" y="13130808"/>
            <a:ext cx="12726592" cy="23855901"/>
          </a:xfrm>
        </p:spPr>
        <p:txBody>
          <a:bodyPr/>
          <a:lstStyle>
            <a:lvl1pPr>
              <a:defRPr sz="10600"/>
            </a:lvl1pPr>
            <a:lvl2pPr>
              <a:defRPr sz="8700"/>
            </a:lvl2pPr>
            <a:lvl3pPr>
              <a:defRPr sz="7900"/>
            </a:lvl3pPr>
            <a:lvl4pPr>
              <a:defRPr sz="7000"/>
            </a:lvl4pPr>
            <a:lvl5pPr>
              <a:defRPr sz="7000"/>
            </a:lvl5pPr>
            <a:lvl6pPr>
              <a:defRPr sz="7000"/>
            </a:lvl6pPr>
            <a:lvl7pPr>
              <a:defRPr sz="7000"/>
            </a:lvl7pPr>
            <a:lvl8pPr>
              <a:defRPr sz="7000"/>
            </a:lvl8pPr>
            <a:lvl9pPr>
              <a:defRPr sz="7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14631830" y="9268246"/>
            <a:ext cx="12731592" cy="3862563"/>
          </a:xfrm>
        </p:spPr>
        <p:txBody>
          <a:bodyPr anchor="b"/>
          <a:lstStyle>
            <a:lvl1pPr marL="0" indent="0">
              <a:buNone/>
              <a:defRPr sz="10600" b="1"/>
            </a:lvl1pPr>
            <a:lvl2pPr marL="2005330" indent="0">
              <a:buNone/>
              <a:defRPr sz="8700" b="1"/>
            </a:lvl2pPr>
            <a:lvl3pPr marL="4010660" indent="0">
              <a:buNone/>
              <a:defRPr sz="7900" b="1"/>
            </a:lvl3pPr>
            <a:lvl4pPr marL="6015990" indent="0">
              <a:buNone/>
              <a:defRPr sz="7000" b="1"/>
            </a:lvl4pPr>
            <a:lvl5pPr marL="8021320" indent="0">
              <a:buNone/>
              <a:defRPr sz="7000" b="1"/>
            </a:lvl5pPr>
            <a:lvl6pPr marL="10026650" indent="0">
              <a:buNone/>
              <a:defRPr sz="7000" b="1"/>
            </a:lvl6pPr>
            <a:lvl7pPr marL="12031980" indent="0">
              <a:buNone/>
              <a:defRPr sz="7000" b="1"/>
            </a:lvl7pPr>
            <a:lvl8pPr marL="14037310" indent="0">
              <a:buNone/>
              <a:defRPr sz="7000" b="1"/>
            </a:lvl8pPr>
            <a:lvl9pPr marL="16042640" indent="0">
              <a:buNone/>
              <a:defRPr sz="70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14631830" y="13130808"/>
            <a:ext cx="12731592" cy="23855901"/>
          </a:xfrm>
        </p:spPr>
        <p:txBody>
          <a:bodyPr/>
          <a:lstStyle>
            <a:lvl1pPr>
              <a:defRPr sz="10600"/>
            </a:lvl1pPr>
            <a:lvl2pPr>
              <a:defRPr sz="8700"/>
            </a:lvl2pPr>
            <a:lvl3pPr>
              <a:defRPr sz="7900"/>
            </a:lvl3pPr>
            <a:lvl4pPr>
              <a:defRPr sz="7000"/>
            </a:lvl4pPr>
            <a:lvl5pPr>
              <a:defRPr sz="7000"/>
            </a:lvl5pPr>
            <a:lvl6pPr>
              <a:defRPr sz="7000"/>
            </a:lvl6pPr>
            <a:lvl7pPr>
              <a:defRPr sz="7000"/>
            </a:lvl7pPr>
            <a:lvl8pPr>
              <a:defRPr sz="7000"/>
            </a:lvl8pPr>
            <a:lvl9pPr>
              <a:defRPr sz="7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E79983CC-C5CD-4660-8EFA-84CE1102611A}" type="datetimeFigureOut">
              <a:rPr kumimoji="1" lang="ja-JP" altLang="en-US" smtClean="0"/>
              <a:t>2024/10/25</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353ADCC8-0883-400D-AF1A-E5CCD24E4989}" type="slidenum">
              <a:rPr kumimoji="1" lang="ja-JP" altLang="en-US" smtClean="0"/>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E79983CC-C5CD-4660-8EFA-84CE1102611A}" type="datetimeFigureOut">
              <a:rPr kumimoji="1" lang="ja-JP" altLang="en-US" smtClean="0"/>
              <a:t>2024/10/25</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353ADCC8-0883-400D-AF1A-E5CCD24E4989}" type="slidenum">
              <a:rPr kumimoji="1" lang="ja-JP" altLang="en-US" smtClean="0"/>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E79983CC-C5CD-4660-8EFA-84CE1102611A}" type="datetimeFigureOut">
              <a:rPr kumimoji="1" lang="ja-JP" altLang="en-US" smtClean="0"/>
              <a:t>2024/10/25</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353ADCC8-0883-400D-AF1A-E5CCD24E4989}" type="slidenum">
              <a:rPr kumimoji="1" lang="ja-JP" altLang="en-US" smtClean="0"/>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1440185" y="1648539"/>
            <a:ext cx="9476186" cy="7015877"/>
          </a:xfrm>
        </p:spPr>
        <p:txBody>
          <a:bodyPr anchor="b"/>
          <a:lstStyle>
            <a:lvl1pPr algn="l">
              <a:defRPr sz="8700" b="1"/>
            </a:lvl1pPr>
          </a:lstStyle>
          <a:p>
            <a:r>
              <a:rPr kumimoji="1" lang="ja-JP" altLang="en-US"/>
              <a:t>マスター タイトルの書式設定</a:t>
            </a:r>
          </a:p>
        </p:txBody>
      </p:sp>
      <p:sp>
        <p:nvSpPr>
          <p:cNvPr id="3" name="コンテンツ プレースホルダー 2"/>
          <p:cNvSpPr>
            <a:spLocks noGrp="1"/>
          </p:cNvSpPr>
          <p:nvPr>
            <p:ph idx="1"/>
          </p:nvPr>
        </p:nvSpPr>
        <p:spPr>
          <a:xfrm>
            <a:off x="11261408" y="1648548"/>
            <a:ext cx="16102012" cy="35338170"/>
          </a:xfrm>
        </p:spPr>
        <p:txBody>
          <a:bodyPr/>
          <a:lstStyle>
            <a:lvl1pPr>
              <a:defRPr sz="14000"/>
            </a:lvl1pPr>
            <a:lvl2pPr>
              <a:defRPr sz="12300"/>
            </a:lvl2pPr>
            <a:lvl3pPr>
              <a:defRPr sz="10600"/>
            </a:lvl3pPr>
            <a:lvl4pPr>
              <a:defRPr sz="8700"/>
            </a:lvl4pPr>
            <a:lvl5pPr>
              <a:defRPr sz="8700"/>
            </a:lvl5pPr>
            <a:lvl6pPr>
              <a:defRPr sz="8700"/>
            </a:lvl6pPr>
            <a:lvl7pPr>
              <a:defRPr sz="8700"/>
            </a:lvl7pPr>
            <a:lvl8pPr>
              <a:defRPr sz="8700"/>
            </a:lvl8pPr>
            <a:lvl9pPr>
              <a:defRPr sz="87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1440185" y="8664426"/>
            <a:ext cx="9476186" cy="28322293"/>
          </a:xfrm>
        </p:spPr>
        <p:txBody>
          <a:bodyPr/>
          <a:lstStyle>
            <a:lvl1pPr marL="0" indent="0">
              <a:buNone/>
              <a:defRPr sz="6100"/>
            </a:lvl1pPr>
            <a:lvl2pPr marL="2005330" indent="0">
              <a:buNone/>
              <a:defRPr sz="5300"/>
            </a:lvl2pPr>
            <a:lvl3pPr marL="4010660" indent="0">
              <a:buNone/>
              <a:defRPr sz="4400"/>
            </a:lvl3pPr>
            <a:lvl4pPr marL="6015990" indent="0">
              <a:buNone/>
              <a:defRPr sz="3900"/>
            </a:lvl4pPr>
            <a:lvl5pPr marL="8021320" indent="0">
              <a:buNone/>
              <a:defRPr sz="3900"/>
            </a:lvl5pPr>
            <a:lvl6pPr marL="10026650" indent="0">
              <a:buNone/>
              <a:defRPr sz="3900"/>
            </a:lvl6pPr>
            <a:lvl7pPr marL="12031980" indent="0">
              <a:buNone/>
              <a:defRPr sz="3900"/>
            </a:lvl7pPr>
            <a:lvl8pPr marL="14037310" indent="0">
              <a:buNone/>
              <a:defRPr sz="3900"/>
            </a:lvl8pPr>
            <a:lvl9pPr marL="16042640" indent="0">
              <a:buNone/>
              <a:defRPr sz="3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E79983CC-C5CD-4660-8EFA-84CE1102611A}" type="datetimeFigureOut">
              <a:rPr kumimoji="1" lang="ja-JP" altLang="en-US" smtClean="0"/>
              <a:t>2024/10/25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53ADCC8-0883-400D-AF1A-E5CCD24E4989}" type="slidenum">
              <a:rPr kumimoji="1" lang="ja-JP" altLang="en-US" smtClean="0"/>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5645708" y="28983623"/>
            <a:ext cx="17282160" cy="3421681"/>
          </a:xfrm>
        </p:spPr>
        <p:txBody>
          <a:bodyPr anchor="b"/>
          <a:lstStyle>
            <a:lvl1pPr algn="l">
              <a:defRPr sz="8700" b="1"/>
            </a:lvl1pPr>
          </a:lstStyle>
          <a:p>
            <a:r>
              <a:rPr kumimoji="1" lang="ja-JP" altLang="en-US"/>
              <a:t>マスター タイトルの書式設定</a:t>
            </a:r>
          </a:p>
        </p:txBody>
      </p:sp>
      <p:sp>
        <p:nvSpPr>
          <p:cNvPr id="3" name="図プレースホルダー 2"/>
          <p:cNvSpPr>
            <a:spLocks noGrp="1"/>
          </p:cNvSpPr>
          <p:nvPr>
            <p:ph type="pic" idx="1"/>
          </p:nvPr>
        </p:nvSpPr>
        <p:spPr>
          <a:xfrm>
            <a:off x="5645708" y="3699630"/>
            <a:ext cx="17282160" cy="24843105"/>
          </a:xfrm>
        </p:spPr>
        <p:txBody>
          <a:bodyPr/>
          <a:lstStyle>
            <a:lvl1pPr marL="0" indent="0">
              <a:buNone/>
              <a:defRPr sz="14000"/>
            </a:lvl1pPr>
            <a:lvl2pPr marL="2005330" indent="0">
              <a:buNone/>
              <a:defRPr sz="12300"/>
            </a:lvl2pPr>
            <a:lvl3pPr marL="4010660" indent="0">
              <a:buNone/>
              <a:defRPr sz="10600"/>
            </a:lvl3pPr>
            <a:lvl4pPr marL="6015990" indent="0">
              <a:buNone/>
              <a:defRPr sz="8700"/>
            </a:lvl4pPr>
            <a:lvl5pPr marL="8021320" indent="0">
              <a:buNone/>
              <a:defRPr sz="8700"/>
            </a:lvl5pPr>
            <a:lvl6pPr marL="10026650" indent="0">
              <a:buNone/>
              <a:defRPr sz="8700"/>
            </a:lvl6pPr>
            <a:lvl7pPr marL="12031980" indent="0">
              <a:buNone/>
              <a:defRPr sz="8700"/>
            </a:lvl7pPr>
            <a:lvl8pPr marL="14037310" indent="0">
              <a:buNone/>
              <a:defRPr sz="8700"/>
            </a:lvl8pPr>
            <a:lvl9pPr marL="16042640" indent="0">
              <a:buNone/>
              <a:defRPr sz="8700"/>
            </a:lvl9pPr>
          </a:lstStyle>
          <a:p>
            <a:endParaRPr kumimoji="1" lang="ja-JP" altLang="en-US"/>
          </a:p>
        </p:txBody>
      </p:sp>
      <p:sp>
        <p:nvSpPr>
          <p:cNvPr id="4" name="テキスト プレースホルダー 3"/>
          <p:cNvSpPr>
            <a:spLocks noGrp="1"/>
          </p:cNvSpPr>
          <p:nvPr>
            <p:ph type="body" sz="half" idx="2"/>
          </p:nvPr>
        </p:nvSpPr>
        <p:spPr>
          <a:xfrm>
            <a:off x="5645708" y="32405304"/>
            <a:ext cx="17282160" cy="4859354"/>
          </a:xfrm>
        </p:spPr>
        <p:txBody>
          <a:bodyPr/>
          <a:lstStyle>
            <a:lvl1pPr marL="0" indent="0">
              <a:buNone/>
              <a:defRPr sz="6100"/>
            </a:lvl1pPr>
            <a:lvl2pPr marL="2005330" indent="0">
              <a:buNone/>
              <a:defRPr sz="5300"/>
            </a:lvl2pPr>
            <a:lvl3pPr marL="4010660" indent="0">
              <a:buNone/>
              <a:defRPr sz="4400"/>
            </a:lvl3pPr>
            <a:lvl4pPr marL="6015990" indent="0">
              <a:buNone/>
              <a:defRPr sz="3900"/>
            </a:lvl4pPr>
            <a:lvl5pPr marL="8021320" indent="0">
              <a:buNone/>
              <a:defRPr sz="3900"/>
            </a:lvl5pPr>
            <a:lvl6pPr marL="10026650" indent="0">
              <a:buNone/>
              <a:defRPr sz="3900"/>
            </a:lvl6pPr>
            <a:lvl7pPr marL="12031980" indent="0">
              <a:buNone/>
              <a:defRPr sz="3900"/>
            </a:lvl7pPr>
            <a:lvl8pPr marL="14037310" indent="0">
              <a:buNone/>
              <a:defRPr sz="3900"/>
            </a:lvl8pPr>
            <a:lvl9pPr marL="16042640" indent="0">
              <a:buNone/>
              <a:defRPr sz="3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E79983CC-C5CD-4660-8EFA-84CE1102611A}" type="datetimeFigureOut">
              <a:rPr kumimoji="1" lang="ja-JP" altLang="en-US" smtClean="0"/>
              <a:t>2024/10/25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53ADCC8-0883-400D-AF1A-E5CCD24E4989}" type="slidenum">
              <a:rPr kumimoji="1" lang="ja-JP" altLang="en-US" smtClean="0"/>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E79983CC-C5CD-4660-8EFA-84CE1102611A}" type="datetimeFigureOut">
              <a:rPr kumimoji="1" lang="ja-JP" altLang="en-US" smtClean="0"/>
              <a:t>2024/10/25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53ADCC8-0883-400D-AF1A-E5CCD24E4989}" type="slidenum">
              <a:rPr kumimoji="1" lang="ja-JP" altLang="en-US" smtClean="0"/>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9153645" y="10351294"/>
            <a:ext cx="21457680" cy="220520895"/>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4770602" y="10351294"/>
            <a:ext cx="63902988" cy="220520895"/>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E79983CC-C5CD-4660-8EFA-84CE1102611A}" type="datetimeFigureOut">
              <a:rPr kumimoji="1" lang="ja-JP" altLang="en-US" smtClean="0"/>
              <a:t>2024/10/25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53ADCC8-0883-400D-AF1A-E5CCD24E4989}" type="slidenum">
              <a:rPr kumimoji="1" lang="ja-JP" altLang="en-US" smtClean="0"/>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1440180" y="1658127"/>
            <a:ext cx="25923240" cy="6900862"/>
          </a:xfrm>
          <a:prstGeom prst="rect">
            <a:avLst/>
          </a:prstGeom>
        </p:spPr>
        <p:txBody>
          <a:bodyPr vert="horz" lIns="401067" tIns="200533" rIns="401067" bIns="200533"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1440180" y="9661216"/>
            <a:ext cx="25923240" cy="27325502"/>
          </a:xfrm>
          <a:prstGeom prst="rect">
            <a:avLst/>
          </a:prstGeom>
        </p:spPr>
        <p:txBody>
          <a:bodyPr vert="horz" lIns="401067" tIns="200533" rIns="401067" bIns="200533"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1440180" y="38376472"/>
            <a:ext cx="6720840" cy="2204443"/>
          </a:xfrm>
          <a:prstGeom prst="rect">
            <a:avLst/>
          </a:prstGeom>
        </p:spPr>
        <p:txBody>
          <a:bodyPr vert="horz" lIns="401067" tIns="200533" rIns="401067" bIns="200533" rtlCol="0" anchor="ctr"/>
          <a:lstStyle>
            <a:lvl1pPr algn="l">
              <a:defRPr sz="5300">
                <a:solidFill>
                  <a:schemeClr val="tx1">
                    <a:tint val="75000"/>
                  </a:schemeClr>
                </a:solidFill>
              </a:defRPr>
            </a:lvl1pPr>
          </a:lstStyle>
          <a:p>
            <a:fld id="{E79983CC-C5CD-4660-8EFA-84CE1102611A}" type="datetimeFigureOut">
              <a:rPr kumimoji="1" lang="ja-JP" altLang="en-US" smtClean="0"/>
              <a:t>2024/10/25</a:t>
            </a:fld>
            <a:endParaRPr kumimoji="1" lang="ja-JP" altLang="en-US"/>
          </a:p>
        </p:txBody>
      </p:sp>
      <p:sp>
        <p:nvSpPr>
          <p:cNvPr id="5" name="フッター プレースホルダー 4"/>
          <p:cNvSpPr>
            <a:spLocks noGrp="1"/>
          </p:cNvSpPr>
          <p:nvPr>
            <p:ph type="ftr" sz="quarter" idx="3"/>
          </p:nvPr>
        </p:nvSpPr>
        <p:spPr>
          <a:xfrm>
            <a:off x="9841230" y="38376472"/>
            <a:ext cx="9121140" cy="2204443"/>
          </a:xfrm>
          <a:prstGeom prst="rect">
            <a:avLst/>
          </a:prstGeom>
        </p:spPr>
        <p:txBody>
          <a:bodyPr vert="horz" lIns="401067" tIns="200533" rIns="401067" bIns="200533" rtlCol="0" anchor="ctr"/>
          <a:lstStyle>
            <a:lvl1pPr algn="ctr">
              <a:defRPr sz="53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20642580" y="38376472"/>
            <a:ext cx="6720840" cy="2204443"/>
          </a:xfrm>
          <a:prstGeom prst="rect">
            <a:avLst/>
          </a:prstGeom>
        </p:spPr>
        <p:txBody>
          <a:bodyPr vert="horz" lIns="401067" tIns="200533" rIns="401067" bIns="200533" rtlCol="0" anchor="ctr"/>
          <a:lstStyle>
            <a:lvl1pPr algn="r">
              <a:defRPr sz="5300">
                <a:solidFill>
                  <a:schemeClr val="tx1">
                    <a:tint val="75000"/>
                  </a:schemeClr>
                </a:solidFill>
              </a:defRPr>
            </a:lvl1pPr>
          </a:lstStyle>
          <a:p>
            <a:fld id="{353ADCC8-0883-400D-AF1A-E5CCD24E4989}"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010660" rtl="0" eaLnBrk="1" latinLnBrk="0" hangingPunct="1">
        <a:spcBef>
          <a:spcPct val="0"/>
        </a:spcBef>
        <a:buNone/>
        <a:defRPr kumimoji="1" sz="19300" kern="1200">
          <a:solidFill>
            <a:schemeClr val="tx1"/>
          </a:solidFill>
          <a:latin typeface="+mj-lt"/>
          <a:ea typeface="+mj-ea"/>
          <a:cs typeface="+mj-cs"/>
        </a:defRPr>
      </a:lvl1pPr>
    </p:titleStyle>
    <p:bodyStyle>
      <a:lvl1pPr marL="1504315" indent="-1504315" algn="l" defTabSz="4010660" rtl="0" eaLnBrk="1" latinLnBrk="0" hangingPunct="1">
        <a:spcBef>
          <a:spcPct val="20000"/>
        </a:spcBef>
        <a:buFont typeface="Arial" panose="020B0604020202090204" pitchFamily="34" charset="0"/>
        <a:buChar char="•"/>
        <a:defRPr kumimoji="1" sz="14000" kern="1200">
          <a:solidFill>
            <a:schemeClr val="tx1"/>
          </a:solidFill>
          <a:latin typeface="+mn-lt"/>
          <a:ea typeface="+mn-ea"/>
          <a:cs typeface="+mn-cs"/>
        </a:defRPr>
      </a:lvl1pPr>
      <a:lvl2pPr marL="3258820" indent="-1253490" algn="l" defTabSz="4010660" rtl="0" eaLnBrk="1" latinLnBrk="0" hangingPunct="1">
        <a:spcBef>
          <a:spcPct val="20000"/>
        </a:spcBef>
        <a:buFont typeface="Arial" panose="020B0604020202090204" pitchFamily="34" charset="0"/>
        <a:buChar char="–"/>
        <a:defRPr kumimoji="1" sz="12300" kern="1200">
          <a:solidFill>
            <a:schemeClr val="tx1"/>
          </a:solidFill>
          <a:latin typeface="+mn-lt"/>
          <a:ea typeface="+mn-ea"/>
          <a:cs typeface="+mn-cs"/>
        </a:defRPr>
      </a:lvl2pPr>
      <a:lvl3pPr marL="5013325" indent="-1002665" algn="l" defTabSz="4010660" rtl="0" eaLnBrk="1" latinLnBrk="0" hangingPunct="1">
        <a:spcBef>
          <a:spcPct val="20000"/>
        </a:spcBef>
        <a:buFont typeface="Arial" panose="020B0604020202090204" pitchFamily="34" charset="0"/>
        <a:buChar char="•"/>
        <a:defRPr kumimoji="1" sz="10600" kern="1200">
          <a:solidFill>
            <a:schemeClr val="tx1"/>
          </a:solidFill>
          <a:latin typeface="+mn-lt"/>
          <a:ea typeface="+mn-ea"/>
          <a:cs typeface="+mn-cs"/>
        </a:defRPr>
      </a:lvl3pPr>
      <a:lvl4pPr marL="7018655" indent="-1002665" algn="l" defTabSz="4010660" rtl="0" eaLnBrk="1" latinLnBrk="0" hangingPunct="1">
        <a:spcBef>
          <a:spcPct val="20000"/>
        </a:spcBef>
        <a:buFont typeface="Arial" panose="020B0604020202090204" pitchFamily="34" charset="0"/>
        <a:buChar char="–"/>
        <a:defRPr kumimoji="1" sz="8700" kern="1200">
          <a:solidFill>
            <a:schemeClr val="tx1"/>
          </a:solidFill>
          <a:latin typeface="+mn-lt"/>
          <a:ea typeface="+mn-ea"/>
          <a:cs typeface="+mn-cs"/>
        </a:defRPr>
      </a:lvl4pPr>
      <a:lvl5pPr marL="9023985" indent="-1002665" algn="l" defTabSz="4010660" rtl="0" eaLnBrk="1" latinLnBrk="0" hangingPunct="1">
        <a:spcBef>
          <a:spcPct val="20000"/>
        </a:spcBef>
        <a:buFont typeface="Arial" panose="020B0604020202090204" pitchFamily="34" charset="0"/>
        <a:buChar char="»"/>
        <a:defRPr kumimoji="1" sz="8700" kern="1200">
          <a:solidFill>
            <a:schemeClr val="tx1"/>
          </a:solidFill>
          <a:latin typeface="+mn-lt"/>
          <a:ea typeface="+mn-ea"/>
          <a:cs typeface="+mn-cs"/>
        </a:defRPr>
      </a:lvl5pPr>
      <a:lvl6pPr marL="11029315" indent="-1002665" algn="l" defTabSz="4010660" rtl="0" eaLnBrk="1" latinLnBrk="0" hangingPunct="1">
        <a:spcBef>
          <a:spcPct val="20000"/>
        </a:spcBef>
        <a:buFont typeface="Arial" panose="020B0604020202090204" pitchFamily="34" charset="0"/>
        <a:buChar char="•"/>
        <a:defRPr kumimoji="1" sz="8700" kern="1200">
          <a:solidFill>
            <a:schemeClr val="tx1"/>
          </a:solidFill>
          <a:latin typeface="+mn-lt"/>
          <a:ea typeface="+mn-ea"/>
          <a:cs typeface="+mn-cs"/>
        </a:defRPr>
      </a:lvl6pPr>
      <a:lvl7pPr marL="13034645" indent="-1002665" algn="l" defTabSz="4010660" rtl="0" eaLnBrk="1" latinLnBrk="0" hangingPunct="1">
        <a:spcBef>
          <a:spcPct val="20000"/>
        </a:spcBef>
        <a:buFont typeface="Arial" panose="020B0604020202090204" pitchFamily="34" charset="0"/>
        <a:buChar char="•"/>
        <a:defRPr kumimoji="1" sz="8700" kern="1200">
          <a:solidFill>
            <a:schemeClr val="tx1"/>
          </a:solidFill>
          <a:latin typeface="+mn-lt"/>
          <a:ea typeface="+mn-ea"/>
          <a:cs typeface="+mn-cs"/>
        </a:defRPr>
      </a:lvl7pPr>
      <a:lvl8pPr marL="15039975" indent="-1002665" algn="l" defTabSz="4010660" rtl="0" eaLnBrk="1" latinLnBrk="0" hangingPunct="1">
        <a:spcBef>
          <a:spcPct val="20000"/>
        </a:spcBef>
        <a:buFont typeface="Arial" panose="020B0604020202090204" pitchFamily="34" charset="0"/>
        <a:buChar char="•"/>
        <a:defRPr kumimoji="1" sz="8700" kern="1200">
          <a:solidFill>
            <a:schemeClr val="tx1"/>
          </a:solidFill>
          <a:latin typeface="+mn-lt"/>
          <a:ea typeface="+mn-ea"/>
          <a:cs typeface="+mn-cs"/>
        </a:defRPr>
      </a:lvl8pPr>
      <a:lvl9pPr marL="17045305" indent="-1002665" algn="l" defTabSz="4010660" rtl="0" eaLnBrk="1" latinLnBrk="0" hangingPunct="1">
        <a:spcBef>
          <a:spcPct val="20000"/>
        </a:spcBef>
        <a:buFont typeface="Arial" panose="020B0604020202090204" pitchFamily="34" charset="0"/>
        <a:buChar char="•"/>
        <a:defRPr kumimoji="1" sz="8700" kern="1200">
          <a:solidFill>
            <a:schemeClr val="tx1"/>
          </a:solidFill>
          <a:latin typeface="+mn-lt"/>
          <a:ea typeface="+mn-ea"/>
          <a:cs typeface="+mn-cs"/>
        </a:defRPr>
      </a:lvl9pPr>
    </p:bodyStyle>
    <p:otherStyle>
      <a:defPPr>
        <a:defRPr lang="ja-JP"/>
      </a:defPPr>
      <a:lvl1pPr marL="0" algn="l" defTabSz="4010660" rtl="0" eaLnBrk="1" latinLnBrk="0" hangingPunct="1">
        <a:defRPr kumimoji="1" sz="7900" kern="1200">
          <a:solidFill>
            <a:schemeClr val="tx1"/>
          </a:solidFill>
          <a:latin typeface="+mn-lt"/>
          <a:ea typeface="+mn-ea"/>
          <a:cs typeface="+mn-cs"/>
        </a:defRPr>
      </a:lvl1pPr>
      <a:lvl2pPr marL="2005330" algn="l" defTabSz="4010660" rtl="0" eaLnBrk="1" latinLnBrk="0" hangingPunct="1">
        <a:defRPr kumimoji="1" sz="7900" kern="1200">
          <a:solidFill>
            <a:schemeClr val="tx1"/>
          </a:solidFill>
          <a:latin typeface="+mn-lt"/>
          <a:ea typeface="+mn-ea"/>
          <a:cs typeface="+mn-cs"/>
        </a:defRPr>
      </a:lvl2pPr>
      <a:lvl3pPr marL="4010660" algn="l" defTabSz="4010660" rtl="0" eaLnBrk="1" latinLnBrk="0" hangingPunct="1">
        <a:defRPr kumimoji="1" sz="7900" kern="1200">
          <a:solidFill>
            <a:schemeClr val="tx1"/>
          </a:solidFill>
          <a:latin typeface="+mn-lt"/>
          <a:ea typeface="+mn-ea"/>
          <a:cs typeface="+mn-cs"/>
        </a:defRPr>
      </a:lvl3pPr>
      <a:lvl4pPr marL="6015990" algn="l" defTabSz="4010660" rtl="0" eaLnBrk="1" latinLnBrk="0" hangingPunct="1">
        <a:defRPr kumimoji="1" sz="7900" kern="1200">
          <a:solidFill>
            <a:schemeClr val="tx1"/>
          </a:solidFill>
          <a:latin typeface="+mn-lt"/>
          <a:ea typeface="+mn-ea"/>
          <a:cs typeface="+mn-cs"/>
        </a:defRPr>
      </a:lvl4pPr>
      <a:lvl5pPr marL="8021320" algn="l" defTabSz="4010660" rtl="0" eaLnBrk="1" latinLnBrk="0" hangingPunct="1">
        <a:defRPr kumimoji="1" sz="7900" kern="1200">
          <a:solidFill>
            <a:schemeClr val="tx1"/>
          </a:solidFill>
          <a:latin typeface="+mn-lt"/>
          <a:ea typeface="+mn-ea"/>
          <a:cs typeface="+mn-cs"/>
        </a:defRPr>
      </a:lvl5pPr>
      <a:lvl6pPr marL="10026650" algn="l" defTabSz="4010660" rtl="0" eaLnBrk="1" latinLnBrk="0" hangingPunct="1">
        <a:defRPr kumimoji="1" sz="7900" kern="1200">
          <a:solidFill>
            <a:schemeClr val="tx1"/>
          </a:solidFill>
          <a:latin typeface="+mn-lt"/>
          <a:ea typeface="+mn-ea"/>
          <a:cs typeface="+mn-cs"/>
        </a:defRPr>
      </a:lvl6pPr>
      <a:lvl7pPr marL="12031980" algn="l" defTabSz="4010660" rtl="0" eaLnBrk="1" latinLnBrk="0" hangingPunct="1">
        <a:defRPr kumimoji="1" sz="7900" kern="1200">
          <a:solidFill>
            <a:schemeClr val="tx1"/>
          </a:solidFill>
          <a:latin typeface="+mn-lt"/>
          <a:ea typeface="+mn-ea"/>
          <a:cs typeface="+mn-cs"/>
        </a:defRPr>
      </a:lvl7pPr>
      <a:lvl8pPr marL="14037310" algn="l" defTabSz="4010660" rtl="0" eaLnBrk="1" latinLnBrk="0" hangingPunct="1">
        <a:defRPr kumimoji="1" sz="7900" kern="1200">
          <a:solidFill>
            <a:schemeClr val="tx1"/>
          </a:solidFill>
          <a:latin typeface="+mn-lt"/>
          <a:ea typeface="+mn-ea"/>
          <a:cs typeface="+mn-cs"/>
        </a:defRPr>
      </a:lvl8pPr>
      <a:lvl9pPr marL="16042640" algn="l" defTabSz="4010660" rtl="0" eaLnBrk="1" latinLnBrk="0" hangingPunct="1">
        <a:defRPr kumimoji="1" sz="7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a:extLst>
              <a:ext uri="{FF2B5EF4-FFF2-40B4-BE49-F238E27FC236}">
                <a16:creationId xmlns:a16="http://schemas.microsoft.com/office/drawing/2014/main" id="{0AE97CFA-C9A4-A3C8-1D66-2EC4095D6900}"/>
              </a:ext>
            </a:extLst>
          </p:cNvPr>
          <p:cNvPicPr>
            <a:picLocks noChangeAspect="1"/>
          </p:cNvPicPr>
          <p:nvPr/>
        </p:nvPicPr>
        <p:blipFill>
          <a:blip r:embed="rId3"/>
          <a:stretch>
            <a:fillRect/>
          </a:stretch>
        </p:blipFill>
        <p:spPr>
          <a:xfrm>
            <a:off x="6470519" y="12394361"/>
            <a:ext cx="8897859" cy="7002273"/>
          </a:xfrm>
          <a:prstGeom prst="rect">
            <a:avLst/>
          </a:prstGeom>
        </p:spPr>
      </p:pic>
      <p:sp>
        <p:nvSpPr>
          <p:cNvPr id="4" name="正方形/長方形 3"/>
          <p:cNvSpPr/>
          <p:nvPr/>
        </p:nvSpPr>
        <p:spPr>
          <a:xfrm>
            <a:off x="3600450" y="180306"/>
            <a:ext cx="23979187" cy="4425603"/>
          </a:xfrm>
          <a:prstGeom prst="roundRect">
            <a:avLst/>
          </a:prstGeom>
        </p:spPr>
        <p:style>
          <a:lnRef idx="1">
            <a:schemeClr val="accent5"/>
          </a:lnRef>
          <a:fillRef idx="2">
            <a:schemeClr val="accent5"/>
          </a:fillRef>
          <a:effectRef idx="1">
            <a:schemeClr val="accent5"/>
          </a:effectRef>
          <a:fontRef idx="minor">
            <a:schemeClr val="dk1"/>
          </a:fontRef>
        </p:style>
        <p:txBody>
          <a:bodyPr lIns="87810" tIns="43905" rIns="87810" bIns="43905" rtlCol="0" anchor="ctr"/>
          <a:lstStyle/>
          <a:p>
            <a:pPr algn="ctr">
              <a:lnSpc>
                <a:spcPts val="8300"/>
              </a:lnSpc>
            </a:pPr>
            <a:r>
              <a:rPr lang="en-US" altLang="ja-JP" sz="4000" dirty="0">
                <a:solidFill>
                  <a:schemeClr val="tx1"/>
                </a:solidFill>
                <a:ea typeface="+mj-ea"/>
                <a:cs typeface="Hiragino Maru Gothic Pro" panose="020F0400000000000000" charset="-128"/>
              </a:rPr>
              <a:t>2024 IEEE 13th Global Conference on Consumer Electronics (GCCE 2024)</a:t>
            </a:r>
          </a:p>
          <a:p>
            <a:pPr algn="ctr">
              <a:lnSpc>
                <a:spcPts val="8300"/>
              </a:lnSpc>
            </a:pPr>
            <a:r>
              <a:rPr lang="en-US" altLang="ja-JP" sz="5400" dirty="0">
                <a:solidFill>
                  <a:schemeClr val="tx1"/>
                </a:solidFill>
                <a:ea typeface="+mj-ea"/>
                <a:cs typeface="Hiragino Maru Gothic Pro" panose="020F0400000000000000" charset="-128"/>
              </a:rPr>
              <a:t>Proposed Models for Improving Lesion Segmentation in Ischemic Stroke CT Images Based on Hybrid CNN-Transformer Architectures</a:t>
            </a:r>
          </a:p>
          <a:p>
            <a:pPr algn="ctr">
              <a:lnSpc>
                <a:spcPts val="8300"/>
              </a:lnSpc>
            </a:pPr>
            <a:r>
              <a:rPr lang="en-US" altLang="ja-JP" sz="4400" dirty="0" err="1">
                <a:solidFill>
                  <a:schemeClr val="tx1"/>
                </a:solidFill>
                <a:ea typeface="+mj-ea"/>
                <a:cs typeface="Hiragino Maru Gothic Pro" panose="020F0400000000000000" charset="-128"/>
              </a:rPr>
              <a:t>Yonghao</a:t>
            </a:r>
            <a:r>
              <a:rPr lang="en-US" altLang="ja-JP" sz="4400" dirty="0">
                <a:solidFill>
                  <a:schemeClr val="tx1"/>
                </a:solidFill>
                <a:ea typeface="+mj-ea"/>
                <a:cs typeface="Hiragino Maru Gothic Pro" panose="020F0400000000000000" charset="-128"/>
              </a:rPr>
              <a:t> </a:t>
            </a:r>
            <a:r>
              <a:rPr lang="en-US" altLang="ja-JP" sz="4400" dirty="0" smtClean="0">
                <a:solidFill>
                  <a:schemeClr val="tx1"/>
                </a:solidFill>
                <a:ea typeface="+mj-ea"/>
                <a:cs typeface="Hiragino Maru Gothic Pro" panose="020F0400000000000000" charset="-128"/>
              </a:rPr>
              <a:t>BA </a:t>
            </a:r>
            <a:r>
              <a:rPr lang="en-US" altLang="ja-JP" sz="4400" dirty="0" smtClean="0">
                <a:solidFill>
                  <a:schemeClr val="tx1"/>
                </a:solidFill>
                <a:ea typeface="+mj-ea"/>
                <a:cs typeface="Hiragino Maru Gothic Pro" panose="020F0400000000000000" charset="-128"/>
              </a:rPr>
              <a:t>and </a:t>
            </a:r>
            <a:r>
              <a:rPr lang="en-US" altLang="ja-JP" sz="4400" dirty="0" smtClean="0">
                <a:solidFill>
                  <a:schemeClr val="tx1"/>
                </a:solidFill>
                <a:ea typeface="+mj-ea"/>
                <a:cs typeface="Hiragino Maru Gothic Pro" panose="020F0400000000000000" charset="-128"/>
              </a:rPr>
              <a:t>Yuji Watanabe (Graduate </a:t>
            </a:r>
            <a:r>
              <a:rPr lang="en-US" altLang="ja-JP" sz="4400" dirty="0">
                <a:solidFill>
                  <a:schemeClr val="tx1"/>
                </a:solidFill>
                <a:ea typeface="+mj-ea"/>
                <a:cs typeface="Hiragino Maru Gothic Pro" panose="020F0400000000000000" charset="-128"/>
              </a:rPr>
              <a:t>School of Science, Nagoya City </a:t>
            </a:r>
            <a:r>
              <a:rPr lang="en-US" altLang="ja-JP" sz="4400" dirty="0" smtClean="0">
                <a:solidFill>
                  <a:schemeClr val="tx1"/>
                </a:solidFill>
                <a:ea typeface="+mj-ea"/>
                <a:cs typeface="Hiragino Maru Gothic Pro" panose="020F0400000000000000" charset="-128"/>
              </a:rPr>
              <a:t>University</a:t>
            </a:r>
            <a:r>
              <a:rPr lang="en-US" altLang="ja-JP" sz="4400" dirty="0">
                <a:solidFill>
                  <a:schemeClr val="tx1"/>
                </a:solidFill>
                <a:ea typeface="+mj-ea"/>
                <a:cs typeface="Hiragino Maru Gothic Pro" panose="020F0400000000000000" charset="-128"/>
              </a:rPr>
              <a:t>)</a:t>
            </a:r>
            <a:endParaRPr lang="ja-JP" altLang="en-US" sz="4400" dirty="0">
              <a:solidFill>
                <a:schemeClr val="tx1"/>
              </a:solidFill>
              <a:ea typeface="+mj-ea"/>
              <a:cs typeface="Hiragino Maru Gothic Pro" panose="020F0400000000000000" charset="-128"/>
            </a:endParaRPr>
          </a:p>
        </p:txBody>
      </p:sp>
      <p:sp>
        <p:nvSpPr>
          <p:cNvPr id="5" name="角丸四角形 4"/>
          <p:cNvSpPr/>
          <p:nvPr/>
        </p:nvSpPr>
        <p:spPr>
          <a:xfrm>
            <a:off x="895439" y="4831005"/>
            <a:ext cx="26634867" cy="6060095"/>
          </a:xfrm>
          <a:prstGeom prst="roundRect">
            <a:avLst>
              <a:gd name="adj" fmla="val 10836"/>
            </a:avLst>
          </a:prstGeom>
          <a:noFill/>
          <a:ln w="10160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lIns="87810" tIns="43905" rIns="87810" bIns="43905" rtlCol="0" anchor="ctr"/>
          <a:lstStyle/>
          <a:p>
            <a:pPr marL="571500" indent="-571500" algn="just">
              <a:buFont typeface="Wingdings" panose="05000000000000000000" pitchFamily="2" charset="2"/>
              <a:buChar char="l"/>
            </a:pPr>
            <a:endParaRPr lang="en-US" altLang="ja-JP" sz="3600" dirty="0">
              <a:solidFill>
                <a:schemeClr val="tx1"/>
              </a:solidFill>
              <a:ea typeface="Hiragino Maru Gothic Pro" panose="020F0400000000000000" charset="-128"/>
            </a:endParaRPr>
          </a:p>
          <a:p>
            <a:pPr marL="571500" indent="-571500" algn="just">
              <a:buFont typeface="Wingdings" panose="05000000000000000000" pitchFamily="2" charset="2"/>
              <a:buChar char="l"/>
            </a:pPr>
            <a:endParaRPr lang="en-US" altLang="ja-JP" sz="3600" dirty="0">
              <a:solidFill>
                <a:schemeClr val="tx1"/>
              </a:solidFill>
              <a:ea typeface="Hiragino Maru Gothic Pro" panose="020F0400000000000000" charset="-128"/>
            </a:endParaRPr>
          </a:p>
          <a:p>
            <a:pPr marL="571500" indent="-571500" algn="just">
              <a:buFont typeface="Arial" panose="020B0604020202020204" pitchFamily="34" charset="0"/>
              <a:buChar char="•"/>
            </a:pPr>
            <a:r>
              <a:rPr lang="en-US" altLang="ja-JP" sz="3800" dirty="0">
                <a:solidFill>
                  <a:schemeClr val="tx1"/>
                </a:solidFill>
                <a:ea typeface="Hiragino Maru Gothic Pro" panose="020F0400000000000000" charset="-128"/>
              </a:rPr>
              <a:t>Semantic segmentation is crucial for many applications, but achieving high performance in complex </a:t>
            </a:r>
            <a:r>
              <a:rPr lang="en-US" altLang="ja-JP" sz="3800" dirty="0" smtClean="0">
                <a:solidFill>
                  <a:schemeClr val="tx1"/>
                </a:solidFill>
                <a:ea typeface="Hiragino Maru Gothic Pro" panose="020F0400000000000000" charset="-128"/>
              </a:rPr>
              <a:t>real-world </a:t>
            </a:r>
            <a:r>
              <a:rPr lang="en-US" altLang="ja-JP" sz="3800" dirty="0">
                <a:solidFill>
                  <a:schemeClr val="tx1"/>
                </a:solidFill>
                <a:ea typeface="Hiragino Maru Gothic Pro" panose="020F0400000000000000" charset="-128"/>
              </a:rPr>
              <a:t>scenarios remains challenging. In this study, we explore combining CNNs and Transformers for feature extraction and propose two new </a:t>
            </a:r>
            <a:r>
              <a:rPr lang="en-US" altLang="ja-JP" sz="3800" dirty="0" smtClean="0">
                <a:solidFill>
                  <a:schemeClr val="tx1"/>
                </a:solidFill>
                <a:ea typeface="Hiragino Maru Gothic Pro" panose="020F0400000000000000" charset="-128"/>
              </a:rPr>
              <a:t>models: </a:t>
            </a:r>
            <a:r>
              <a:rPr lang="en-US" altLang="ja-JP" sz="3800" dirty="0" err="1" smtClean="0">
                <a:solidFill>
                  <a:srgbClr val="FF0000"/>
                </a:solidFill>
                <a:ea typeface="Hiragino Maru Gothic Pro" panose="020F0400000000000000" charset="-128"/>
              </a:rPr>
              <a:t>swinTXUNet</a:t>
            </a:r>
            <a:r>
              <a:rPr lang="en-US" altLang="ja-JP" sz="3800" dirty="0" smtClean="0">
                <a:solidFill>
                  <a:srgbClr val="FF0000"/>
                </a:solidFill>
                <a:ea typeface="Hiragino Maru Gothic Pro" panose="020F0400000000000000" charset="-128"/>
              </a:rPr>
              <a:t> </a:t>
            </a:r>
            <a:r>
              <a:rPr lang="en-US" altLang="ja-JP" sz="3800" dirty="0">
                <a:solidFill>
                  <a:srgbClr val="FF0000"/>
                </a:solidFill>
                <a:ea typeface="Hiragino Maru Gothic Pro" panose="020F0400000000000000" charset="-128"/>
              </a:rPr>
              <a:t>and </a:t>
            </a:r>
            <a:r>
              <a:rPr lang="en-US" altLang="ja-JP" sz="3800" dirty="0" err="1" smtClean="0">
                <a:solidFill>
                  <a:srgbClr val="FF0000"/>
                </a:solidFill>
                <a:ea typeface="Hiragino Maru Gothic Pro" panose="020F0400000000000000" charset="-128"/>
              </a:rPr>
              <a:t>swinTAUNet</a:t>
            </a:r>
            <a:r>
              <a:rPr lang="en-US" altLang="ja-JP" sz="3800" dirty="0" smtClean="0">
                <a:solidFill>
                  <a:schemeClr val="tx1"/>
                </a:solidFill>
                <a:ea typeface="Hiragino Maru Gothic Pro" panose="020F0400000000000000" charset="-128"/>
              </a:rPr>
              <a:t> for </a:t>
            </a:r>
            <a:r>
              <a:rPr lang="en-US" altLang="ja-JP" sz="3800" dirty="0">
                <a:solidFill>
                  <a:schemeClr val="tx1"/>
                </a:solidFill>
                <a:ea typeface="Hiragino Maru Gothic Pro" panose="020F0400000000000000" charset="-128"/>
              </a:rPr>
              <a:t>the publicly available </a:t>
            </a:r>
            <a:r>
              <a:rPr lang="en-US" altLang="ja-JP" sz="3800" dirty="0">
                <a:solidFill>
                  <a:srgbClr val="FF0000"/>
                </a:solidFill>
                <a:ea typeface="Hiragino Maru Gothic Pro" panose="020F0400000000000000" charset="-128"/>
              </a:rPr>
              <a:t>ischemic stroke CT dataset </a:t>
            </a:r>
            <a:r>
              <a:rPr lang="en-US" altLang="ja-JP" sz="3800" dirty="0">
                <a:solidFill>
                  <a:schemeClr val="tx1"/>
                </a:solidFill>
                <a:ea typeface="Hiragino Maru Gothic Pro" panose="020F0400000000000000" charset="-128"/>
              </a:rPr>
              <a:t>ISLES2018.</a:t>
            </a:r>
          </a:p>
          <a:p>
            <a:pPr marL="571500" indent="-571500" algn="just">
              <a:buFont typeface="Arial" panose="020B0604020202020204" pitchFamily="34" charset="0"/>
              <a:buChar char="•"/>
            </a:pPr>
            <a:r>
              <a:rPr lang="en-US" altLang="ja-JP" sz="3800" dirty="0">
                <a:solidFill>
                  <a:schemeClr val="tx1"/>
                </a:solidFill>
                <a:ea typeface="Hiragino Maru Gothic Pro" panose="020F0400000000000000" charset="-128"/>
              </a:rPr>
              <a:t>We base our models on the traditional U-Net and significantly enhance its encoder. We adopt the </a:t>
            </a:r>
            <a:r>
              <a:rPr lang="en-US" altLang="ja-JP" sz="3800" dirty="0">
                <a:solidFill>
                  <a:srgbClr val="FF0000"/>
                </a:solidFill>
                <a:ea typeface="Hiragino Maru Gothic Pro" panose="020F0400000000000000" charset="-128"/>
              </a:rPr>
              <a:t>branching structure </a:t>
            </a:r>
            <a:r>
              <a:rPr lang="en-US" altLang="ja-JP" sz="3800" dirty="0">
                <a:solidFill>
                  <a:schemeClr val="tx1"/>
                </a:solidFill>
                <a:ea typeface="Hiragino Maru Gothic Pro" panose="020F0400000000000000" charset="-128"/>
              </a:rPr>
              <a:t>that combines CNN and Transformer, resulting in two new models differentiated by data flow methods. </a:t>
            </a:r>
          </a:p>
          <a:p>
            <a:pPr marL="571500" indent="-571500" algn="just">
              <a:buFont typeface="Arial" panose="020B0604020202020204" pitchFamily="34" charset="0"/>
              <a:buChar char="•"/>
            </a:pPr>
            <a:r>
              <a:rPr lang="en-US" altLang="ja-JP" sz="3800" dirty="0">
                <a:solidFill>
                  <a:schemeClr val="tx1"/>
                </a:solidFill>
                <a:ea typeface="Hiragino Maru Gothic Pro" panose="020F0400000000000000" charset="-128"/>
              </a:rPr>
              <a:t>Experiments show that our proposed methods achieve the </a:t>
            </a:r>
            <a:r>
              <a:rPr lang="en-US" altLang="ja-JP" sz="3800" dirty="0">
                <a:solidFill>
                  <a:srgbClr val="FF0000"/>
                </a:solidFill>
                <a:ea typeface="Hiragino Maru Gothic Pro" panose="020F0400000000000000" charset="-128"/>
              </a:rPr>
              <a:t>validation accuracy of 73%</a:t>
            </a:r>
            <a:r>
              <a:rPr lang="en-US" altLang="ja-JP" sz="3800" dirty="0">
                <a:solidFill>
                  <a:schemeClr val="tx1"/>
                </a:solidFill>
                <a:ea typeface="Hiragino Maru Gothic Pro" panose="020F0400000000000000" charset="-128"/>
              </a:rPr>
              <a:t>, about </a:t>
            </a:r>
            <a:r>
              <a:rPr lang="en-US" altLang="ja-JP" sz="3800" dirty="0">
                <a:solidFill>
                  <a:srgbClr val="FF0000"/>
                </a:solidFill>
                <a:ea typeface="Hiragino Maru Gothic Pro" panose="020F0400000000000000" charset="-128"/>
              </a:rPr>
              <a:t>12% higher </a:t>
            </a:r>
            <a:r>
              <a:rPr lang="en-US" altLang="ja-JP" sz="3800" dirty="0">
                <a:solidFill>
                  <a:schemeClr val="tx1"/>
                </a:solidFill>
                <a:ea typeface="Hiragino Maru Gothic Pro" panose="020F0400000000000000" charset="-128"/>
              </a:rPr>
              <a:t>than the previous models, without relying on pre-training. Test results confirm the effectiveness of our methods and demonstrate the potential of hybrid CNN-Transformer models for feature extraction.</a:t>
            </a:r>
            <a:endParaRPr lang="ja-JP" altLang="en-US" sz="3800" dirty="0">
              <a:solidFill>
                <a:srgbClr val="FF0000"/>
              </a:solidFill>
              <a:ea typeface="Hiragino Maru Gothic Pro" panose="020F0400000000000000" charset="-128"/>
            </a:endParaRPr>
          </a:p>
        </p:txBody>
      </p:sp>
      <p:sp>
        <p:nvSpPr>
          <p:cNvPr id="10" name="正方形/長方形 9"/>
          <p:cNvSpPr/>
          <p:nvPr/>
        </p:nvSpPr>
        <p:spPr>
          <a:xfrm>
            <a:off x="12417959" y="5020839"/>
            <a:ext cx="3967682" cy="1008000"/>
          </a:xfrm>
          <a:prstGeom prst="roundRect">
            <a:avLst/>
          </a:prstGeom>
          <a:ln/>
        </p:spPr>
        <p:style>
          <a:lnRef idx="1">
            <a:schemeClr val="accent5"/>
          </a:lnRef>
          <a:fillRef idx="2">
            <a:schemeClr val="accent5"/>
          </a:fillRef>
          <a:effectRef idx="1">
            <a:schemeClr val="accent5"/>
          </a:effectRef>
          <a:fontRef idx="minor">
            <a:schemeClr val="dk1"/>
          </a:fontRef>
        </p:style>
        <p:txBody>
          <a:bodyPr vertOverflow="overflow" horzOverflow="overflow" vert="horz" wrap="square" lIns="87810" tIns="43905" rIns="87810" bIns="43905" numCol="1" spcCol="0" rtlCol="0" fromWordArt="0" anchor="ctr" anchorCtr="0" forceAA="0" compatLnSpc="1">
            <a:noAutofit/>
          </a:bodyPr>
          <a:lstStyle/>
          <a:p>
            <a:pPr lvl="0" algn="ctr">
              <a:buClrTx/>
              <a:buSzTx/>
              <a:buFontTx/>
            </a:pPr>
            <a:r>
              <a:rPr lang="en-US" altLang="ja-JP" sz="6000" b="1" dirty="0">
                <a:latin typeface="+mj-lt"/>
                <a:ea typeface="Cascadia Mono SemiBold" panose="020B0609020000020004" pitchFamily="49" charset="0"/>
                <a:cs typeface="Segoe UI Semibold" panose="020B0702040204020203" pitchFamily="34" charset="0"/>
                <a:sym typeface="+mn-ea"/>
              </a:rPr>
              <a:t>Abstract</a:t>
            </a:r>
            <a:endParaRPr lang="ja-JP" altLang="en-US" sz="6000" b="1" dirty="0">
              <a:latin typeface="+mj-lt"/>
              <a:ea typeface="Hiragino Maru Gothic Pro" panose="02010600030101010101" charset="-122"/>
              <a:cs typeface="Segoe UI Semibold" panose="020B0702040204020203" pitchFamily="34" charset="0"/>
              <a:sym typeface="+mn-ea"/>
            </a:endParaRPr>
          </a:p>
        </p:txBody>
      </p:sp>
      <p:pic>
        <p:nvPicPr>
          <p:cNvPr id="14" name="图片 13" descr="12-19NCUシステム＋英ロゴ"/>
          <p:cNvPicPr>
            <a:picLocks noChangeAspect="1"/>
          </p:cNvPicPr>
          <p:nvPr/>
        </p:nvPicPr>
        <p:blipFill>
          <a:blip r:embed="rId4"/>
          <a:srcRect r="50137"/>
          <a:stretch>
            <a:fillRect/>
          </a:stretch>
        </p:blipFill>
        <p:spPr>
          <a:xfrm>
            <a:off x="901645" y="787929"/>
            <a:ext cx="2679095" cy="3622842"/>
          </a:xfrm>
          <a:prstGeom prst="rect">
            <a:avLst/>
          </a:prstGeom>
        </p:spPr>
      </p:pic>
      <p:sp>
        <p:nvSpPr>
          <p:cNvPr id="9" name="正方形/長方形 79">
            <a:extLst>
              <a:ext uri="{FF2B5EF4-FFF2-40B4-BE49-F238E27FC236}">
                <a16:creationId xmlns:a16="http://schemas.microsoft.com/office/drawing/2014/main" id="{5FA3ECF9-0142-AA5F-6C40-FE2CD2322169}"/>
              </a:ext>
            </a:extLst>
          </p:cNvPr>
          <p:cNvSpPr/>
          <p:nvPr/>
        </p:nvSpPr>
        <p:spPr>
          <a:xfrm>
            <a:off x="10729392" y="11242233"/>
            <a:ext cx="7464777" cy="1008000"/>
          </a:xfrm>
          <a:prstGeom prst="roundRect">
            <a:avLst/>
          </a:prstGeom>
          <a:ln/>
        </p:spPr>
        <p:style>
          <a:lnRef idx="1">
            <a:schemeClr val="accent5"/>
          </a:lnRef>
          <a:fillRef idx="2">
            <a:schemeClr val="accent5"/>
          </a:fillRef>
          <a:effectRef idx="1">
            <a:schemeClr val="accent5"/>
          </a:effectRef>
          <a:fontRef idx="minor">
            <a:schemeClr val="dk1"/>
          </a:fontRef>
        </p:style>
        <p:txBody>
          <a:bodyPr lIns="87810" tIns="43905" rIns="87810" bIns="43905" rtlCol="0" anchor="ctr"/>
          <a:lstStyle/>
          <a:p>
            <a:pPr algn="ctr"/>
            <a:r>
              <a:rPr lang="en-US" altLang="ja-JP" sz="6000" b="1" dirty="0">
                <a:latin typeface="+mj-lt"/>
                <a:ea typeface="Cascadia Mono SemiBold" panose="020B0609020000020004" pitchFamily="49" charset="0"/>
                <a:cs typeface="Segoe UI Semibold" panose="020B0702040204020203" pitchFamily="34" charset="0"/>
              </a:rPr>
              <a:t>Proposed Methods</a:t>
            </a:r>
            <a:endParaRPr lang="ja-JP" altLang="en-US" sz="6000" b="1" dirty="0">
              <a:latin typeface="+mj-lt"/>
              <a:ea typeface="Hiragino Maru Gothic Pro" panose="02010600030101010101" charset="-122"/>
              <a:cs typeface="Segoe UI Semibold" panose="020B0702040204020203" pitchFamily="34" charset="0"/>
            </a:endParaRPr>
          </a:p>
        </p:txBody>
      </p:sp>
      <p:pic>
        <p:nvPicPr>
          <p:cNvPr id="32" name="图片 31">
            <a:extLst>
              <a:ext uri="{FF2B5EF4-FFF2-40B4-BE49-F238E27FC236}">
                <a16:creationId xmlns:a16="http://schemas.microsoft.com/office/drawing/2014/main" id="{13EBF3A2-AC00-6D07-03E7-587C0A05104A}"/>
              </a:ext>
            </a:extLst>
          </p:cNvPr>
          <p:cNvPicPr>
            <a:picLocks noChangeAspect="1"/>
          </p:cNvPicPr>
          <p:nvPr/>
        </p:nvPicPr>
        <p:blipFill>
          <a:blip r:embed="rId5"/>
          <a:stretch>
            <a:fillRect/>
          </a:stretch>
        </p:blipFill>
        <p:spPr>
          <a:xfrm>
            <a:off x="1203983" y="12507147"/>
            <a:ext cx="5204929" cy="7035135"/>
          </a:xfrm>
          <a:prstGeom prst="rect">
            <a:avLst/>
          </a:prstGeom>
        </p:spPr>
      </p:pic>
      <p:pic>
        <p:nvPicPr>
          <p:cNvPr id="38" name="图片 37">
            <a:extLst>
              <a:ext uri="{FF2B5EF4-FFF2-40B4-BE49-F238E27FC236}">
                <a16:creationId xmlns:a16="http://schemas.microsoft.com/office/drawing/2014/main" id="{BDCE53C6-3F48-DC2C-4190-D2C5F4973B67}"/>
              </a:ext>
            </a:extLst>
          </p:cNvPr>
          <p:cNvPicPr>
            <a:picLocks noChangeAspect="1"/>
          </p:cNvPicPr>
          <p:nvPr/>
        </p:nvPicPr>
        <p:blipFill>
          <a:blip r:embed="rId6"/>
          <a:stretch>
            <a:fillRect/>
          </a:stretch>
        </p:blipFill>
        <p:spPr>
          <a:xfrm>
            <a:off x="18619389" y="20587924"/>
            <a:ext cx="8527962" cy="7475914"/>
          </a:xfrm>
          <a:prstGeom prst="rect">
            <a:avLst/>
          </a:prstGeom>
        </p:spPr>
      </p:pic>
      <p:pic>
        <p:nvPicPr>
          <p:cNvPr id="47" name="图片 46">
            <a:extLst>
              <a:ext uri="{FF2B5EF4-FFF2-40B4-BE49-F238E27FC236}">
                <a16:creationId xmlns:a16="http://schemas.microsoft.com/office/drawing/2014/main" id="{14C3F40F-7D53-28B6-AE92-1AEE4C2E2BA2}"/>
              </a:ext>
            </a:extLst>
          </p:cNvPr>
          <p:cNvPicPr>
            <a:picLocks noChangeAspect="1"/>
          </p:cNvPicPr>
          <p:nvPr/>
        </p:nvPicPr>
        <p:blipFill>
          <a:blip r:embed="rId7"/>
          <a:stretch>
            <a:fillRect/>
          </a:stretch>
        </p:blipFill>
        <p:spPr>
          <a:xfrm>
            <a:off x="11944797" y="20459257"/>
            <a:ext cx="6201419" cy="7585124"/>
          </a:xfrm>
          <a:prstGeom prst="rect">
            <a:avLst/>
          </a:prstGeom>
        </p:spPr>
      </p:pic>
      <p:pic>
        <p:nvPicPr>
          <p:cNvPr id="57" name="图片 56">
            <a:extLst>
              <a:ext uri="{FF2B5EF4-FFF2-40B4-BE49-F238E27FC236}">
                <a16:creationId xmlns:a16="http://schemas.microsoft.com/office/drawing/2014/main" id="{4A5875A0-C6BA-8763-EDF2-9272C4D47B54}"/>
              </a:ext>
            </a:extLst>
          </p:cNvPr>
          <p:cNvPicPr>
            <a:picLocks noChangeAspect="1"/>
          </p:cNvPicPr>
          <p:nvPr/>
        </p:nvPicPr>
        <p:blipFill>
          <a:blip r:embed="rId8"/>
          <a:stretch>
            <a:fillRect/>
          </a:stretch>
        </p:blipFill>
        <p:spPr>
          <a:xfrm>
            <a:off x="1006869" y="32052543"/>
            <a:ext cx="11967503" cy="8513590"/>
          </a:xfrm>
          <a:prstGeom prst="rect">
            <a:avLst/>
          </a:prstGeom>
        </p:spPr>
      </p:pic>
      <p:sp>
        <p:nvSpPr>
          <p:cNvPr id="2" name="文本框 1">
            <a:extLst>
              <a:ext uri="{FF2B5EF4-FFF2-40B4-BE49-F238E27FC236}">
                <a16:creationId xmlns:a16="http://schemas.microsoft.com/office/drawing/2014/main" id="{04E95861-65C1-C9A7-7150-61B039322647}"/>
              </a:ext>
            </a:extLst>
          </p:cNvPr>
          <p:cNvSpPr txBox="1"/>
          <p:nvPr/>
        </p:nvSpPr>
        <p:spPr>
          <a:xfrm>
            <a:off x="15337904" y="12394361"/>
            <a:ext cx="12169352" cy="7956000"/>
          </a:xfrm>
          <a:prstGeom prst="rect">
            <a:avLst/>
          </a:prstGeom>
          <a:noFill/>
        </p:spPr>
        <p:txBody>
          <a:bodyPr wrap="square" numCol="2" rtlCol="0">
            <a:spAutoFit/>
          </a:bodyPr>
          <a:lstStyle/>
          <a:p>
            <a:pPr marL="457200" indent="-457200">
              <a:buFont typeface="Wingdings" panose="05000000000000000000" pitchFamily="2" charset="2"/>
              <a:buChar char="Ø"/>
            </a:pPr>
            <a:r>
              <a:rPr lang="en-US" altLang="zh-CN" sz="3600" b="1" i="0" u="none" strike="noStrike" baseline="0" dirty="0">
                <a:ea typeface="Hiragino Maru Gothic Pro" panose="02010600030101010101" charset="-122"/>
              </a:rPr>
              <a:t>Method</a:t>
            </a:r>
          </a:p>
          <a:p>
            <a:pPr marL="457200" indent="-457200">
              <a:buFont typeface="Arial" panose="020B0604020202020204" pitchFamily="34" charset="0"/>
              <a:buChar char="•"/>
            </a:pPr>
            <a:r>
              <a:rPr lang="en-US" altLang="zh-CN" sz="3600" i="0" u="none" strike="noStrike" baseline="0" dirty="0">
                <a:ea typeface="Hiragino Maru Gothic Pro" panose="02010600030101010101" charset="-122"/>
              </a:rPr>
              <a:t>swinTXUNet</a:t>
            </a:r>
          </a:p>
          <a:p>
            <a:pPr marL="457200" indent="-457200">
              <a:buFont typeface="Arial" panose="020B0604020202020204" pitchFamily="34" charset="0"/>
              <a:buChar char="•"/>
            </a:pPr>
            <a:endParaRPr lang="en-US" altLang="zh-CN" sz="3600" i="0" u="none" strike="noStrike" baseline="0" dirty="0">
              <a:ea typeface="Hiragino Maru Gothic Pro" panose="02010600030101010101" charset="-122"/>
            </a:endParaRPr>
          </a:p>
          <a:p>
            <a:pPr marL="457200" indent="-457200">
              <a:buFont typeface="Wingdings" panose="05000000000000000000" pitchFamily="2" charset="2"/>
              <a:buChar char="Ø"/>
            </a:pPr>
            <a:r>
              <a:rPr lang="en-US" altLang="zh-CN" sz="3600" b="1" dirty="0">
                <a:ea typeface="Hiragino Maru Gothic Pro" panose="02010600030101010101" charset="-122"/>
              </a:rPr>
              <a:t>Result</a:t>
            </a:r>
          </a:p>
          <a:p>
            <a:pPr marL="457200" indent="-457200">
              <a:buFont typeface="Arial" panose="020B0604020202020204" pitchFamily="34" charset="0"/>
              <a:buChar char="•"/>
            </a:pPr>
            <a:r>
              <a:rPr lang="en-US" altLang="zh-CN" sz="3600" dirty="0">
                <a:ea typeface="Hiragino Maru Gothic Pro" panose="02010600030101010101" charset="-122"/>
              </a:rPr>
              <a:t>About </a:t>
            </a:r>
            <a:r>
              <a:rPr lang="en-US" altLang="zh-CN" sz="3600" dirty="0">
                <a:solidFill>
                  <a:srgbClr val="FF0000"/>
                </a:solidFill>
                <a:ea typeface="Hiragino Maru Gothic Pro" panose="02010600030101010101" charset="-122"/>
              </a:rPr>
              <a:t>9% improvement </a:t>
            </a:r>
            <a:r>
              <a:rPr lang="en-US" altLang="zh-CN" sz="3600" dirty="0">
                <a:ea typeface="Hiragino Maru Gothic Pro" panose="02010600030101010101" charset="-122"/>
              </a:rPr>
              <a:t>over the previous methods.</a:t>
            </a:r>
          </a:p>
          <a:p>
            <a:pPr marL="457200" indent="-457200">
              <a:buFont typeface="Arial" panose="020B0604020202020204" pitchFamily="34" charset="0"/>
              <a:buChar char="•"/>
            </a:pPr>
            <a:endParaRPr lang="en-US" altLang="zh-CN" sz="3600" dirty="0">
              <a:ea typeface="Hiragino Maru Gothic Pro" panose="02010600030101010101" charset="-122"/>
            </a:endParaRPr>
          </a:p>
          <a:p>
            <a:pPr marL="457200" indent="-457200">
              <a:buFont typeface="Wingdings" panose="05000000000000000000" pitchFamily="2" charset="2"/>
              <a:buChar char="Ø"/>
            </a:pPr>
            <a:r>
              <a:rPr lang="en-US" altLang="zh-CN" sz="3600" b="1" i="0" u="none" strike="noStrike" baseline="0" dirty="0">
                <a:ea typeface="Hiragino Maru Gothic Pro" panose="02010600030101010101" charset="-122"/>
              </a:rPr>
              <a:t>Problem</a:t>
            </a:r>
            <a:endParaRPr lang="en-US" altLang="zh-CN" sz="3600" b="1" dirty="0">
              <a:ea typeface="Hiragino Maru Gothic Pro" panose="02010600030101010101" charset="-122"/>
            </a:endParaRPr>
          </a:p>
          <a:p>
            <a:pPr marL="457200" indent="-457200">
              <a:buFont typeface="Arial" panose="020B0604020202020204" pitchFamily="34" charset="0"/>
              <a:buChar char="•"/>
            </a:pPr>
            <a:r>
              <a:rPr lang="en-US" altLang="zh-CN" sz="3600" b="0" i="0" u="none" strike="noStrike" baseline="0" dirty="0">
                <a:ea typeface="Hiragino Maru Gothic Pro" panose="02010600030101010101" charset="-122"/>
              </a:rPr>
              <a:t>The computational complexity of the model increase, and the computation time become longer.</a:t>
            </a:r>
          </a:p>
          <a:p>
            <a:endParaRPr lang="en-US" altLang="zh-CN" sz="3600" dirty="0">
              <a:ea typeface="Hiragino Maru Gothic Pro" panose="02010600030101010101" charset="-122"/>
            </a:endParaRPr>
          </a:p>
          <a:p>
            <a:pPr marL="457200" indent="-457200">
              <a:buFont typeface="Wingdings" panose="05000000000000000000" pitchFamily="2" charset="2"/>
              <a:buChar char="Ø"/>
            </a:pPr>
            <a:r>
              <a:rPr lang="en-US" altLang="zh-CN" sz="3600" b="1" i="0" u="none" strike="noStrike" baseline="0" dirty="0" smtClean="0">
                <a:ea typeface="Hiragino Maru Gothic Pro" panose="02010600030101010101" charset="-122"/>
              </a:rPr>
              <a:t>Structure</a:t>
            </a:r>
            <a:endParaRPr lang="en-US" altLang="zh-CN" sz="3600" b="1" i="0" u="none" strike="noStrike" baseline="0" dirty="0">
              <a:ea typeface="Hiragino Maru Gothic Pro" panose="02010600030101010101" charset="-122"/>
            </a:endParaRPr>
          </a:p>
          <a:p>
            <a:pPr marL="457200" indent="-457200">
              <a:buFont typeface="Arial" panose="020B0604020202020204" pitchFamily="34" charset="0"/>
              <a:buChar char="•"/>
            </a:pPr>
            <a:r>
              <a:rPr lang="en-US" altLang="zh-CN" sz="3600" b="0" i="0" u="none" strike="noStrike" baseline="0" dirty="0">
                <a:ea typeface="Hiragino Maru Gothic Pro" panose="02010600030101010101" charset="-122"/>
              </a:rPr>
              <a:t>We proposed the swinTXUNet network as figure. </a:t>
            </a:r>
          </a:p>
          <a:p>
            <a:pPr marL="457200" indent="-457200">
              <a:buFont typeface="Arial" panose="020B0604020202020204" pitchFamily="34" charset="0"/>
              <a:buChar char="•"/>
            </a:pPr>
            <a:r>
              <a:rPr lang="en-US" altLang="zh-CN" sz="3600" b="0" i="0" u="none" strike="noStrike" baseline="0" dirty="0">
                <a:ea typeface="Hiragino Maru Gothic Pro" panose="02010600030101010101" charset="-122"/>
              </a:rPr>
              <a:t>The encoder of network is designed based on the </a:t>
            </a:r>
            <a:r>
              <a:rPr lang="en-US" altLang="zh-CN" sz="3600" b="0" i="0" u="none" strike="noStrike" baseline="0" dirty="0">
                <a:solidFill>
                  <a:srgbClr val="FF0000"/>
                </a:solidFill>
                <a:ea typeface="Hiragino Maru Gothic Pro" panose="02010600030101010101" charset="-122"/>
              </a:rPr>
              <a:t>TXUmodule</a:t>
            </a:r>
            <a:r>
              <a:rPr lang="en-US" altLang="zh-CN" sz="3600" b="0" i="0" u="none" strike="noStrike" baseline="0" dirty="0">
                <a:ea typeface="Hiragino Maru Gothic Pro" panose="02010600030101010101" charset="-122"/>
              </a:rPr>
              <a:t>. </a:t>
            </a:r>
          </a:p>
          <a:p>
            <a:pPr marL="457200" indent="-457200">
              <a:buFont typeface="Arial" panose="020B0604020202020204" pitchFamily="34" charset="0"/>
              <a:buChar char="•"/>
            </a:pPr>
            <a:r>
              <a:rPr lang="en-US" altLang="zh-CN" sz="3600" b="0" i="0" u="none" strike="noStrike" baseline="0" dirty="0">
                <a:ea typeface="Hiragino Maru Gothic Pro" panose="02010600030101010101" charset="-122"/>
              </a:rPr>
              <a:t>Inputs are sent to the </a:t>
            </a:r>
            <a:r>
              <a:rPr lang="en-US" altLang="zh-CN" sz="3600" b="0" i="0" u="none" strike="noStrike" baseline="0" dirty="0">
                <a:solidFill>
                  <a:srgbClr val="FF0000"/>
                </a:solidFill>
                <a:ea typeface="Hiragino Maru Gothic Pro" panose="02010600030101010101" charset="-122"/>
              </a:rPr>
              <a:t>CNN and Transformer branches </a:t>
            </a:r>
            <a:r>
              <a:rPr lang="en-US" altLang="zh-CN" sz="3600" b="0" i="0" u="none" strike="noStrike" baseline="0" dirty="0">
                <a:ea typeface="Hiragino Maru Gothic Pro" panose="02010600030101010101" charset="-122"/>
              </a:rPr>
              <a:t>for processing after receiving inputs respectively and are spliced after obtaining the results to be used as inputs for the next stage.</a:t>
            </a:r>
          </a:p>
        </p:txBody>
      </p:sp>
      <p:sp>
        <p:nvSpPr>
          <p:cNvPr id="3" name="文本框 2">
            <a:extLst>
              <a:ext uri="{FF2B5EF4-FFF2-40B4-BE49-F238E27FC236}">
                <a16:creationId xmlns:a16="http://schemas.microsoft.com/office/drawing/2014/main" id="{BD39DBE1-1C1B-4107-4962-BAC915863809}"/>
              </a:ext>
            </a:extLst>
          </p:cNvPr>
          <p:cNvSpPr txBox="1"/>
          <p:nvPr/>
        </p:nvSpPr>
        <p:spPr>
          <a:xfrm>
            <a:off x="1025472" y="19235121"/>
            <a:ext cx="10784040" cy="8956298"/>
          </a:xfrm>
          <a:prstGeom prst="rect">
            <a:avLst/>
          </a:prstGeom>
          <a:noFill/>
        </p:spPr>
        <p:txBody>
          <a:bodyPr wrap="square" numCol="2" rtlCol="0">
            <a:spAutoFit/>
          </a:bodyPr>
          <a:lstStyle/>
          <a:p>
            <a:pPr marL="457200" indent="-457200">
              <a:buFont typeface="Wingdings" panose="05000000000000000000" pitchFamily="2" charset="2"/>
              <a:buChar char="Ø"/>
            </a:pPr>
            <a:r>
              <a:rPr lang="en-US" altLang="zh-CN" sz="3600" b="1" dirty="0">
                <a:ea typeface="Hiragino Maru Gothic Pro" panose="02010600030101010101" charset="-122"/>
              </a:rPr>
              <a:t>Method</a:t>
            </a:r>
          </a:p>
          <a:p>
            <a:pPr marL="457200" indent="-457200">
              <a:buFont typeface="Arial" panose="020B0604020202020204" pitchFamily="34" charset="0"/>
              <a:buChar char="•"/>
            </a:pPr>
            <a:r>
              <a:rPr lang="en-US" altLang="zh-CN" sz="3600" dirty="0">
                <a:ea typeface="Hiragino Maru Gothic Pro" panose="02010600030101010101" charset="-122"/>
              </a:rPr>
              <a:t>swinTAUNet</a:t>
            </a:r>
          </a:p>
          <a:p>
            <a:pPr marL="457200" indent="-457200">
              <a:buFont typeface="Wingdings" panose="05000000000000000000" pitchFamily="2" charset="2"/>
              <a:buChar char="Ø"/>
            </a:pPr>
            <a:endParaRPr lang="en-US" altLang="zh-CN" sz="3600" dirty="0">
              <a:ea typeface="Hiragino Maru Gothic Pro" panose="02010600030101010101" charset="-122"/>
            </a:endParaRPr>
          </a:p>
          <a:p>
            <a:pPr marL="457200" indent="-457200">
              <a:buFont typeface="Wingdings" panose="05000000000000000000" pitchFamily="2" charset="2"/>
              <a:buChar char="Ø"/>
            </a:pPr>
            <a:r>
              <a:rPr lang="en-US" altLang="zh-CN" sz="3600" b="1" dirty="0">
                <a:ea typeface="Hiragino Maru Gothic Pro" panose="02010600030101010101" charset="-122"/>
              </a:rPr>
              <a:t>Improve</a:t>
            </a:r>
          </a:p>
          <a:p>
            <a:pPr marL="457200" indent="-457200">
              <a:buFont typeface="Arial" panose="020B0604020202020204" pitchFamily="34" charset="0"/>
              <a:buChar char="•"/>
            </a:pPr>
            <a:r>
              <a:rPr lang="en-US" altLang="zh-CN" sz="3600" dirty="0">
                <a:ea typeface="Hiragino Maru Gothic Pro" panose="02010600030101010101" charset="-122"/>
              </a:rPr>
              <a:t>We improved the feature extraction method of Encoder and proposed the swinTAUNet. </a:t>
            </a:r>
          </a:p>
          <a:p>
            <a:pPr marL="457200" indent="-457200">
              <a:buFont typeface="Arial" panose="020B0604020202020204" pitchFamily="34" charset="0"/>
              <a:buChar char="•"/>
            </a:pPr>
            <a:endParaRPr lang="en-US" altLang="zh-CN" sz="3600" dirty="0">
              <a:ea typeface="Hiragino Maru Gothic Pro" panose="02010600030101010101" charset="-122"/>
            </a:endParaRPr>
          </a:p>
          <a:p>
            <a:pPr marL="457200" indent="-457200">
              <a:buFont typeface="Wingdings" panose="05000000000000000000" pitchFamily="2" charset="2"/>
              <a:buChar char="Ø"/>
            </a:pPr>
            <a:r>
              <a:rPr lang="en-US" altLang="zh-CN" sz="3600" b="1" dirty="0">
                <a:ea typeface="Hiragino Maru Gothic Pro" panose="02010600030101010101" charset="-122"/>
              </a:rPr>
              <a:t>Result</a:t>
            </a:r>
          </a:p>
          <a:p>
            <a:pPr marL="457200" indent="-457200">
              <a:buFont typeface="Arial" panose="020B0604020202020204" pitchFamily="34" charset="0"/>
              <a:buChar char="•"/>
            </a:pPr>
            <a:r>
              <a:rPr lang="en-US" altLang="zh-CN" sz="3600" dirty="0">
                <a:ea typeface="Hiragino Maru Gothic Pro" panose="02010600030101010101" charset="-122"/>
              </a:rPr>
              <a:t>About </a:t>
            </a:r>
            <a:r>
              <a:rPr lang="en-US" altLang="zh-CN" sz="3600" dirty="0">
                <a:solidFill>
                  <a:srgbClr val="FF0000"/>
                </a:solidFill>
                <a:ea typeface="Hiragino Maru Gothic Pro" panose="02010600030101010101" charset="-122"/>
              </a:rPr>
              <a:t>3% over </a:t>
            </a:r>
            <a:r>
              <a:rPr lang="en-US" altLang="zh-CN" sz="3600" dirty="0">
                <a:ea typeface="Hiragino Maru Gothic Pro" panose="02010600030101010101" charset="-122"/>
              </a:rPr>
              <a:t>the </a:t>
            </a:r>
            <a:r>
              <a:rPr lang="en-US" altLang="zh-CN" sz="3600" i="0" u="none" strike="noStrike" baseline="0" dirty="0">
                <a:ea typeface="Hiragino Maru Gothic Pro" panose="02010600030101010101" charset="-122"/>
              </a:rPr>
              <a:t>swinTXUNet, </a:t>
            </a:r>
            <a:r>
              <a:rPr lang="en-US" altLang="zh-CN" sz="3600" dirty="0">
                <a:solidFill>
                  <a:srgbClr val="FF0000"/>
                </a:solidFill>
                <a:ea typeface="Hiragino Maru Gothic Pro" panose="02010600030101010101" charset="-122"/>
              </a:rPr>
              <a:t>12% improvement</a:t>
            </a:r>
            <a:r>
              <a:rPr lang="en-US" altLang="zh-CN" sz="3600" dirty="0">
                <a:ea typeface="Hiragino Maru Gothic Pro" panose="02010600030101010101" charset="-122"/>
              </a:rPr>
              <a:t> over the previous methods</a:t>
            </a:r>
            <a:r>
              <a:rPr lang="zh-CN" altLang="en-US" sz="3600" dirty="0">
                <a:ea typeface="Hiragino Maru Gothic Pro" panose="02010600030101010101" charset="-122"/>
              </a:rPr>
              <a:t> </a:t>
            </a:r>
            <a:r>
              <a:rPr lang="en-US" altLang="zh-CN" sz="3600" dirty="0">
                <a:ea typeface="Hiragino Maru Gothic Pro" panose="02010600030101010101" charset="-122"/>
              </a:rPr>
              <a:t>and</a:t>
            </a:r>
            <a:r>
              <a:rPr lang="zh-CN" altLang="en-US" sz="3600" dirty="0">
                <a:ea typeface="Hiragino Maru Gothic Pro" panose="02010600030101010101" charset="-122"/>
              </a:rPr>
              <a:t> </a:t>
            </a:r>
            <a:r>
              <a:rPr lang="en-US" altLang="zh-CN" sz="3600" dirty="0">
                <a:solidFill>
                  <a:srgbClr val="FF0000"/>
                </a:solidFill>
                <a:ea typeface="Hiragino Maru Gothic Pro" panose="02010600030101010101" charset="-122"/>
              </a:rPr>
              <a:t>reducing training time by 58%</a:t>
            </a:r>
            <a:r>
              <a:rPr lang="en-US" altLang="zh-CN" sz="3600" dirty="0">
                <a:ea typeface="Hiragino Maru Gothic Pro" panose="02010600030101010101" charset="-122"/>
              </a:rPr>
              <a:t>.</a:t>
            </a:r>
          </a:p>
          <a:p>
            <a:pPr marL="457200" indent="-457200">
              <a:buFont typeface="Wingdings" panose="05000000000000000000" pitchFamily="2" charset="2"/>
              <a:buChar char="Ø"/>
            </a:pPr>
            <a:r>
              <a:rPr lang="en-US" altLang="zh-CN" sz="3600" b="1" dirty="0" smtClean="0">
                <a:ea typeface="Hiragino Maru Gothic Pro" panose="02010600030101010101" charset="-122"/>
              </a:rPr>
              <a:t>Structure</a:t>
            </a:r>
            <a:endParaRPr lang="en-US" altLang="zh-CN" sz="3600" b="1" dirty="0">
              <a:ea typeface="Hiragino Maru Gothic Pro" panose="02010600030101010101" charset="-122"/>
            </a:endParaRPr>
          </a:p>
          <a:p>
            <a:pPr marL="457200" indent="-457200">
              <a:buFont typeface="Arial" panose="020B0604020202020204" pitchFamily="34" charset="0"/>
              <a:buChar char="•"/>
            </a:pPr>
            <a:r>
              <a:rPr lang="en-US" altLang="zh-CN" sz="3600" dirty="0">
                <a:ea typeface="Hiragino Maru Gothic Pro" panose="02010600030101010101" charset="-122"/>
              </a:rPr>
              <a:t>The Encoder of swinTAUNet is designed based on the </a:t>
            </a:r>
            <a:r>
              <a:rPr lang="en-US" altLang="zh-CN" sz="3600" dirty="0">
                <a:solidFill>
                  <a:srgbClr val="FF0000"/>
                </a:solidFill>
                <a:ea typeface="Hiragino Maru Gothic Pro" panose="02010600030101010101" charset="-122"/>
              </a:rPr>
              <a:t>TAUmodule</a:t>
            </a:r>
            <a:r>
              <a:rPr lang="en-US" altLang="zh-CN" sz="3600" dirty="0">
                <a:ea typeface="Hiragino Maru Gothic Pro" panose="02010600030101010101" charset="-122"/>
              </a:rPr>
              <a:t>. </a:t>
            </a:r>
          </a:p>
          <a:p>
            <a:pPr marL="457200" indent="-457200">
              <a:buFont typeface="Arial" panose="020B0604020202020204" pitchFamily="34" charset="0"/>
              <a:buChar char="•"/>
            </a:pPr>
            <a:r>
              <a:rPr lang="en-US" altLang="zh-CN" sz="3600" dirty="0">
                <a:ea typeface="Hiragino Maru Gothic Pro" panose="02010600030101010101" charset="-122"/>
              </a:rPr>
              <a:t>Unlike the TXUmodule, the TAUmodule </a:t>
            </a:r>
            <a:r>
              <a:rPr lang="en-US" altLang="zh-CN" sz="3600" dirty="0">
                <a:solidFill>
                  <a:srgbClr val="FF0000"/>
                </a:solidFill>
                <a:ea typeface="Hiragino Maru Gothic Pro" panose="02010600030101010101" charset="-122"/>
              </a:rPr>
              <a:t>only performs feature fusion at the time of skip-connection</a:t>
            </a:r>
            <a:r>
              <a:rPr lang="en-US" altLang="zh-CN" sz="3600" dirty="0">
                <a:ea typeface="Hiragino Maru Gothic Pro" panose="02010600030101010101" charset="-122"/>
              </a:rPr>
              <a:t>, and the feature extraction part is performed using two independent branches of CNN and Transformer. </a:t>
            </a:r>
          </a:p>
          <a:p>
            <a:endParaRPr lang="en-US" altLang="zh-CN" sz="3600" dirty="0">
              <a:ea typeface="Hiragino Maru Gothic Pro" panose="02010600030101010101" charset="-122"/>
            </a:endParaRPr>
          </a:p>
        </p:txBody>
      </p:sp>
      <p:sp>
        <p:nvSpPr>
          <p:cNvPr id="6" name="文本框 5">
            <a:extLst>
              <a:ext uri="{FF2B5EF4-FFF2-40B4-BE49-F238E27FC236}">
                <a16:creationId xmlns:a16="http://schemas.microsoft.com/office/drawing/2014/main" id="{C65EC565-21CD-CF65-0EBD-A3AEAEA3F5F2}"/>
              </a:ext>
            </a:extLst>
          </p:cNvPr>
          <p:cNvSpPr txBox="1"/>
          <p:nvPr/>
        </p:nvSpPr>
        <p:spPr>
          <a:xfrm>
            <a:off x="13079595" y="36196496"/>
            <a:ext cx="14172975" cy="4524315"/>
          </a:xfrm>
          <a:prstGeom prst="rect">
            <a:avLst/>
          </a:prstGeom>
          <a:noFill/>
        </p:spPr>
        <p:txBody>
          <a:bodyPr wrap="square" rtlCol="0">
            <a:spAutoFit/>
          </a:bodyPr>
          <a:lstStyle/>
          <a:p>
            <a:pPr marL="457200" indent="-457200">
              <a:buFont typeface="Arial" panose="020B0604020202020204" pitchFamily="34" charset="0"/>
              <a:buChar char="•"/>
            </a:pPr>
            <a:r>
              <a:rPr lang="en-US" altLang="zh-CN" sz="3200" dirty="0">
                <a:ea typeface="Hiragino Maru Gothic Pro" panose="02010600030101010101" charset="-122"/>
              </a:rPr>
              <a:t>From the training result, both of our proposed models show a large improvement over the previous models, with the accuracy of swinTXUNet is improved by </a:t>
            </a:r>
            <a:r>
              <a:rPr lang="en-US" altLang="zh-CN" sz="3200" dirty="0">
                <a:solidFill>
                  <a:srgbClr val="FF0000"/>
                </a:solidFill>
                <a:ea typeface="Hiragino Maru Gothic Pro" panose="02010600030101010101" charset="-122"/>
              </a:rPr>
              <a:t>about 9%</a:t>
            </a:r>
            <a:r>
              <a:rPr lang="en-US" altLang="zh-CN" sz="3200" dirty="0">
                <a:ea typeface="Hiragino Maru Gothic Pro" panose="02010600030101010101" charset="-122"/>
              </a:rPr>
              <a:t> , swinTAUNet is improved by </a:t>
            </a:r>
            <a:r>
              <a:rPr lang="en-US" altLang="zh-CN" sz="3200" dirty="0">
                <a:solidFill>
                  <a:srgbClr val="FF0000"/>
                </a:solidFill>
                <a:ea typeface="Hiragino Maru Gothic Pro" panose="02010600030101010101" charset="-122"/>
              </a:rPr>
              <a:t>almost 12%</a:t>
            </a:r>
            <a:r>
              <a:rPr lang="en-US" altLang="zh-CN" sz="3200" dirty="0">
                <a:ea typeface="Hiragino Maru Gothic Pro" panose="02010600030101010101" charset="-122"/>
              </a:rPr>
              <a:t>. </a:t>
            </a:r>
          </a:p>
          <a:p>
            <a:pPr marL="457200" indent="-457200">
              <a:buFont typeface="Arial" panose="020B0604020202020204" pitchFamily="34" charset="0"/>
              <a:buChar char="•"/>
            </a:pPr>
            <a:r>
              <a:rPr lang="en-US" altLang="zh-CN" sz="3200" dirty="0">
                <a:ea typeface="Hiragino Maru Gothic Pro" panose="02010600030101010101" charset="-122"/>
              </a:rPr>
              <a:t>However, due to without relying on pre-training, our proposal maneuver converges </a:t>
            </a:r>
            <a:r>
              <a:rPr lang="en-US" altLang="zh-CN" sz="3200" dirty="0">
                <a:solidFill>
                  <a:srgbClr val="FF0000"/>
                </a:solidFill>
                <a:ea typeface="Hiragino Maru Gothic Pro" panose="02010600030101010101" charset="-122"/>
              </a:rPr>
              <a:t>slower</a:t>
            </a:r>
            <a:r>
              <a:rPr lang="en-US" altLang="zh-CN" sz="3200" dirty="0">
                <a:ea typeface="Hiragino Maru Gothic Pro" panose="02010600030101010101" charset="-122"/>
              </a:rPr>
              <a:t> than the previous models. </a:t>
            </a:r>
          </a:p>
          <a:p>
            <a:pPr marL="457200" indent="-457200">
              <a:buFont typeface="Arial" panose="020B0604020202020204" pitchFamily="34" charset="0"/>
              <a:buChar char="•"/>
            </a:pPr>
            <a:r>
              <a:rPr lang="en-US" altLang="zh-CN" sz="3200" dirty="0">
                <a:ea typeface="Hiragino Maru Gothic Pro" panose="02010600030101010101" charset="-122"/>
              </a:rPr>
              <a:t>From the results of the final 100 epochs of training, the model converges smoothly with small fluctuations, no obvious decrease in the model accuracy in the late stage of training, which shows that </a:t>
            </a:r>
            <a:r>
              <a:rPr lang="en-US" altLang="zh-CN" sz="3200" dirty="0">
                <a:solidFill>
                  <a:srgbClr val="FF0000"/>
                </a:solidFill>
                <a:ea typeface="Hiragino Maru Gothic Pro" panose="02010600030101010101" charset="-122"/>
              </a:rPr>
              <a:t>no</a:t>
            </a:r>
            <a:r>
              <a:rPr lang="en-US" altLang="zh-CN" sz="3200" dirty="0">
                <a:ea typeface="Hiragino Maru Gothic Pro" panose="02010600030101010101" charset="-122"/>
              </a:rPr>
              <a:t> obvious sign of </a:t>
            </a:r>
            <a:r>
              <a:rPr lang="en-US" altLang="zh-CN" sz="3200" dirty="0">
                <a:solidFill>
                  <a:srgbClr val="FF0000"/>
                </a:solidFill>
                <a:ea typeface="Hiragino Maru Gothic Pro" panose="02010600030101010101" charset="-122"/>
              </a:rPr>
              <a:t>overfitting</a:t>
            </a:r>
            <a:r>
              <a:rPr lang="en-US" altLang="zh-CN" sz="3200" dirty="0">
                <a:ea typeface="Hiragino Maru Gothic Pro" panose="02010600030101010101" charset="-122"/>
              </a:rPr>
              <a:t>, and proving the potential of the hybrid structure of the CNN and the Transformer. </a:t>
            </a:r>
            <a:endParaRPr lang="zh-CN" altLang="en-US" sz="3200" dirty="0">
              <a:ea typeface="Hiragino Maru Gothic Pro" panose="02010600030101010101" charset="-122"/>
            </a:endParaRPr>
          </a:p>
        </p:txBody>
      </p:sp>
      <p:sp>
        <p:nvSpPr>
          <p:cNvPr id="16" name="文本框 15">
            <a:extLst>
              <a:ext uri="{FF2B5EF4-FFF2-40B4-BE49-F238E27FC236}">
                <a16:creationId xmlns:a16="http://schemas.microsoft.com/office/drawing/2014/main" id="{9C078E4B-0FEB-4A2D-8F8A-60FAA7678C47}"/>
              </a:ext>
            </a:extLst>
          </p:cNvPr>
          <p:cNvSpPr txBox="1"/>
          <p:nvPr/>
        </p:nvSpPr>
        <p:spPr>
          <a:xfrm>
            <a:off x="1440360" y="28923687"/>
            <a:ext cx="13609512" cy="3168000"/>
          </a:xfrm>
          <a:prstGeom prst="rect">
            <a:avLst/>
          </a:prstGeom>
          <a:noFill/>
        </p:spPr>
        <p:txBody>
          <a:bodyPr wrap="square" numCol="2" rtlCol="0">
            <a:spAutoFit/>
          </a:bodyPr>
          <a:lstStyle/>
          <a:p>
            <a:pPr>
              <a:lnSpc>
                <a:spcPts val="3000"/>
              </a:lnSpc>
            </a:pPr>
            <a:r>
              <a:rPr lang="en-US" altLang="zh-CN" sz="3600" dirty="0">
                <a:ea typeface="Hiragino Maru Gothic Pro" panose="02010600030101010101" charset="-122"/>
              </a:rPr>
              <a:t>Dataset</a:t>
            </a:r>
            <a:r>
              <a:rPr lang="en-US" altLang="ja-JP" sz="3600" dirty="0">
                <a:ea typeface="Hiragino Maru Gothic Pro" panose="02010600030101010101" charset="-122"/>
              </a:rPr>
              <a:t>: ISLES2018</a:t>
            </a:r>
          </a:p>
          <a:p>
            <a:pPr>
              <a:lnSpc>
                <a:spcPts val="3000"/>
              </a:lnSpc>
            </a:pPr>
            <a:endParaRPr lang="en-US" altLang="ja-JP" sz="3600" dirty="0">
              <a:ea typeface="Hiragino Maru Gothic Pro" panose="02010600030101010101" charset="-122"/>
            </a:endParaRPr>
          </a:p>
          <a:p>
            <a:pPr>
              <a:lnSpc>
                <a:spcPts val="3000"/>
              </a:lnSpc>
            </a:pPr>
            <a:r>
              <a:rPr lang="en-US" altLang="ja-JP" sz="3600" dirty="0">
                <a:ea typeface="Hiragino Maru Gothic Pro" panose="02010600030101010101" charset="-122"/>
              </a:rPr>
              <a:t>Loss function: Soft dice loss</a:t>
            </a:r>
          </a:p>
          <a:p>
            <a:pPr>
              <a:lnSpc>
                <a:spcPts val="3000"/>
              </a:lnSpc>
            </a:pPr>
            <a:r>
              <a:rPr lang="en-US" altLang="ja-JP" sz="3600" dirty="0">
                <a:ea typeface="Hiragino Maru Gothic Pro" panose="02010600030101010101" charset="-122"/>
              </a:rPr>
              <a:t> </a:t>
            </a:r>
            <a:r>
              <a:rPr lang="ja-JP" altLang="en-US" sz="3600" dirty="0">
                <a:ea typeface="Hiragino Maru Gothic Pro" panose="02010600030101010101" charset="-122"/>
              </a:rPr>
              <a:t>  </a:t>
            </a:r>
            <a:endParaRPr lang="zh-CN" altLang="en-US" sz="3600" dirty="0">
              <a:ea typeface="Hiragino Maru Gothic Pro" panose="02010600030101010101" charset="-122"/>
            </a:endParaRPr>
          </a:p>
          <a:p>
            <a:pPr>
              <a:lnSpc>
                <a:spcPts val="3000"/>
              </a:lnSpc>
            </a:pPr>
            <a:r>
              <a:rPr lang="en-US" altLang="zh-CN" sz="3600" dirty="0">
                <a:ea typeface="Hiragino Maru Gothic Pro" panose="02010600030101010101" charset="-122"/>
              </a:rPr>
              <a:t>Optimizer: AdamW</a:t>
            </a:r>
          </a:p>
          <a:p>
            <a:pPr>
              <a:lnSpc>
                <a:spcPts val="3000"/>
              </a:lnSpc>
            </a:pPr>
            <a:endParaRPr lang="en-US" altLang="zh-CN" sz="3600" dirty="0" smtClean="0">
              <a:ea typeface="Hiragino Maru Gothic Pro" panose="02010600030101010101" charset="-122"/>
            </a:endParaRPr>
          </a:p>
          <a:p>
            <a:pPr>
              <a:lnSpc>
                <a:spcPts val="3000"/>
              </a:lnSpc>
            </a:pPr>
            <a:r>
              <a:rPr lang="en-US" altLang="zh-CN" sz="3600" dirty="0">
                <a:ea typeface="Hiragino Maru Gothic Pro" panose="02010600030101010101" charset="-122"/>
              </a:rPr>
              <a:t>Scheduler: </a:t>
            </a:r>
            <a:r>
              <a:rPr lang="en-US" altLang="zh-CN" sz="3600" dirty="0" err="1" smtClean="0">
                <a:ea typeface="Hiragino Maru Gothic Pro" panose="02010600030101010101" charset="-122"/>
              </a:rPr>
              <a:t>ReduceLROnPlateau</a:t>
            </a:r>
            <a:r>
              <a:rPr lang="en-US" altLang="zh-CN" sz="3600" dirty="0" smtClean="0">
                <a:ea typeface="Hiragino Maru Gothic Pro" panose="02010600030101010101" charset="-122"/>
              </a:rPr>
              <a:t>(min)</a:t>
            </a:r>
          </a:p>
          <a:p>
            <a:pPr>
              <a:lnSpc>
                <a:spcPts val="3000"/>
              </a:lnSpc>
            </a:pPr>
            <a:endParaRPr lang="en-US" altLang="zh-CN" sz="3600" dirty="0">
              <a:ea typeface="Hiragino Maru Gothic Pro" panose="02010600030101010101" charset="-122"/>
            </a:endParaRPr>
          </a:p>
          <a:p>
            <a:pPr>
              <a:lnSpc>
                <a:spcPts val="3000"/>
              </a:lnSpc>
            </a:pPr>
            <a:r>
              <a:rPr lang="en-US" altLang="zh-CN" sz="3600" dirty="0">
                <a:ea typeface="Hiragino Maru Gothic Pro" panose="02010600030101010101" charset="-122"/>
              </a:rPr>
              <a:t>Software: Pytorch 2.2.5</a:t>
            </a:r>
          </a:p>
          <a:p>
            <a:pPr>
              <a:lnSpc>
                <a:spcPts val="3000"/>
              </a:lnSpc>
            </a:pPr>
            <a:endParaRPr lang="en-US" altLang="zh-CN" sz="3600" dirty="0">
              <a:ea typeface="Hiragino Maru Gothic Pro" panose="02010600030101010101" charset="-122"/>
            </a:endParaRPr>
          </a:p>
          <a:p>
            <a:pPr>
              <a:lnSpc>
                <a:spcPts val="3000"/>
              </a:lnSpc>
            </a:pPr>
            <a:r>
              <a:rPr lang="en-US" altLang="zh-CN" sz="3600" dirty="0">
                <a:ea typeface="Hiragino Maru Gothic Pro" panose="02010600030101010101" charset="-122"/>
              </a:rPr>
              <a:t>Learning rate: 5.23e-05</a:t>
            </a:r>
          </a:p>
          <a:p>
            <a:pPr>
              <a:lnSpc>
                <a:spcPts val="3000"/>
              </a:lnSpc>
            </a:pPr>
            <a:endParaRPr lang="en-US" altLang="zh-CN" sz="3600" dirty="0">
              <a:ea typeface="Hiragino Maru Gothic Pro" panose="02010600030101010101" charset="-122"/>
            </a:endParaRPr>
          </a:p>
          <a:p>
            <a:pPr>
              <a:lnSpc>
                <a:spcPts val="3000"/>
              </a:lnSpc>
            </a:pPr>
            <a:r>
              <a:rPr lang="en-US" altLang="zh-CN" sz="3600" dirty="0">
                <a:ea typeface="Hiragino Maru Gothic Pro" panose="02010600030101010101" charset="-122"/>
              </a:rPr>
              <a:t>Hardware: RTX3090(24GB) </a:t>
            </a:r>
          </a:p>
        </p:txBody>
      </p:sp>
      <p:sp>
        <p:nvSpPr>
          <p:cNvPr id="7" name="箭头: 左 6">
            <a:extLst>
              <a:ext uri="{FF2B5EF4-FFF2-40B4-BE49-F238E27FC236}">
                <a16:creationId xmlns:a16="http://schemas.microsoft.com/office/drawing/2014/main" id="{2109AC28-BC75-6F91-3D9B-53CC4374A70E}"/>
              </a:ext>
            </a:extLst>
          </p:cNvPr>
          <p:cNvSpPr/>
          <p:nvPr/>
        </p:nvSpPr>
        <p:spPr>
          <a:xfrm>
            <a:off x="6252629" y="13906528"/>
            <a:ext cx="1078525" cy="936000"/>
          </a:xfrm>
          <a:prstGeom prst="lef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08F9B3C0-DA46-028F-0C20-38410F527F86}"/>
              </a:ext>
            </a:extLst>
          </p:cNvPr>
          <p:cNvSpPr/>
          <p:nvPr/>
        </p:nvSpPr>
        <p:spPr>
          <a:xfrm>
            <a:off x="7561040" y="14202537"/>
            <a:ext cx="1800200" cy="432048"/>
          </a:xfrm>
          <a:prstGeom prst="rect">
            <a:avLst/>
          </a:prstGeom>
          <a:noFill/>
          <a:ln w="5715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BDB0E7E0-4D42-56D4-4279-435FC16CA794}"/>
              </a:ext>
            </a:extLst>
          </p:cNvPr>
          <p:cNvSpPr/>
          <p:nvPr/>
        </p:nvSpPr>
        <p:spPr>
          <a:xfrm>
            <a:off x="18998285" y="22979537"/>
            <a:ext cx="1656184" cy="504056"/>
          </a:xfrm>
          <a:prstGeom prst="rect">
            <a:avLst/>
          </a:prstGeom>
          <a:noFill/>
          <a:ln w="5715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13" name="箭头: 左 12">
            <a:extLst>
              <a:ext uri="{FF2B5EF4-FFF2-40B4-BE49-F238E27FC236}">
                <a16:creationId xmlns:a16="http://schemas.microsoft.com/office/drawing/2014/main" id="{E462AAEC-C450-4FAC-8612-0547C8CC095B}"/>
              </a:ext>
            </a:extLst>
          </p:cNvPr>
          <p:cNvSpPr/>
          <p:nvPr/>
        </p:nvSpPr>
        <p:spPr>
          <a:xfrm>
            <a:off x="17714288" y="22763617"/>
            <a:ext cx="1080000" cy="936000"/>
          </a:xfrm>
          <a:prstGeom prst="lef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cxnSp>
        <p:nvCxnSpPr>
          <p:cNvPr id="20" name="直接连接符 19">
            <a:extLst>
              <a:ext uri="{FF2B5EF4-FFF2-40B4-BE49-F238E27FC236}">
                <a16:creationId xmlns:a16="http://schemas.microsoft.com/office/drawing/2014/main" id="{6ED8435D-01B3-EBA6-F921-138611108A08}"/>
              </a:ext>
            </a:extLst>
          </p:cNvPr>
          <p:cNvCxnSpPr>
            <a:cxnSpLocks/>
          </p:cNvCxnSpPr>
          <p:nvPr/>
        </p:nvCxnSpPr>
        <p:spPr>
          <a:xfrm>
            <a:off x="861735" y="20315564"/>
            <a:ext cx="26717903" cy="0"/>
          </a:xfrm>
          <a:prstGeom prst="line">
            <a:avLst/>
          </a:prstGeom>
          <a:ln w="19050">
            <a:noFill/>
          </a:ln>
        </p:spPr>
        <p:style>
          <a:lnRef idx="2">
            <a:schemeClr val="accent5"/>
          </a:lnRef>
          <a:fillRef idx="0">
            <a:schemeClr val="accent5"/>
          </a:fillRef>
          <a:effectRef idx="1">
            <a:schemeClr val="accent5"/>
          </a:effectRef>
          <a:fontRef idx="minor">
            <a:schemeClr val="tx1"/>
          </a:fontRef>
        </p:style>
      </p:cxnSp>
      <p:sp>
        <p:nvSpPr>
          <p:cNvPr id="8" name="角丸四角形 7"/>
          <p:cNvSpPr/>
          <p:nvPr/>
        </p:nvSpPr>
        <p:spPr>
          <a:xfrm>
            <a:off x="895439" y="11030192"/>
            <a:ext cx="26684199" cy="17133922"/>
          </a:xfrm>
          <a:prstGeom prst="roundRect">
            <a:avLst>
              <a:gd name="adj" fmla="val 4313"/>
            </a:avLst>
          </a:prstGeom>
          <a:noFill/>
          <a:ln w="10160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lIns="87810" tIns="43905" rIns="87810" bIns="43905" rtlCol="0" anchor="t"/>
          <a:lstStyle/>
          <a:p>
            <a:endParaRPr lang="en-US" altLang="ja-JP" sz="3200" dirty="0">
              <a:solidFill>
                <a:schemeClr val="tx1"/>
              </a:solidFill>
            </a:endParaRPr>
          </a:p>
        </p:txBody>
      </p:sp>
      <p:sp>
        <p:nvSpPr>
          <p:cNvPr id="31" name="角丸四角形 78"/>
          <p:cNvSpPr/>
          <p:nvPr/>
        </p:nvSpPr>
        <p:spPr>
          <a:xfrm>
            <a:off x="901645" y="28419631"/>
            <a:ext cx="26628661" cy="12589211"/>
          </a:xfrm>
          <a:prstGeom prst="roundRect">
            <a:avLst>
              <a:gd name="adj" fmla="val 5576"/>
            </a:avLst>
          </a:prstGeom>
          <a:noFill/>
          <a:ln w="10160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lIns="87810" tIns="43905" rIns="87810" bIns="43905" rtlCol="0" anchor="t"/>
          <a:lstStyle/>
          <a:p>
            <a:endParaRPr lang="en-US" altLang="ja-JP" sz="6600" dirty="0"/>
          </a:p>
          <a:p>
            <a:pPr marL="548640" indent="-548640">
              <a:buFont typeface="Wingdings" panose="05000000000000000000" pitchFamily="2" charset="2"/>
              <a:buChar char="l"/>
              <a:tabLst>
                <a:tab pos="2750185" algn="l"/>
              </a:tabLst>
            </a:pPr>
            <a:endParaRPr lang="en-US" altLang="ja-JP" sz="4000" dirty="0">
              <a:solidFill>
                <a:schemeClr val="tx1"/>
              </a:solidFill>
            </a:endParaRPr>
          </a:p>
          <a:p>
            <a:pPr marL="548640" indent="-548640">
              <a:buFont typeface="Wingdings" panose="05000000000000000000" pitchFamily="2" charset="2"/>
              <a:buChar char="l"/>
              <a:tabLst>
                <a:tab pos="2750185" algn="l"/>
              </a:tabLst>
            </a:pPr>
            <a:endParaRPr lang="en-US" altLang="ja-JP" sz="4000" dirty="0">
              <a:solidFill>
                <a:schemeClr val="tx1"/>
              </a:solidFill>
            </a:endParaRPr>
          </a:p>
          <a:p>
            <a:pPr marL="548640" indent="-548640">
              <a:buFont typeface="Wingdings" panose="05000000000000000000" pitchFamily="2" charset="2"/>
              <a:buChar char="l"/>
              <a:tabLst>
                <a:tab pos="2750185" algn="l"/>
              </a:tabLst>
            </a:pPr>
            <a:endParaRPr lang="en-US" altLang="ja-JP" sz="4000" dirty="0">
              <a:solidFill>
                <a:schemeClr val="tx1"/>
              </a:solidFill>
            </a:endParaRPr>
          </a:p>
          <a:p>
            <a:pPr marL="548640" indent="-548640">
              <a:buFont typeface="Wingdings" panose="05000000000000000000" pitchFamily="2" charset="2"/>
              <a:buChar char="l"/>
              <a:tabLst>
                <a:tab pos="2750185" algn="l"/>
              </a:tabLst>
            </a:pPr>
            <a:endParaRPr lang="en-US" altLang="ja-JP" sz="4000" dirty="0">
              <a:solidFill>
                <a:schemeClr val="tx1"/>
              </a:solidFill>
            </a:endParaRPr>
          </a:p>
          <a:p>
            <a:pPr marL="548640" indent="-548640">
              <a:buFont typeface="Wingdings" panose="05000000000000000000" pitchFamily="2" charset="2"/>
              <a:buChar char="l"/>
              <a:tabLst>
                <a:tab pos="2750185" algn="l"/>
              </a:tabLst>
            </a:pPr>
            <a:endParaRPr lang="en-US" altLang="ja-JP" sz="4000" dirty="0">
              <a:solidFill>
                <a:schemeClr val="tx1"/>
              </a:solidFill>
            </a:endParaRPr>
          </a:p>
          <a:p>
            <a:pPr marL="548640" indent="-548640">
              <a:buFont typeface="Wingdings" panose="05000000000000000000" pitchFamily="2" charset="2"/>
              <a:buChar char="l"/>
              <a:tabLst>
                <a:tab pos="2750185" algn="l"/>
              </a:tabLst>
            </a:pPr>
            <a:endParaRPr lang="en-US" altLang="ja-JP" sz="4000" dirty="0">
              <a:solidFill>
                <a:schemeClr val="tx1"/>
              </a:solidFill>
            </a:endParaRPr>
          </a:p>
          <a:p>
            <a:pPr marL="548640" indent="-548640">
              <a:buFont typeface="Wingdings" panose="05000000000000000000" pitchFamily="2" charset="2"/>
              <a:buChar char="l"/>
              <a:tabLst>
                <a:tab pos="2750185" algn="l"/>
              </a:tabLst>
            </a:pPr>
            <a:endParaRPr lang="en-US" altLang="ja-JP" sz="4000" dirty="0">
              <a:solidFill>
                <a:schemeClr val="tx1"/>
              </a:solidFill>
            </a:endParaRPr>
          </a:p>
          <a:p>
            <a:pPr marL="548640" indent="-548640">
              <a:buFont typeface="Wingdings" panose="05000000000000000000" pitchFamily="2" charset="2"/>
              <a:buChar char="l"/>
              <a:tabLst>
                <a:tab pos="2750185" algn="l"/>
              </a:tabLst>
            </a:pPr>
            <a:endParaRPr lang="en-US" altLang="ja-JP" sz="4000" dirty="0">
              <a:solidFill>
                <a:schemeClr val="tx1"/>
              </a:solidFill>
            </a:endParaRPr>
          </a:p>
          <a:p>
            <a:pPr marL="548640" indent="-548640">
              <a:buFont typeface="Wingdings" panose="05000000000000000000" pitchFamily="2" charset="2"/>
              <a:buChar char="l"/>
              <a:tabLst>
                <a:tab pos="2750185" algn="l"/>
              </a:tabLst>
            </a:pPr>
            <a:endParaRPr lang="en-US" altLang="ja-JP" sz="4000" dirty="0">
              <a:solidFill>
                <a:schemeClr val="tx1"/>
              </a:solidFill>
            </a:endParaRPr>
          </a:p>
          <a:p>
            <a:pPr marL="548640" indent="-548640">
              <a:buFont typeface="Wingdings" panose="05000000000000000000" pitchFamily="2" charset="2"/>
              <a:buChar char="l"/>
              <a:tabLst>
                <a:tab pos="2750185" algn="l"/>
              </a:tabLst>
            </a:pPr>
            <a:endParaRPr lang="en-US" altLang="ja-JP" sz="4000" dirty="0">
              <a:solidFill>
                <a:schemeClr val="tx1"/>
              </a:solidFill>
            </a:endParaRPr>
          </a:p>
          <a:p>
            <a:pPr marL="548640" indent="-548640">
              <a:buFont typeface="Wingdings" panose="05000000000000000000" pitchFamily="2" charset="2"/>
              <a:buChar char="l"/>
              <a:tabLst>
                <a:tab pos="2750185" algn="l"/>
              </a:tabLst>
            </a:pPr>
            <a:endParaRPr lang="en-US" altLang="ja-JP" sz="4000" dirty="0">
              <a:solidFill>
                <a:schemeClr val="tx1"/>
              </a:solidFill>
            </a:endParaRPr>
          </a:p>
          <a:p>
            <a:pPr marL="548640" indent="-548640">
              <a:buFont typeface="Wingdings" panose="05000000000000000000" pitchFamily="2" charset="2"/>
              <a:buChar char="l"/>
              <a:tabLst>
                <a:tab pos="2750185" algn="l"/>
              </a:tabLst>
            </a:pPr>
            <a:endParaRPr lang="en-US" altLang="ja-JP" sz="4000" dirty="0">
              <a:solidFill>
                <a:schemeClr val="tx1"/>
              </a:solidFill>
            </a:endParaRPr>
          </a:p>
          <a:p>
            <a:pPr marL="548640" indent="-548640">
              <a:buFont typeface="Wingdings" panose="05000000000000000000" pitchFamily="2" charset="2"/>
              <a:buChar char="l"/>
              <a:tabLst>
                <a:tab pos="2750185" algn="l"/>
              </a:tabLst>
            </a:pPr>
            <a:endParaRPr lang="en-US" altLang="ja-JP" sz="4000" dirty="0">
              <a:solidFill>
                <a:schemeClr val="tx1"/>
              </a:solidFill>
            </a:endParaRPr>
          </a:p>
          <a:p>
            <a:pPr>
              <a:tabLst>
                <a:tab pos="2750185" algn="l"/>
              </a:tabLst>
            </a:pPr>
            <a:endParaRPr lang="en-US" altLang="ja-JP" sz="4000" dirty="0">
              <a:solidFill>
                <a:schemeClr val="tx1"/>
              </a:solidFill>
            </a:endParaRPr>
          </a:p>
          <a:p>
            <a:pPr marL="548640" indent="-548640">
              <a:buFont typeface="Wingdings" panose="05000000000000000000" pitchFamily="2" charset="2"/>
              <a:buChar char="l"/>
              <a:tabLst>
                <a:tab pos="2750185" algn="l"/>
              </a:tabLst>
            </a:pPr>
            <a:endParaRPr lang="en-US" altLang="ja-JP" sz="4000" dirty="0">
              <a:solidFill>
                <a:schemeClr val="tx1"/>
              </a:solidFill>
            </a:endParaRPr>
          </a:p>
        </p:txBody>
      </p:sp>
      <p:graphicFrame>
        <p:nvGraphicFramePr>
          <p:cNvPr id="23" name="表格 22">
            <a:extLst>
              <a:ext uri="{FF2B5EF4-FFF2-40B4-BE49-F238E27FC236}">
                <a16:creationId xmlns:a16="http://schemas.microsoft.com/office/drawing/2014/main" id="{4E963A75-92BA-8CAB-6E9E-66C9E08F82D5}"/>
              </a:ext>
            </a:extLst>
          </p:cNvPr>
          <p:cNvGraphicFramePr>
            <a:graphicFrameLocks noGrp="1"/>
          </p:cNvGraphicFramePr>
          <p:nvPr>
            <p:extLst>
              <p:ext uri="{D42A27DB-BD31-4B8C-83A1-F6EECF244321}">
                <p14:modId xmlns:p14="http://schemas.microsoft.com/office/powerpoint/2010/main" val="3820870492"/>
              </p:ext>
            </p:extLst>
          </p:nvPr>
        </p:nvGraphicFramePr>
        <p:xfrm>
          <a:off x="12864586" y="34704823"/>
          <a:ext cx="14602994" cy="1440000"/>
        </p:xfrm>
        <a:graphic>
          <a:graphicData uri="http://schemas.openxmlformats.org/drawingml/2006/table">
            <a:tbl>
              <a:tblPr firstRow="1" bandRow="1">
                <a:tableStyleId>{7DF18680-E054-41AD-8BC1-D1AEF772440D}</a:tableStyleId>
              </a:tblPr>
              <a:tblGrid>
                <a:gridCol w="2086142">
                  <a:extLst>
                    <a:ext uri="{9D8B030D-6E8A-4147-A177-3AD203B41FA5}">
                      <a16:colId xmlns:a16="http://schemas.microsoft.com/office/drawing/2014/main" val="731794972"/>
                    </a:ext>
                  </a:extLst>
                </a:gridCol>
                <a:gridCol w="2086142">
                  <a:extLst>
                    <a:ext uri="{9D8B030D-6E8A-4147-A177-3AD203B41FA5}">
                      <a16:colId xmlns:a16="http://schemas.microsoft.com/office/drawing/2014/main" val="2687078242"/>
                    </a:ext>
                  </a:extLst>
                </a:gridCol>
                <a:gridCol w="2086142">
                  <a:extLst>
                    <a:ext uri="{9D8B030D-6E8A-4147-A177-3AD203B41FA5}">
                      <a16:colId xmlns:a16="http://schemas.microsoft.com/office/drawing/2014/main" val="3898800130"/>
                    </a:ext>
                  </a:extLst>
                </a:gridCol>
                <a:gridCol w="2086142">
                  <a:extLst>
                    <a:ext uri="{9D8B030D-6E8A-4147-A177-3AD203B41FA5}">
                      <a16:colId xmlns:a16="http://schemas.microsoft.com/office/drawing/2014/main" val="3359687205"/>
                    </a:ext>
                  </a:extLst>
                </a:gridCol>
                <a:gridCol w="2086142">
                  <a:extLst>
                    <a:ext uri="{9D8B030D-6E8A-4147-A177-3AD203B41FA5}">
                      <a16:colId xmlns:a16="http://schemas.microsoft.com/office/drawing/2014/main" val="2527447709"/>
                    </a:ext>
                  </a:extLst>
                </a:gridCol>
                <a:gridCol w="2086142">
                  <a:extLst>
                    <a:ext uri="{9D8B030D-6E8A-4147-A177-3AD203B41FA5}">
                      <a16:colId xmlns:a16="http://schemas.microsoft.com/office/drawing/2014/main" val="1912829991"/>
                    </a:ext>
                  </a:extLst>
                </a:gridCol>
                <a:gridCol w="2086142">
                  <a:extLst>
                    <a:ext uri="{9D8B030D-6E8A-4147-A177-3AD203B41FA5}">
                      <a16:colId xmlns:a16="http://schemas.microsoft.com/office/drawing/2014/main" val="3462968470"/>
                    </a:ext>
                  </a:extLst>
                </a:gridCol>
              </a:tblGrid>
              <a:tr h="720000">
                <a:tc>
                  <a:txBody>
                    <a:bodyPr/>
                    <a:lstStyle/>
                    <a:p>
                      <a:pPr algn="ctr"/>
                      <a:r>
                        <a:rPr kumimoji="1" lang="en-US" altLang="ja-JP" sz="3200" dirty="0">
                          <a:latin typeface="+mn-lt"/>
                        </a:rPr>
                        <a:t>Models</a:t>
                      </a:r>
                      <a:endParaRPr kumimoji="1" lang="ja-JP" altLang="en-US" sz="3200" dirty="0">
                        <a:latin typeface="+mn-lt"/>
                      </a:endParaRPr>
                    </a:p>
                  </a:txBody>
                  <a:tcPr marL="40882" marR="40882" marT="20439" marB="20439" anchor="ctr"/>
                </a:tc>
                <a:tc>
                  <a:txBody>
                    <a:bodyPr/>
                    <a:lstStyle/>
                    <a:p>
                      <a:pPr algn="ctr"/>
                      <a:r>
                        <a:rPr kumimoji="1" lang="en-US" altLang="ja-JP" sz="2800" dirty="0">
                          <a:latin typeface="+mn-lt"/>
                        </a:rPr>
                        <a:t>swinTAUNet</a:t>
                      </a:r>
                      <a:endParaRPr kumimoji="1" lang="ja-JP" altLang="en-US" sz="2800" dirty="0">
                        <a:latin typeface="+mn-lt"/>
                      </a:endParaRPr>
                    </a:p>
                  </a:txBody>
                  <a:tcPr marL="40882" marR="40882" marT="20439" marB="20439" anchor="ctr"/>
                </a:tc>
                <a:tc>
                  <a:txBody>
                    <a:bodyPr/>
                    <a:lstStyle/>
                    <a:p>
                      <a:pPr algn="ctr"/>
                      <a:r>
                        <a:rPr lang="en-US" altLang="ja-JP" sz="2800" dirty="0">
                          <a:latin typeface="+mn-lt"/>
                        </a:rPr>
                        <a:t>swinTXUNet</a:t>
                      </a:r>
                      <a:endParaRPr kumimoji="1" lang="ja-JP" altLang="en-US" sz="2800" dirty="0">
                        <a:latin typeface="+mn-lt"/>
                      </a:endParaRPr>
                    </a:p>
                  </a:txBody>
                  <a:tcPr marL="40882" marR="40882" marT="20439" marB="20439" anchor="ctr"/>
                </a:tc>
                <a:tc>
                  <a:txBody>
                    <a:bodyPr/>
                    <a:lstStyle/>
                    <a:p>
                      <a:pPr algn="ctr"/>
                      <a:r>
                        <a:rPr kumimoji="1" lang="en-US" altLang="ja-JP" sz="2400" dirty="0">
                          <a:latin typeface="+mn-lt"/>
                        </a:rPr>
                        <a:t>DeepTransUNet</a:t>
                      </a:r>
                      <a:endParaRPr kumimoji="1" lang="ja-JP" altLang="en-US" sz="2400" dirty="0">
                        <a:latin typeface="+mn-lt"/>
                      </a:endParaRPr>
                    </a:p>
                  </a:txBody>
                  <a:tcPr marL="40882" marR="40882" marT="20439" marB="20439" anchor="ctr"/>
                </a:tc>
                <a:tc>
                  <a:txBody>
                    <a:bodyPr/>
                    <a:lstStyle/>
                    <a:p>
                      <a:pPr algn="ctr"/>
                      <a:r>
                        <a:rPr lang="en-US" altLang="ja-JP" sz="2800" dirty="0">
                          <a:latin typeface="+mn-lt"/>
                        </a:rPr>
                        <a:t>TransUNet</a:t>
                      </a:r>
                      <a:endParaRPr kumimoji="1" lang="ja-JP" altLang="en-US" sz="2800" dirty="0">
                        <a:latin typeface="+mn-lt"/>
                      </a:endParaRPr>
                    </a:p>
                  </a:txBody>
                  <a:tcPr marL="40882" marR="40882" marT="20439" marB="20439" anchor="ctr"/>
                </a:tc>
                <a:tc>
                  <a:txBody>
                    <a:bodyPr/>
                    <a:lstStyle/>
                    <a:p>
                      <a:pPr algn="ctr"/>
                      <a:r>
                        <a:rPr kumimoji="1" lang="en-US" altLang="ja-JP" sz="2800" dirty="0">
                          <a:latin typeface="+mn-lt"/>
                        </a:rPr>
                        <a:t>UNet</a:t>
                      </a:r>
                      <a:endParaRPr kumimoji="1" lang="ja-JP" altLang="en-US" sz="2800" dirty="0">
                        <a:latin typeface="+mn-lt"/>
                      </a:endParaRPr>
                    </a:p>
                  </a:txBody>
                  <a:tcPr marL="40882" marR="40882" marT="20439" marB="20439" anchor="ctr"/>
                </a:tc>
                <a:tc>
                  <a:txBody>
                    <a:bodyPr/>
                    <a:lstStyle/>
                    <a:p>
                      <a:pPr algn="ctr"/>
                      <a:r>
                        <a:rPr lang="en-US" altLang="ja-JP" sz="2800" dirty="0">
                          <a:latin typeface="+mn-lt"/>
                        </a:rPr>
                        <a:t>FCN8s</a:t>
                      </a:r>
                      <a:endParaRPr kumimoji="1" lang="ja-JP" altLang="en-US" sz="2800" dirty="0">
                        <a:latin typeface="+mn-lt"/>
                      </a:endParaRPr>
                    </a:p>
                  </a:txBody>
                  <a:tcPr marL="40882" marR="40882" marT="20439" marB="20439" anchor="ctr"/>
                </a:tc>
                <a:extLst>
                  <a:ext uri="{0D108BD9-81ED-4DB2-BD59-A6C34878D82A}">
                    <a16:rowId xmlns:a16="http://schemas.microsoft.com/office/drawing/2014/main" val="1518033032"/>
                  </a:ext>
                </a:extLst>
              </a:tr>
              <a:tr h="720000">
                <a:tc>
                  <a:txBody>
                    <a:bodyPr/>
                    <a:lstStyle/>
                    <a:p>
                      <a:pPr algn="ctr"/>
                      <a:r>
                        <a:rPr kumimoji="1" lang="en-US" altLang="ja-JP" sz="3200" dirty="0">
                          <a:latin typeface="+mn-lt"/>
                        </a:rPr>
                        <a:t>Test Dice</a:t>
                      </a:r>
                      <a:endParaRPr kumimoji="1" lang="ja-JP" altLang="en-US" sz="3200" dirty="0">
                        <a:latin typeface="+mn-lt"/>
                      </a:endParaRPr>
                    </a:p>
                  </a:txBody>
                  <a:tcPr marL="40882" marR="40882" marT="20439" marB="20439" anchor="ctr"/>
                </a:tc>
                <a:tc>
                  <a:txBody>
                    <a:bodyPr/>
                    <a:lstStyle/>
                    <a:p>
                      <a:pPr algn="ctr"/>
                      <a:r>
                        <a:rPr lang="en-US" altLang="ja-JP" sz="3200" dirty="0">
                          <a:latin typeface="+mn-lt"/>
                        </a:rPr>
                        <a:t>0.733083</a:t>
                      </a:r>
                      <a:endParaRPr kumimoji="1" lang="ja-JP" altLang="en-US" sz="3200" dirty="0">
                        <a:latin typeface="+mn-lt"/>
                      </a:endParaRPr>
                    </a:p>
                  </a:txBody>
                  <a:tcPr marL="40882" marR="40882" marT="20439" marB="20439" anchor="ctr"/>
                </a:tc>
                <a:tc>
                  <a:txBody>
                    <a:bodyPr/>
                    <a:lstStyle/>
                    <a:p>
                      <a:pPr algn="ctr"/>
                      <a:r>
                        <a:rPr kumimoji="1" lang="en-US" altLang="ja-JP" sz="3200" dirty="0">
                          <a:latin typeface="+mn-lt"/>
                        </a:rPr>
                        <a:t>0.683273</a:t>
                      </a:r>
                      <a:endParaRPr kumimoji="1" lang="ja-JP" altLang="en-US" sz="3200" dirty="0">
                        <a:latin typeface="+mn-lt"/>
                      </a:endParaRPr>
                    </a:p>
                  </a:txBody>
                  <a:tcPr marL="40882" marR="40882" marT="20439" marB="20439" anchor="ctr"/>
                </a:tc>
                <a:tc>
                  <a:txBody>
                    <a:bodyPr/>
                    <a:lstStyle/>
                    <a:p>
                      <a:pPr algn="ctr"/>
                      <a:r>
                        <a:rPr lang="en-US" altLang="ja-JP" sz="3200" dirty="0">
                          <a:latin typeface="+mn-lt"/>
                        </a:rPr>
                        <a:t>0.635591</a:t>
                      </a:r>
                      <a:endParaRPr kumimoji="1" lang="ja-JP" altLang="en-US" sz="3200" dirty="0">
                        <a:latin typeface="+mn-lt"/>
                      </a:endParaRPr>
                    </a:p>
                  </a:txBody>
                  <a:tcPr marL="40882" marR="40882" marT="20439" marB="20439" anchor="ctr"/>
                </a:tc>
                <a:tc>
                  <a:txBody>
                    <a:bodyPr/>
                    <a:lstStyle/>
                    <a:p>
                      <a:pPr algn="ctr"/>
                      <a:r>
                        <a:rPr kumimoji="1" lang="en-US" altLang="ja-JP" sz="3200" dirty="0">
                          <a:latin typeface="+mn-lt"/>
                        </a:rPr>
                        <a:t>0.587543</a:t>
                      </a:r>
                      <a:endParaRPr kumimoji="1" lang="ja-JP" altLang="en-US" sz="3200" dirty="0">
                        <a:latin typeface="+mn-lt"/>
                      </a:endParaRPr>
                    </a:p>
                  </a:txBody>
                  <a:tcPr marL="40882" marR="40882" marT="20439" marB="20439" anchor="ctr"/>
                </a:tc>
                <a:tc>
                  <a:txBody>
                    <a:bodyPr/>
                    <a:lstStyle/>
                    <a:p>
                      <a:pPr algn="ctr"/>
                      <a:r>
                        <a:rPr lang="en-US" altLang="ja-JP" sz="3200" dirty="0">
                          <a:latin typeface="+mn-lt"/>
                        </a:rPr>
                        <a:t>0.622802</a:t>
                      </a:r>
                      <a:endParaRPr kumimoji="1" lang="ja-JP" altLang="en-US" sz="3200" dirty="0">
                        <a:latin typeface="+mn-lt"/>
                      </a:endParaRPr>
                    </a:p>
                  </a:txBody>
                  <a:tcPr marL="40882" marR="40882" marT="20439" marB="20439" anchor="ctr"/>
                </a:tc>
                <a:tc>
                  <a:txBody>
                    <a:bodyPr/>
                    <a:lstStyle/>
                    <a:p>
                      <a:pPr algn="ctr"/>
                      <a:r>
                        <a:rPr kumimoji="1" lang="en-US" altLang="ja-JP" sz="3200" dirty="0">
                          <a:latin typeface="+mn-lt"/>
                        </a:rPr>
                        <a:t>0.621229</a:t>
                      </a:r>
                      <a:endParaRPr kumimoji="1" lang="ja-JP" altLang="en-US" sz="3200" dirty="0">
                        <a:latin typeface="+mn-lt"/>
                      </a:endParaRPr>
                    </a:p>
                  </a:txBody>
                  <a:tcPr marL="40882" marR="40882" marT="20439" marB="20439" anchor="ctr"/>
                </a:tc>
                <a:extLst>
                  <a:ext uri="{0D108BD9-81ED-4DB2-BD59-A6C34878D82A}">
                    <a16:rowId xmlns:a16="http://schemas.microsoft.com/office/drawing/2014/main" val="2601681252"/>
                  </a:ext>
                </a:extLst>
              </a:tr>
            </a:tbl>
          </a:graphicData>
        </a:graphic>
      </p:graphicFrame>
      <p:pic>
        <p:nvPicPr>
          <p:cNvPr id="18" name="图片 17">
            <a:extLst>
              <a:ext uri="{FF2B5EF4-FFF2-40B4-BE49-F238E27FC236}">
                <a16:creationId xmlns:a16="http://schemas.microsoft.com/office/drawing/2014/main" id="{28675E7E-7C18-3AA1-CC6F-ECF09F2FB22B}"/>
              </a:ext>
            </a:extLst>
          </p:cNvPr>
          <p:cNvPicPr>
            <a:picLocks noChangeAspect="1"/>
          </p:cNvPicPr>
          <p:nvPr/>
        </p:nvPicPr>
        <p:blipFill>
          <a:blip r:embed="rId9"/>
          <a:stretch>
            <a:fillRect/>
          </a:stretch>
        </p:blipFill>
        <p:spPr>
          <a:xfrm>
            <a:off x="13681720" y="29499752"/>
            <a:ext cx="10828412" cy="5139057"/>
          </a:xfrm>
          <a:prstGeom prst="rect">
            <a:avLst/>
          </a:prstGeom>
        </p:spPr>
      </p:pic>
      <p:sp>
        <p:nvSpPr>
          <p:cNvPr id="49" name="正方形/長方形 79">
            <a:extLst>
              <a:ext uri="{FF2B5EF4-FFF2-40B4-BE49-F238E27FC236}">
                <a16:creationId xmlns:a16="http://schemas.microsoft.com/office/drawing/2014/main" id="{9308AE51-2DDC-77FF-758A-F08BA250A541}"/>
              </a:ext>
            </a:extLst>
          </p:cNvPr>
          <p:cNvSpPr/>
          <p:nvPr/>
        </p:nvSpPr>
        <p:spPr>
          <a:xfrm>
            <a:off x="15913968" y="28563648"/>
            <a:ext cx="6830458" cy="929378"/>
          </a:xfrm>
          <a:prstGeom prst="roundRect">
            <a:avLst/>
          </a:prstGeom>
          <a:ln/>
        </p:spPr>
        <p:style>
          <a:lnRef idx="1">
            <a:schemeClr val="accent5"/>
          </a:lnRef>
          <a:fillRef idx="2">
            <a:schemeClr val="accent5"/>
          </a:fillRef>
          <a:effectRef idx="1">
            <a:schemeClr val="accent5"/>
          </a:effectRef>
          <a:fontRef idx="minor">
            <a:schemeClr val="dk1"/>
          </a:fontRef>
        </p:style>
        <p:txBody>
          <a:bodyPr lIns="87810" tIns="43905" rIns="87810" bIns="43905" rtlCol="0" anchor="ctr"/>
          <a:lstStyle/>
          <a:p>
            <a:pPr algn="ctr"/>
            <a:r>
              <a:rPr lang="en-US" altLang="ja-JP" sz="6000" b="1" dirty="0">
                <a:latin typeface="+mj-lt"/>
                <a:ea typeface="Cascadia Mono SemiBold" panose="020B0609020000020004" pitchFamily="49" charset="0"/>
                <a:cs typeface="Segoe UI Semibold" panose="020B0702040204020203" pitchFamily="34" charset="0"/>
              </a:rPr>
              <a:t>Experimentations</a:t>
            </a:r>
            <a:endParaRPr lang="ja-JP" altLang="en-US" sz="6000" b="1" dirty="0">
              <a:latin typeface="+mj-lt"/>
              <a:ea typeface="Hiragino Maru Gothic Pro" panose="02010600030101010101" charset="-122"/>
              <a:cs typeface="Segoe UI Semibold" panose="020B0702040204020203" pitchFamily="34" charset="0"/>
            </a:endParaRP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222</TotalTime>
  <Words>501</Words>
  <Application>Microsoft Office PowerPoint</Application>
  <PresentationFormat>ユーザー設定</PresentationFormat>
  <Paragraphs>79</Paragraphs>
  <Slides>1</Slides>
  <Notes>1</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1</vt:i4>
      </vt:variant>
    </vt:vector>
  </HeadingPairs>
  <TitlesOfParts>
    <vt:vector size="10" baseType="lpstr">
      <vt:lpstr>Segoe UI Semibold</vt:lpstr>
      <vt:lpstr>ＭＳ Ｐゴシック</vt:lpstr>
      <vt:lpstr>Arial</vt:lpstr>
      <vt:lpstr>Wingdings</vt:lpstr>
      <vt:lpstr>宋体</vt:lpstr>
      <vt:lpstr>Calibri</vt:lpstr>
      <vt:lpstr>Cascadia Mono SemiBold</vt:lpstr>
      <vt:lpstr>Hiragino Maru Gothic Pro</vt:lpstr>
      <vt:lpstr>Office ​​テーマ</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SBRA2015_S-2-13</dc:title>
  <dc:creator>fujita</dc:creator>
  <cp:lastModifiedBy>Yuji Watanabe</cp:lastModifiedBy>
  <cp:revision>476</cp:revision>
  <cp:lastPrinted>2023-12-14T07:44:15Z</cp:lastPrinted>
  <dcterms:created xsi:type="dcterms:W3CDTF">2023-12-14T07:44:15Z</dcterms:created>
  <dcterms:modified xsi:type="dcterms:W3CDTF">2024-10-25T09:30:44Z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AF699869D03E6601F3F24D659183F771_43</vt:lpwstr>
  </property>
  <property fmtid="{D5CDD505-2E9C-101B-9397-08002B2CF9AE}" pid="3" name="KSOProductBuildVer">
    <vt:lpwstr>2052-6.4.0.8550</vt:lpwstr>
  </property>
</Properties>
</file>