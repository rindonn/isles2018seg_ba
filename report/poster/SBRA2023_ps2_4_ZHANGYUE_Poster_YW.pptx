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28803600" cy="41405175"/>
  <p:notesSz cx="6735445" cy="9865995"/>
  <p:embeddedFontLst>
    <p:embeddedFont>
      <p:font typeface="Cambria Math" panose="02040503050406030204" pitchFamily="18" charset="0"/>
      <p:regular r:id="rId8"/>
    </p:embeddedFont>
    <p:embeddedFont>
      <p:font typeface="Hiragino Maru Gothic Pro" panose="020F0400000000000000" charset="-128"/>
      <p:regular r:id="rId9"/>
    </p:embeddedFont>
    <p:embeddedFont>
      <p:font typeface="Calibri" panose="020F0502020204030204" charset="0"/>
      <p:regular r:id="rId10"/>
    </p:embeddedFont>
  </p:embeddedFontLst>
  <p:defaultTextStyle>
    <a:defPPr>
      <a:defRPr lang="ja-JP"/>
    </a:defPPr>
    <a:lvl1pPr marL="0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1pPr>
    <a:lvl2pPr marL="2005330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2pPr>
    <a:lvl3pPr marL="4010660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3pPr>
    <a:lvl4pPr marL="6015990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4pPr>
    <a:lvl5pPr marL="8021320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5pPr>
    <a:lvl6pPr marL="10026650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6pPr>
    <a:lvl7pPr marL="12031345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7pPr>
    <a:lvl8pPr marL="14036675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8pPr>
    <a:lvl9pPr marL="16042005" algn="l" defTabSz="4010660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41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812"/>
    <a:srgbClr val="A1D99C"/>
    <a:srgbClr val="60B46A"/>
    <a:srgbClr val="CFDB00"/>
    <a:srgbClr val="85E076"/>
    <a:srgbClr val="ECF363"/>
    <a:srgbClr val="A7AF0D"/>
    <a:srgbClr val="CFD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howGuides="1">
      <p:cViewPr>
        <p:scale>
          <a:sx n="50" d="100"/>
          <a:sy n="50" d="100"/>
        </p:scale>
        <p:origin x="90" y="-8256"/>
      </p:cViewPr>
      <p:guideLst>
        <p:guide orient="horz" pos="13041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693" cy="495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194" y="0"/>
            <a:ext cx="2918693" cy="495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7924" y="1233249"/>
            <a:ext cx="5919597" cy="332977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45" y="4748010"/>
            <a:ext cx="5388356" cy="388473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0983"/>
            <a:ext cx="2918693" cy="495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194" y="9370983"/>
            <a:ext cx="2918693" cy="495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209800" y="1233488"/>
            <a:ext cx="2316163" cy="33289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60270" y="12862450"/>
            <a:ext cx="24483060" cy="887527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20540" y="23462932"/>
            <a:ext cx="20162520" cy="10581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05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10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015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02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02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031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037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042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75286" y="26606668"/>
            <a:ext cx="24483060" cy="8223528"/>
          </a:xfrm>
        </p:spPr>
        <p:txBody>
          <a:bodyPr anchor="t"/>
          <a:lstStyle>
            <a:lvl1pPr algn="l">
              <a:defRPr sz="17600" b="1" cap="all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275286" y="17549282"/>
            <a:ext cx="24483060" cy="9057379"/>
          </a:xfrm>
        </p:spPr>
        <p:txBody>
          <a:bodyPr anchor="b"/>
          <a:lstStyle>
            <a:lvl1pPr marL="0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1pPr>
            <a:lvl2pPr marL="200533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2pPr>
            <a:lvl3pPr marL="401066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3pPr>
            <a:lvl4pPr marL="601599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4pPr>
            <a:lvl5pPr marL="802132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5pPr>
            <a:lvl6pPr marL="1002665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6pPr>
            <a:lvl7pPr marL="120319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7pPr>
            <a:lvl8pPr marL="1403731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8pPr>
            <a:lvl9pPr marL="1604264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70601" y="60305871"/>
            <a:ext cx="42680336" cy="170566318"/>
          </a:xfrm>
        </p:spPr>
        <p:txBody>
          <a:bodyPr/>
          <a:lstStyle>
            <a:lvl1pPr>
              <a:defRPr sz="12300"/>
            </a:lvl1pPr>
            <a:lvl2pPr>
              <a:defRPr sz="10600"/>
            </a:lvl2pPr>
            <a:lvl3pPr>
              <a:defRPr sz="87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930992" y="60305871"/>
            <a:ext cx="42680333" cy="170566318"/>
          </a:xfrm>
        </p:spPr>
        <p:txBody>
          <a:bodyPr/>
          <a:lstStyle>
            <a:lvl1pPr>
              <a:defRPr sz="12300"/>
            </a:lvl1pPr>
            <a:lvl2pPr>
              <a:defRPr sz="10600"/>
            </a:lvl2pPr>
            <a:lvl3pPr>
              <a:defRPr sz="87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40180" y="1658127"/>
            <a:ext cx="25923240" cy="690086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440180" y="9268246"/>
            <a:ext cx="12726592" cy="3862563"/>
          </a:xfrm>
        </p:spPr>
        <p:txBody>
          <a:bodyPr anchor="b"/>
          <a:lstStyle>
            <a:lvl1pPr marL="0" indent="0">
              <a:buNone/>
              <a:defRPr sz="10600" b="1"/>
            </a:lvl1pPr>
            <a:lvl2pPr marL="2005330" indent="0">
              <a:buNone/>
              <a:defRPr sz="8700" b="1"/>
            </a:lvl2pPr>
            <a:lvl3pPr marL="4010660" indent="0">
              <a:buNone/>
              <a:defRPr sz="7900" b="1"/>
            </a:lvl3pPr>
            <a:lvl4pPr marL="6015990" indent="0">
              <a:buNone/>
              <a:defRPr sz="7000" b="1"/>
            </a:lvl4pPr>
            <a:lvl5pPr marL="8021320" indent="0">
              <a:buNone/>
              <a:defRPr sz="7000" b="1"/>
            </a:lvl5pPr>
            <a:lvl6pPr marL="10026650" indent="0">
              <a:buNone/>
              <a:defRPr sz="7000" b="1"/>
            </a:lvl6pPr>
            <a:lvl7pPr marL="12031980" indent="0">
              <a:buNone/>
              <a:defRPr sz="7000" b="1"/>
            </a:lvl7pPr>
            <a:lvl8pPr marL="14037310" indent="0">
              <a:buNone/>
              <a:defRPr sz="7000" b="1"/>
            </a:lvl8pPr>
            <a:lvl9pPr marL="16042640" indent="0">
              <a:buNone/>
              <a:defRPr sz="70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440180" y="13130808"/>
            <a:ext cx="12726592" cy="23855901"/>
          </a:xfrm>
        </p:spPr>
        <p:txBody>
          <a:bodyPr/>
          <a:lstStyle>
            <a:lvl1pPr>
              <a:defRPr sz="10600"/>
            </a:lvl1pPr>
            <a:lvl2pPr>
              <a:defRPr sz="8700"/>
            </a:lvl2pPr>
            <a:lvl3pPr>
              <a:defRPr sz="79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4631830" y="9268246"/>
            <a:ext cx="12731592" cy="3862563"/>
          </a:xfrm>
        </p:spPr>
        <p:txBody>
          <a:bodyPr anchor="b"/>
          <a:lstStyle>
            <a:lvl1pPr marL="0" indent="0">
              <a:buNone/>
              <a:defRPr sz="10600" b="1"/>
            </a:lvl1pPr>
            <a:lvl2pPr marL="2005330" indent="0">
              <a:buNone/>
              <a:defRPr sz="8700" b="1"/>
            </a:lvl2pPr>
            <a:lvl3pPr marL="4010660" indent="0">
              <a:buNone/>
              <a:defRPr sz="7900" b="1"/>
            </a:lvl3pPr>
            <a:lvl4pPr marL="6015990" indent="0">
              <a:buNone/>
              <a:defRPr sz="7000" b="1"/>
            </a:lvl4pPr>
            <a:lvl5pPr marL="8021320" indent="0">
              <a:buNone/>
              <a:defRPr sz="7000" b="1"/>
            </a:lvl5pPr>
            <a:lvl6pPr marL="10026650" indent="0">
              <a:buNone/>
              <a:defRPr sz="7000" b="1"/>
            </a:lvl6pPr>
            <a:lvl7pPr marL="12031980" indent="0">
              <a:buNone/>
              <a:defRPr sz="7000" b="1"/>
            </a:lvl7pPr>
            <a:lvl8pPr marL="14037310" indent="0">
              <a:buNone/>
              <a:defRPr sz="7000" b="1"/>
            </a:lvl8pPr>
            <a:lvl9pPr marL="16042640" indent="0">
              <a:buNone/>
              <a:defRPr sz="70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14631830" y="13130808"/>
            <a:ext cx="12731592" cy="23855901"/>
          </a:xfrm>
        </p:spPr>
        <p:txBody>
          <a:bodyPr/>
          <a:lstStyle>
            <a:lvl1pPr>
              <a:defRPr sz="10600"/>
            </a:lvl1pPr>
            <a:lvl2pPr>
              <a:defRPr sz="8700"/>
            </a:lvl2pPr>
            <a:lvl3pPr>
              <a:defRPr sz="79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40185" y="1648539"/>
            <a:ext cx="9476186" cy="7015877"/>
          </a:xfrm>
        </p:spPr>
        <p:txBody>
          <a:bodyPr anchor="b"/>
          <a:lstStyle>
            <a:lvl1pPr algn="l">
              <a:defRPr sz="8700" b="1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1261408" y="1648548"/>
            <a:ext cx="16102012" cy="35338170"/>
          </a:xfrm>
        </p:spPr>
        <p:txBody>
          <a:bodyPr/>
          <a:lstStyle>
            <a:lvl1pPr>
              <a:defRPr sz="14000"/>
            </a:lvl1pPr>
            <a:lvl2pPr>
              <a:defRPr sz="12300"/>
            </a:lvl2pPr>
            <a:lvl3pPr>
              <a:defRPr sz="106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440185" y="8664426"/>
            <a:ext cx="9476186" cy="28322293"/>
          </a:xfrm>
        </p:spPr>
        <p:txBody>
          <a:bodyPr/>
          <a:lstStyle>
            <a:lvl1pPr marL="0" indent="0">
              <a:buNone/>
              <a:defRPr sz="6100"/>
            </a:lvl1pPr>
            <a:lvl2pPr marL="2005330" indent="0">
              <a:buNone/>
              <a:defRPr sz="5300"/>
            </a:lvl2pPr>
            <a:lvl3pPr marL="4010660" indent="0">
              <a:buNone/>
              <a:defRPr sz="4400"/>
            </a:lvl3pPr>
            <a:lvl4pPr marL="6015990" indent="0">
              <a:buNone/>
              <a:defRPr sz="3900"/>
            </a:lvl4pPr>
            <a:lvl5pPr marL="8021320" indent="0">
              <a:buNone/>
              <a:defRPr sz="3900"/>
            </a:lvl5pPr>
            <a:lvl6pPr marL="10026650" indent="0">
              <a:buNone/>
              <a:defRPr sz="3900"/>
            </a:lvl6pPr>
            <a:lvl7pPr marL="12031980" indent="0">
              <a:buNone/>
              <a:defRPr sz="3900"/>
            </a:lvl7pPr>
            <a:lvl8pPr marL="14037310" indent="0">
              <a:buNone/>
              <a:defRPr sz="3900"/>
            </a:lvl8pPr>
            <a:lvl9pPr marL="16042640" indent="0">
              <a:buNone/>
              <a:defRPr sz="39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45708" y="28983623"/>
            <a:ext cx="17282160" cy="3421681"/>
          </a:xfrm>
        </p:spPr>
        <p:txBody>
          <a:bodyPr anchor="b"/>
          <a:lstStyle>
            <a:lvl1pPr algn="l">
              <a:defRPr sz="8700" b="1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645708" y="3699630"/>
            <a:ext cx="17282160" cy="24843105"/>
          </a:xfrm>
        </p:spPr>
        <p:txBody>
          <a:bodyPr/>
          <a:lstStyle>
            <a:lvl1pPr marL="0" indent="0">
              <a:buNone/>
              <a:defRPr sz="14000"/>
            </a:lvl1pPr>
            <a:lvl2pPr marL="2005330" indent="0">
              <a:buNone/>
              <a:defRPr sz="12300"/>
            </a:lvl2pPr>
            <a:lvl3pPr marL="4010660" indent="0">
              <a:buNone/>
              <a:defRPr sz="10600"/>
            </a:lvl3pPr>
            <a:lvl4pPr marL="6015990" indent="0">
              <a:buNone/>
              <a:defRPr sz="8700"/>
            </a:lvl4pPr>
            <a:lvl5pPr marL="8021320" indent="0">
              <a:buNone/>
              <a:defRPr sz="8700"/>
            </a:lvl5pPr>
            <a:lvl6pPr marL="10026650" indent="0">
              <a:buNone/>
              <a:defRPr sz="8700"/>
            </a:lvl6pPr>
            <a:lvl7pPr marL="12031980" indent="0">
              <a:buNone/>
              <a:defRPr sz="8700"/>
            </a:lvl7pPr>
            <a:lvl8pPr marL="14037310" indent="0">
              <a:buNone/>
              <a:defRPr sz="8700"/>
            </a:lvl8pPr>
            <a:lvl9pPr marL="16042640" indent="0">
              <a:buNone/>
              <a:defRPr sz="87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645708" y="32405304"/>
            <a:ext cx="17282160" cy="4859354"/>
          </a:xfrm>
        </p:spPr>
        <p:txBody>
          <a:bodyPr/>
          <a:lstStyle>
            <a:lvl1pPr marL="0" indent="0">
              <a:buNone/>
              <a:defRPr sz="6100"/>
            </a:lvl1pPr>
            <a:lvl2pPr marL="2005330" indent="0">
              <a:buNone/>
              <a:defRPr sz="5300"/>
            </a:lvl2pPr>
            <a:lvl3pPr marL="4010660" indent="0">
              <a:buNone/>
              <a:defRPr sz="4400"/>
            </a:lvl3pPr>
            <a:lvl4pPr marL="6015990" indent="0">
              <a:buNone/>
              <a:defRPr sz="3900"/>
            </a:lvl4pPr>
            <a:lvl5pPr marL="8021320" indent="0">
              <a:buNone/>
              <a:defRPr sz="3900"/>
            </a:lvl5pPr>
            <a:lvl6pPr marL="10026650" indent="0">
              <a:buNone/>
              <a:defRPr sz="3900"/>
            </a:lvl6pPr>
            <a:lvl7pPr marL="12031980" indent="0">
              <a:buNone/>
              <a:defRPr sz="3900"/>
            </a:lvl7pPr>
            <a:lvl8pPr marL="14037310" indent="0">
              <a:buNone/>
              <a:defRPr sz="3900"/>
            </a:lvl8pPr>
            <a:lvl9pPr marL="16042640" indent="0">
              <a:buNone/>
              <a:defRPr sz="39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153645" y="10351294"/>
            <a:ext cx="21457680" cy="22052089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70602" y="10351294"/>
            <a:ext cx="63902988" cy="22052089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440180" y="1658127"/>
            <a:ext cx="25923240" cy="6900862"/>
          </a:xfrm>
          <a:prstGeom prst="rect">
            <a:avLst/>
          </a:prstGeom>
        </p:spPr>
        <p:txBody>
          <a:bodyPr vert="horz" lIns="401067" tIns="200533" rIns="401067" bIns="200533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440180" y="9661216"/>
            <a:ext cx="25923240" cy="27325502"/>
          </a:xfrm>
          <a:prstGeom prst="rect">
            <a:avLst/>
          </a:prstGeom>
        </p:spPr>
        <p:txBody>
          <a:bodyPr vert="horz" lIns="401067" tIns="200533" rIns="401067" bIns="200533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1440180" y="38376472"/>
            <a:ext cx="6720840" cy="2204443"/>
          </a:xfrm>
          <a:prstGeom prst="rect">
            <a:avLst/>
          </a:prstGeom>
        </p:spPr>
        <p:txBody>
          <a:bodyPr vert="horz" lIns="401067" tIns="200533" rIns="401067" bIns="200533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983CC-C5CD-4660-8EFA-84CE110261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9841230" y="38376472"/>
            <a:ext cx="9121140" cy="2204443"/>
          </a:xfrm>
          <a:prstGeom prst="rect">
            <a:avLst/>
          </a:prstGeom>
        </p:spPr>
        <p:txBody>
          <a:bodyPr vert="horz" lIns="401067" tIns="200533" rIns="401067" bIns="200533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20642580" y="38376472"/>
            <a:ext cx="6720840" cy="2204443"/>
          </a:xfrm>
          <a:prstGeom prst="rect">
            <a:avLst/>
          </a:prstGeom>
        </p:spPr>
        <p:txBody>
          <a:bodyPr vert="horz" lIns="401067" tIns="200533" rIns="401067" bIns="200533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ADCC8-0883-400D-AF1A-E5CCD24E498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010660" rtl="0" eaLnBrk="1" latinLnBrk="0" hangingPunct="1">
        <a:spcBef>
          <a:spcPct val="0"/>
        </a:spcBef>
        <a:buNone/>
        <a:defRPr kumimoji="1" sz="19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04315" indent="-1504315" algn="l" defTabSz="4010660" rtl="0" eaLnBrk="1" latinLnBrk="0" hangingPunct="1">
        <a:spcBef>
          <a:spcPct val="20000"/>
        </a:spcBef>
        <a:buFont typeface="Arial" panose="020B0604020202090204" pitchFamily="34" charset="0"/>
        <a:buChar char="•"/>
        <a:defRPr kumimoji="1" sz="14000" kern="1200">
          <a:solidFill>
            <a:schemeClr val="tx1"/>
          </a:solidFill>
          <a:latin typeface="+mn-lt"/>
          <a:ea typeface="+mn-ea"/>
          <a:cs typeface="+mn-cs"/>
        </a:defRPr>
      </a:lvl1pPr>
      <a:lvl2pPr marL="3258820" indent="-1253490" algn="l" defTabSz="4010660" rtl="0" eaLnBrk="1" latinLnBrk="0" hangingPunct="1">
        <a:spcBef>
          <a:spcPct val="20000"/>
        </a:spcBef>
        <a:buFont typeface="Arial" panose="020B0604020202090204" pitchFamily="34" charset="0"/>
        <a:buChar char="–"/>
        <a:defRPr kumimoji="1" sz="12300" kern="1200">
          <a:solidFill>
            <a:schemeClr val="tx1"/>
          </a:solidFill>
          <a:latin typeface="+mn-lt"/>
          <a:ea typeface="+mn-ea"/>
          <a:cs typeface="+mn-cs"/>
        </a:defRPr>
      </a:lvl2pPr>
      <a:lvl3pPr marL="501332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•"/>
        <a:defRPr kumimoji="1" sz="10600" kern="1200">
          <a:solidFill>
            <a:schemeClr val="tx1"/>
          </a:solidFill>
          <a:latin typeface="+mn-lt"/>
          <a:ea typeface="+mn-ea"/>
          <a:cs typeface="+mn-cs"/>
        </a:defRPr>
      </a:lvl3pPr>
      <a:lvl4pPr marL="701865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–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02398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»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31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03464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03997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045305" indent="-1002665" algn="l" defTabSz="4010660" rtl="0" eaLnBrk="1" latinLnBrk="0" hangingPunct="1">
        <a:spcBef>
          <a:spcPct val="20000"/>
        </a:spcBef>
        <a:buFont typeface="Arial" panose="020B060402020209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1pPr>
      <a:lvl2pPr marL="200533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2pPr>
      <a:lvl3pPr marL="401066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3pPr>
      <a:lvl4pPr marL="601599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4pPr>
      <a:lvl5pPr marL="802132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5pPr>
      <a:lvl6pPr marL="1002665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6pPr>
      <a:lvl7pPr marL="1203198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7pPr>
      <a:lvl8pPr marL="1403731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8pPr>
      <a:lvl9pPr marL="16042640" algn="l" defTabSz="4010660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角丸四角形 7"/>
              <p:cNvSpPr/>
              <p:nvPr/>
            </p:nvSpPr>
            <p:spPr>
              <a:xfrm>
                <a:off x="12601241" y="10012045"/>
                <a:ext cx="15092380" cy="14603907"/>
              </a:xfrm>
              <a:prstGeom prst="roundRect">
                <a:avLst>
                  <a:gd name="adj" fmla="val 4313"/>
                </a:avLst>
              </a:prstGeom>
              <a:solidFill>
                <a:schemeClr val="bg1"/>
              </a:solidFill>
              <a:ln w="127000">
                <a:solidFill>
                  <a:srgbClr val="0288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7810" tIns="43905" rIns="87810" bIns="43905" rtlCol="0" anchor="t"/>
              <a:lstStyle/>
              <a:p>
                <a:endParaRPr lang="en-US" altLang="ja-JP" sz="3200" dirty="0">
                  <a:latin typeface="+mn-ea"/>
                </a:endParaRPr>
              </a:p>
              <a:p>
                <a:endParaRPr lang="en-US" altLang="ja-JP" sz="3200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①左右足の圧力データで一階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差分を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計算し，すべての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データを正規化</a:t>
                </a:r>
                <a:endParaRPr lang="en-US" altLang="ja-JP" sz="3200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②</a:t>
                </a:r>
                <a:r>
                  <a:rPr lang="en-US" altLang="ja-JP" sz="3200" dirty="0" smtClean="0">
                    <a:solidFill>
                      <a:schemeClr val="tx1"/>
                    </a:solidFill>
                    <a:latin typeface="+mn-ea"/>
                  </a:rPr>
                  <a:t>2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個の</a:t>
                </a:r>
                <a:r>
                  <a:rPr lang="en-US" altLang="ja-JP" sz="3200" dirty="0" smtClean="0">
                    <a:solidFill>
                      <a:schemeClr val="tx1"/>
                    </a:solidFill>
                    <a:latin typeface="+mn-ea"/>
                  </a:rPr>
                  <a:t>IMU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のデータ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，</a:t>
                </a:r>
                <a:r>
                  <a:rPr lang="en-US" altLang="ja-JP" sz="3200" dirty="0" smtClean="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台のスマートフォン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の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データ，圧力センサの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データ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を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時刻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で同期させ，</a:t>
                </a:r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ウェブレット変換で高周波ノイズを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除去</a:t>
                </a:r>
                <a:endParaRPr lang="en-US" altLang="ja-JP" sz="3200" dirty="0">
                  <a:solidFill>
                    <a:schemeClr val="tx1"/>
                  </a:solidFill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3200" i="1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ウェブレット</m:t>
                      </m:r>
                      <m:r>
                        <a:rPr lang="ja-JP" altLang="en-US" sz="3200" i="1" smtClean="0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変換</m:t>
                      </m:r>
                      <m:r>
                        <a:rPr lang="ja-JP" altLang="en-US" sz="3200" i="1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ja-JP" sz="3200" b="0" i="1" smtClean="0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𝑊𝑇</m:t>
                      </m:r>
                      <m:d>
                        <m:dPr>
                          <m:ctrlP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ja-JP" altLang="en-US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ja-JP" sz="3200" b="0" i="1" smtClean="0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nary>
                        <m:naryPr>
                          <m:ctrlP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ja-JP" altLang="en-US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ja-JP" sz="3200" b="0" i="1" smtClean="0">
                              <a:solidFill>
                                <a:srgbClr val="02881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ja-JP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altLang="ja-JP" sz="3200" b="0" i="1" smtClean="0">
                                  <a:solidFill>
                                    <a:srgbClr val="028812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nary>
                      <m:r>
                        <a:rPr lang="en-US" altLang="ja-JP" sz="3200" b="0" i="1" smtClean="0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l-GR" altLang="ja-JP" sz="3200" b="0" i="1" smtClean="0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altLang="ja-JP" sz="3200" b="0" i="1" smtClean="0">
                          <a:solidFill>
                            <a:srgbClr val="02881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altLang="ja-JP" sz="3200" dirty="0">
                  <a:solidFill>
                    <a:srgbClr val="028812"/>
                  </a:solidFill>
                  <a:latin typeface="+mn-ea"/>
                </a:endParaRPr>
              </a:p>
              <a:p>
                <a:r>
                  <a:rPr lang="ja-JP" altLang="en-US" sz="3200" dirty="0">
                    <a:solidFill>
                      <a:schemeClr val="tx1"/>
                    </a:solidFill>
                    <a:latin typeface="+mn-ea"/>
                  </a:rPr>
                  <a:t>③各動作を切り出して</a:t>
                </a:r>
                <a:r>
                  <a:rPr lang="ja-JP" altLang="en-US" sz="3200" dirty="0" smtClean="0">
                    <a:solidFill>
                      <a:schemeClr val="tx1"/>
                    </a:solidFill>
                    <a:latin typeface="+mn-ea"/>
                  </a:rPr>
                  <a:t>ラベリング</a:t>
                </a:r>
                <a:endParaRPr lang="en-US" altLang="ja-JP" sz="3200" dirty="0">
                  <a:solidFill>
                    <a:schemeClr val="tx1"/>
                  </a:solidFill>
                  <a:latin typeface="+mn-ea"/>
                </a:endParaRPr>
              </a:p>
              <a:p>
                <a:pPr marL="548640" indent="-548640">
                  <a:buFont typeface="Wingdings" panose="05000000000000000000" pitchFamily="2" charset="2"/>
                  <a:buChar char="l"/>
                </a:pPr>
                <a:endParaRPr lang="en-US" altLang="ja-JP" sz="32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8" name="角丸四角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1241" y="10012045"/>
                <a:ext cx="15092380" cy="14603907"/>
              </a:xfrm>
              <a:prstGeom prst="roundRect">
                <a:avLst>
                  <a:gd name="adj" fmla="val 4313"/>
                </a:avLst>
              </a:prstGeom>
              <a:blipFill rotWithShape="1">
                <a:blip r:embed="rId1"/>
                <a:stretch>
                  <a:fillRect l="-423" t="-435" r="-421" b="-434"/>
                </a:stretch>
              </a:blipFill>
              <a:ln w="127000">
                <a:solidFill>
                  <a:srgbClr val="0288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/>
          <p:cNvSpPr/>
          <p:nvPr/>
        </p:nvSpPr>
        <p:spPr>
          <a:xfrm>
            <a:off x="3600450" y="684363"/>
            <a:ext cx="24107775" cy="3876040"/>
          </a:xfrm>
          <a:prstGeom prst="roundRect">
            <a:avLst/>
          </a:prstGeom>
          <a:solidFill>
            <a:srgbClr val="A1D99C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>
              <a:lnSpc>
                <a:spcPct val="150000"/>
              </a:lnSpc>
            </a:pPr>
            <a:r>
              <a:rPr lang="ja-JP" altLang="en-US" sz="40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</a:rPr>
              <a:t>第</a:t>
            </a:r>
            <a:r>
              <a:rPr lang="en-US" altLang="ja-JP" sz="40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</a:rPr>
              <a:t>13</a:t>
            </a:r>
            <a:r>
              <a:rPr lang="ja-JP" altLang="en-US" sz="40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</a:rPr>
              <a:t>回バイオメトリクスと認識・認証シンポジウム（</a:t>
            </a:r>
            <a:r>
              <a:rPr lang="en-US" altLang="ja-JP" sz="40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  <a:sym typeface="+mn-ea"/>
              </a:rPr>
              <a:t>SBRA 2023</a:t>
            </a:r>
            <a:r>
              <a:rPr lang="ja-JP" altLang="en-US" sz="40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</a:rPr>
              <a:t>）</a:t>
            </a:r>
            <a:endParaRPr lang="en-US" altLang="ja-JP" sz="4000" dirty="0">
              <a:solidFill>
                <a:schemeClr val="tx1"/>
              </a:solidFill>
              <a:latin typeface="+mj-ea"/>
              <a:ea typeface="+mj-ea"/>
              <a:cs typeface="Hiragino Maru Gothic Pro" panose="020F0400000000000000" charset="-128"/>
            </a:endParaRPr>
          </a:p>
          <a:p>
            <a:pPr algn="ctr">
              <a:lnSpc>
                <a:spcPct val="150000"/>
              </a:lnSpc>
            </a:pPr>
            <a:r>
              <a:rPr lang="ja-JP" altLang="en-US" sz="54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</a:rPr>
              <a:t>圧力センサを含むセンサネットワークの構築と深層学習を用いた動作推定</a:t>
            </a:r>
            <a:endParaRPr lang="en-US" altLang="ja-JP" sz="5400" dirty="0">
              <a:solidFill>
                <a:schemeClr val="tx1"/>
              </a:solidFill>
              <a:latin typeface="+mj-ea"/>
              <a:ea typeface="+mj-ea"/>
              <a:cs typeface="Hiragino Maru Gothic Pro" panose="020F0400000000000000" charset="-128"/>
            </a:endParaRPr>
          </a:p>
          <a:p>
            <a:pPr algn="ctr">
              <a:lnSpc>
                <a:spcPct val="150000"/>
              </a:lnSpc>
            </a:pPr>
            <a:r>
              <a:rPr lang="ja-JP" altLang="en-US" sz="4400" dirty="0">
                <a:solidFill>
                  <a:schemeClr val="tx1"/>
                </a:solidFill>
                <a:latin typeface="+mj-ea"/>
                <a:ea typeface="+mj-ea"/>
                <a:cs typeface="Hiragino Maru Gothic Pro" panose="020F0400000000000000" charset="-128"/>
              </a:rPr>
              <a:t>張　月，渡邊 裕司（名古屋市立大学・大学院理学研究科）</a:t>
            </a:r>
            <a:endParaRPr lang="ja-JP" altLang="en-US" sz="4400" dirty="0">
              <a:solidFill>
                <a:schemeClr val="tx1"/>
              </a:solidFill>
              <a:latin typeface="+mj-ea"/>
              <a:ea typeface="+mj-ea"/>
              <a:cs typeface="Hiragino Maru Gothic Pro" panose="020F0400000000000000" charset="-128"/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1095375" y="4919446"/>
            <a:ext cx="26434931" cy="4814869"/>
          </a:xfrm>
          <a:prstGeom prst="roundRect">
            <a:avLst>
              <a:gd name="adj" fmla="val 10836"/>
            </a:avLst>
          </a:prstGeom>
          <a:solidFill>
            <a:schemeClr val="bg1"/>
          </a:solidFill>
          <a:ln w="127000" cap="rnd">
            <a:solidFill>
              <a:srgbClr val="028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just"/>
            <a:endParaRPr lang="en-US" altLang="ja-JP" sz="3600" dirty="0">
              <a:solidFill>
                <a:schemeClr val="tx1"/>
              </a:solidFill>
              <a:latin typeface="Hiragino Maru Gothic Pro" panose="020F0400000000000000" charset="-128"/>
              <a:ea typeface="Hiragino Maru Gothic Pro" panose="020F0400000000000000" charset="-128"/>
            </a:endParaRPr>
          </a:p>
          <a:p>
            <a:pPr algn="just"/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「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スライディングウィンドウ」を用いた時系列データの処理方法は簡単であるため，人間の動作推定の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研究</a:t>
            </a:r>
            <a:r>
              <a:rPr lang="en-US" altLang="ja-JP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[1]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などでもよく</a:t>
            </a:r>
            <a:br>
              <a:rPr lang="en-US" altLang="ja-JP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</a:b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使われている．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しかし，ウィンドウサイズが一般的に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固定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である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ため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，動作の変化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に合わせてそのサイズを変更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すること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が</a:t>
            </a:r>
            <a:br>
              <a:rPr lang="en-US" altLang="ja-JP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</a:b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できず，ウィンドウ内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に異なる種類の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動作が含まれてしまうことにより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正しく動作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推定できない可能性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が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ある</a:t>
            </a:r>
            <a:endParaRPr lang="en-US" altLang="ja-JP" sz="3600" dirty="0" smtClean="0">
              <a:solidFill>
                <a:schemeClr val="tx1"/>
              </a:solidFill>
              <a:latin typeface="Hiragino Maru Gothic Pro" panose="020F0400000000000000" charset="-128"/>
              <a:ea typeface="Hiragino Maru Gothic Pro" panose="020F0400000000000000" charset="-128"/>
            </a:endParaRPr>
          </a:p>
          <a:p>
            <a:pPr algn="just"/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そこで本研究</a:t>
            </a:r>
            <a:r>
              <a:rPr lang="ja-JP" altLang="en-US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では，慣性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計測ユニット（</a:t>
            </a:r>
            <a:r>
              <a:rPr lang="en-US" altLang="ja-JP" sz="3600" dirty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IMU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）とスマートフォンに加えて</a:t>
            </a:r>
            <a:r>
              <a:rPr lang="ja-JP" altLang="en-US" sz="3600" dirty="0" smtClean="0">
                <a:solidFill>
                  <a:srgbClr val="FF0000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靴底に敷くインソールの圧力センサ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から構成される</a:t>
            </a:r>
            <a:br>
              <a:rPr lang="en-US" altLang="ja-JP" sz="360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</a:br>
            <a:r>
              <a:rPr lang="ja-JP" altLang="en-US" sz="360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センサネットワーク</a:t>
            </a:r>
            <a:r>
              <a:rPr lang="ja-JP" altLang="en-US" sz="3600" dirty="0" smtClean="0">
                <a:solidFill>
                  <a:schemeClr val="tx1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を構築し，動作推定をする際に</a:t>
            </a:r>
            <a:r>
              <a:rPr lang="ja-JP" altLang="en-US" sz="3600" dirty="0" smtClean="0">
                <a:solidFill>
                  <a:srgbClr val="FF0000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圧力データに基づいて加速度データを分割</a:t>
            </a:r>
            <a:r>
              <a:rPr lang="ja-JP" altLang="en-US" sz="3600" dirty="0">
                <a:solidFill>
                  <a:srgbClr val="FF0000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する手法を提案</a:t>
            </a:r>
            <a:r>
              <a:rPr lang="ja-JP" altLang="en-US" sz="3600" dirty="0" smtClean="0">
                <a:solidFill>
                  <a:srgbClr val="FF0000"/>
                </a:solidFill>
                <a:latin typeface="Hiragino Maru Gothic Pro" panose="020F0400000000000000" charset="-128"/>
                <a:ea typeface="Hiragino Maru Gothic Pro" panose="020F0400000000000000" charset="-128"/>
              </a:rPr>
              <a:t>する</a:t>
            </a:r>
            <a:endParaRPr lang="ja-JP" altLang="en-US" sz="3600" dirty="0" smtClean="0">
              <a:solidFill>
                <a:srgbClr val="FF0000"/>
              </a:solidFill>
              <a:latin typeface="Hiragino Maru Gothic Pro" panose="020F0400000000000000" charset="-128"/>
              <a:ea typeface="Hiragino Maru Gothic Pro" panose="020F0400000000000000" charset="-128"/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1053466" y="10005060"/>
            <a:ext cx="11093571" cy="14610892"/>
          </a:xfrm>
          <a:prstGeom prst="roundRect">
            <a:avLst>
              <a:gd name="adj" fmla="val 6025"/>
            </a:avLst>
          </a:prstGeom>
          <a:solidFill>
            <a:schemeClr val="bg1"/>
          </a:solidFill>
          <a:ln w="127000">
            <a:solidFill>
              <a:srgbClr val="028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endParaRPr lang="en-US" altLang="ja-JP" sz="3600" dirty="0">
              <a:latin typeface="+mn-ea"/>
            </a:endParaRPr>
          </a:p>
          <a:p>
            <a:endParaRPr lang="en-US" altLang="ja-JP" sz="3600" dirty="0"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使用センサ：</a:t>
            </a:r>
            <a:r>
              <a:rPr lang="en-US" altLang="ja-JP" sz="3200" dirty="0">
                <a:solidFill>
                  <a:schemeClr val="tx1"/>
                </a:solidFill>
                <a:latin typeface="+mn-ea"/>
              </a:rPr>
              <a:t>ATR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社の</a:t>
            </a:r>
            <a:r>
              <a:rPr lang="en-US" altLang="ja-JP" sz="3200" dirty="0">
                <a:solidFill>
                  <a:schemeClr val="tx1"/>
                </a:solidFill>
                <a:latin typeface="+mn-ea"/>
              </a:rPr>
              <a:t>TSND151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小型無線多機能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センサ（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IMU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個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ja-JP" sz="3200" dirty="0" err="1">
                <a:solidFill>
                  <a:schemeClr val="tx1"/>
                </a:solidFill>
                <a:latin typeface="+mn-ea"/>
              </a:rPr>
              <a:t>SensorLog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アプリ</a:t>
            </a:r>
            <a:r>
              <a:rPr lang="en-US" altLang="ja-JP" sz="3200" dirty="0">
                <a:solidFill>
                  <a:schemeClr val="tx1"/>
                </a:solidFill>
                <a:latin typeface="+mn-ea"/>
              </a:rPr>
              <a:t>[2]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を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インストールしたスマートフォン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台，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novel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社の</a:t>
            </a:r>
            <a:r>
              <a:rPr lang="en-US" altLang="ja-JP" sz="3200" dirty="0" err="1">
                <a:solidFill>
                  <a:schemeClr val="tx1"/>
                </a:solidFill>
                <a:latin typeface="+mn-ea"/>
              </a:rPr>
              <a:t>Loadsol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圧力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センサ</a:t>
            </a:r>
            <a:br>
              <a:rPr lang="en-US" altLang="ja-JP" sz="3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セット</a:t>
            </a:r>
            <a:endParaRPr lang="en-US" altLang="ja-JP" sz="32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endParaRPr lang="en-US" altLang="ja-JP" sz="32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endParaRPr lang="en-US" altLang="ja-JP" sz="32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endParaRPr lang="en-US" altLang="ja-JP" sz="32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endParaRPr lang="en-US" altLang="ja-JP" sz="3200" dirty="0">
              <a:solidFill>
                <a:schemeClr val="tx1"/>
              </a:solidFill>
              <a:latin typeface="+mn-ea"/>
            </a:endParaRPr>
          </a:p>
          <a:p>
            <a:pPr>
              <a:tabLst>
                <a:tab pos="3096260" algn="l"/>
              </a:tabLst>
            </a:pPr>
            <a:endParaRPr lang="en-US" altLang="ja-JP" sz="32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サンプリング周期：</a:t>
            </a:r>
            <a:r>
              <a:rPr lang="en-US" altLang="ja-JP" sz="3200" dirty="0">
                <a:solidFill>
                  <a:schemeClr val="tx1"/>
                </a:solidFill>
                <a:latin typeface="+mn-ea"/>
              </a:rPr>
              <a:t>50Hz</a:t>
            </a:r>
            <a:endParaRPr lang="ja-JP" altLang="en-US" sz="32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実験内容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：被験者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13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名の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18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個の動作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に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対して，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軸加速度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ja-JP" sz="32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軸角</a:t>
            </a:r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速度，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圧力を</a:t>
            </a:r>
            <a:r>
              <a:rPr lang="en-US" altLang="ja-JP" sz="3200" dirty="0">
                <a:solidFill>
                  <a:schemeClr val="tx1"/>
                </a:solidFill>
                <a:latin typeface="+mn-ea"/>
              </a:rPr>
              <a:t>2</a:t>
            </a:r>
            <a:r>
              <a:rPr lang="ja-JP" altLang="en-US" sz="3200" dirty="0" smtClean="0">
                <a:solidFill>
                  <a:schemeClr val="tx1"/>
                </a:solidFill>
                <a:latin typeface="+mn-ea"/>
              </a:rPr>
              <a:t>回収集</a:t>
            </a:r>
            <a:endParaRPr lang="en-US" altLang="ja-JP" sz="3600" dirty="0">
              <a:solidFill>
                <a:schemeClr val="tx1"/>
              </a:solidFill>
              <a:latin typeface="+mn-ea"/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3096260" algn="l"/>
              </a:tabLst>
            </a:pPr>
            <a:endParaRPr lang="en-US" altLang="ja-JP" sz="3600" dirty="0">
              <a:solidFill>
                <a:schemeClr val="tx1"/>
              </a:solidFill>
              <a:latin typeface="+mn-ea"/>
            </a:endParaRPr>
          </a:p>
          <a:p>
            <a:endParaRPr lang="en-US" altLang="ja-JP" sz="3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2417958" y="5111903"/>
            <a:ext cx="3967682" cy="1008000"/>
          </a:xfrm>
          <a:prstGeom prst="roundRect">
            <a:avLst/>
          </a:prstGeom>
          <a:solidFill>
            <a:srgbClr val="02881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7810" tIns="43905" rIns="87810" bIns="4390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ja-JP" altLang="en-US" sz="5400" dirty="0">
                <a:latin typeface="Hiragino Maru Gothic Pro" panose="020F0400000000000000" charset="-128"/>
                <a:ea typeface="Hiragino Maru Gothic Pro" panose="020F0400000000000000" charset="-128"/>
                <a:sym typeface="+mn-ea"/>
              </a:rPr>
              <a:t>背景と目的</a:t>
            </a:r>
            <a:endParaRPr lang="ja-JP" altLang="en-US" sz="5400" dirty="0">
              <a:latin typeface="Hiragino Maru Gothic Pro" panose="020F0400000000000000" charset="-128"/>
              <a:ea typeface="Hiragino Maru Gothic Pro" panose="020F0400000000000000" charset="-128"/>
              <a:sym typeface="+mn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964157" y="10174604"/>
            <a:ext cx="7560990" cy="1008000"/>
          </a:xfrm>
          <a:prstGeom prst="roundRect">
            <a:avLst/>
          </a:prstGeom>
          <a:solidFill>
            <a:srgbClr val="02881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7810" tIns="43905" rIns="87810" bIns="4390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ja-JP" altLang="en-US" sz="5400" dirty="0">
                <a:latin typeface="Hiragino Maru Gothic Pro" panose="020F0400000000000000" charset="-128"/>
                <a:ea typeface="Hiragino Maru Gothic Pro" panose="020F0400000000000000" charset="-128"/>
                <a:sym typeface="+mn-ea"/>
              </a:rPr>
              <a:t>動作</a:t>
            </a:r>
            <a:r>
              <a:rPr lang="ja-JP" altLang="en-US" sz="5400" dirty="0" smtClean="0">
                <a:latin typeface="Hiragino Maru Gothic Pro" panose="020F0400000000000000" charset="-128"/>
                <a:ea typeface="Hiragino Maru Gothic Pro" panose="020F0400000000000000" charset="-128"/>
                <a:sym typeface="+mn-ea"/>
              </a:rPr>
              <a:t>データ</a:t>
            </a:r>
            <a:r>
              <a:rPr lang="ja-JP" altLang="en-US" sz="5400" dirty="0">
                <a:latin typeface="Hiragino Maru Gothic Pro" panose="020F0400000000000000" charset="-128"/>
                <a:ea typeface="Hiragino Maru Gothic Pro" panose="020F0400000000000000" charset="-128"/>
                <a:sym typeface="+mn-ea"/>
              </a:rPr>
              <a:t>収集</a:t>
            </a:r>
            <a:r>
              <a:rPr lang="ja-JP" altLang="en-US" sz="5400" dirty="0" smtClean="0">
                <a:latin typeface="Hiragino Maru Gothic Pro" panose="020F0400000000000000" charset="-128"/>
                <a:ea typeface="Hiragino Maru Gothic Pro" panose="020F0400000000000000" charset="-128"/>
                <a:sym typeface="+mn-ea"/>
              </a:rPr>
              <a:t>実験</a:t>
            </a:r>
            <a:endParaRPr lang="ja-JP" altLang="en-US" sz="5400" dirty="0" smtClean="0">
              <a:latin typeface="Hiragino Maru Gothic Pro" panose="020F0400000000000000" charset="-128"/>
              <a:ea typeface="Hiragino Maru Gothic Pro" panose="020F0400000000000000" charset="-128"/>
              <a:sym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9015056" y="10174604"/>
            <a:ext cx="2624400" cy="1008000"/>
          </a:xfrm>
          <a:prstGeom prst="roundRect">
            <a:avLst/>
          </a:prstGeom>
          <a:solidFill>
            <a:srgbClr val="02881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400" dirty="0"/>
              <a:t>前処理</a:t>
            </a:r>
            <a:endParaRPr lang="ja-JP" altLang="en-US" sz="5400" dirty="0"/>
          </a:p>
        </p:txBody>
      </p:sp>
      <p:sp>
        <p:nvSpPr>
          <p:cNvPr id="13" name="角丸四角形 12"/>
          <p:cNvSpPr/>
          <p:nvPr/>
        </p:nvSpPr>
        <p:spPr>
          <a:xfrm>
            <a:off x="1053341" y="35536714"/>
            <a:ext cx="26640000" cy="5112089"/>
          </a:xfrm>
          <a:prstGeom prst="roundRect">
            <a:avLst>
              <a:gd name="adj" fmla="val 11078"/>
            </a:avLst>
          </a:prstGeom>
          <a:solidFill>
            <a:schemeClr val="bg1"/>
          </a:solidFill>
          <a:ln w="127000">
            <a:solidFill>
              <a:srgbClr val="028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pPr>
              <a:spcBef>
                <a:spcPts val="1200"/>
              </a:spcBef>
            </a:pPr>
            <a:endParaRPr lang="en-US" altLang="ja-JP" sz="60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ja-JP" sz="3200" dirty="0" smtClean="0">
                <a:solidFill>
                  <a:schemeClr val="tx1"/>
                </a:solidFill>
              </a:rPr>
              <a:t>IMU</a:t>
            </a:r>
            <a:r>
              <a:rPr lang="ja-JP" altLang="en-US" sz="3200" dirty="0" smtClean="0">
                <a:solidFill>
                  <a:schemeClr val="tx1"/>
                </a:solidFill>
              </a:rPr>
              <a:t>とスマートフォンに加えて圧力センサも含むセンサネットワークを構築し，圧力データに基づいて加速度データを分割する手法を提案した．機械学習を用いて</a:t>
            </a:r>
            <a:r>
              <a:rPr lang="en-US" altLang="ja-JP" sz="3200" dirty="0" smtClean="0">
                <a:solidFill>
                  <a:schemeClr val="tx1"/>
                </a:solidFill>
              </a:rPr>
              <a:t>18</a:t>
            </a:r>
            <a:r>
              <a:rPr lang="ja-JP" altLang="en-US" sz="3200" dirty="0" smtClean="0">
                <a:solidFill>
                  <a:schemeClr val="tx1"/>
                </a:solidFill>
              </a:rPr>
              <a:t>個の動作を推定した結果，加速度と圧力を</a:t>
            </a:r>
            <a:r>
              <a:rPr lang="en-US" altLang="ja-JP" sz="3200" dirty="0" err="1" smtClean="0">
                <a:solidFill>
                  <a:schemeClr val="tx1"/>
                </a:solidFill>
              </a:rPr>
              <a:t>CatBoost</a:t>
            </a:r>
            <a:r>
              <a:rPr lang="ja-JP" altLang="en-US" sz="3200" dirty="0" smtClean="0">
                <a:solidFill>
                  <a:schemeClr val="tx1"/>
                </a:solidFill>
              </a:rPr>
              <a:t>に入力した場合に最高の識別率</a:t>
            </a:r>
            <a:r>
              <a:rPr lang="en-US" altLang="ja-JP" sz="3200" dirty="0" smtClean="0">
                <a:solidFill>
                  <a:schemeClr val="tx1"/>
                </a:solidFill>
              </a:rPr>
              <a:t>94.86%</a:t>
            </a:r>
            <a:r>
              <a:rPr lang="ja-JP" altLang="en-US" sz="3200" dirty="0" smtClean="0">
                <a:solidFill>
                  <a:schemeClr val="tx1"/>
                </a:solidFill>
              </a:rPr>
              <a:t>を得た．</a:t>
            </a:r>
            <a:r>
              <a:rPr lang="ja-JP" altLang="en-US" sz="3200" dirty="0">
                <a:solidFill>
                  <a:schemeClr val="tx1"/>
                </a:solidFill>
              </a:rPr>
              <a:t>方向転換，起きるなどの角度と関係深い動作は</a:t>
            </a:r>
            <a:r>
              <a:rPr lang="ja-JP" altLang="en-US" sz="3200" dirty="0" smtClean="0">
                <a:solidFill>
                  <a:schemeClr val="tx1"/>
                </a:solidFill>
              </a:rPr>
              <a:t>加速度と圧力だけでは識別しにくいため，今後は角</a:t>
            </a:r>
            <a:r>
              <a:rPr lang="ja-JP" altLang="en-US" sz="3200" dirty="0">
                <a:solidFill>
                  <a:schemeClr val="tx1"/>
                </a:solidFill>
              </a:rPr>
              <a:t>速度</a:t>
            </a:r>
            <a:r>
              <a:rPr lang="ja-JP" altLang="en-US" sz="3200" dirty="0" smtClean="0">
                <a:solidFill>
                  <a:schemeClr val="tx1"/>
                </a:solidFill>
              </a:rPr>
              <a:t>なども使ってより</a:t>
            </a:r>
            <a:r>
              <a:rPr lang="ja-JP" altLang="en-US" sz="3200" dirty="0">
                <a:solidFill>
                  <a:schemeClr val="tx1"/>
                </a:solidFill>
              </a:rPr>
              <a:t>高い識別率</a:t>
            </a:r>
            <a:r>
              <a:rPr lang="ja-JP" altLang="en-US" sz="3200" dirty="0" smtClean="0">
                <a:solidFill>
                  <a:schemeClr val="tx1"/>
                </a:solidFill>
              </a:rPr>
              <a:t>を目指す</a:t>
            </a:r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en-US" altLang="ja-JP" sz="2400" dirty="0">
                <a:solidFill>
                  <a:schemeClr val="tx1"/>
                </a:solidFill>
              </a:rPr>
              <a:t>[1]Y. </a:t>
            </a:r>
            <a:r>
              <a:rPr lang="en-US" altLang="ja-JP" sz="2400" dirty="0" err="1">
                <a:solidFill>
                  <a:schemeClr val="tx1"/>
                </a:solidFill>
              </a:rPr>
              <a:t>Qun</a:t>
            </a:r>
            <a:r>
              <a:rPr lang="en-US" altLang="ja-JP" sz="2400" dirty="0">
                <a:solidFill>
                  <a:schemeClr val="tx1"/>
                </a:solidFill>
              </a:rPr>
              <a:t>, S. Hara and Y. Watanabe, "Motion Estimation by Deep Learnings Using Ambient Sensor Network," 2022 IEEE 11th Global Conference on Consumer Electronics (GCCE), Osaka, Japan, 2022, pp. 389-390, </a:t>
            </a:r>
            <a:r>
              <a:rPr lang="en-US" altLang="ja-JP" sz="2400" dirty="0" err="1">
                <a:solidFill>
                  <a:schemeClr val="tx1"/>
                </a:solidFill>
              </a:rPr>
              <a:t>doi</a:t>
            </a:r>
            <a:r>
              <a:rPr lang="en-US" altLang="ja-JP" sz="2400" dirty="0">
                <a:solidFill>
                  <a:schemeClr val="tx1"/>
                </a:solidFill>
              </a:rPr>
              <a:t>: 10.1109/GCCE56475.2022.10014100.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en-US" altLang="ja-JP" sz="2400" dirty="0">
                <a:solidFill>
                  <a:schemeClr val="tx1"/>
                </a:solidFill>
              </a:rPr>
              <a:t>[2]http://sensorlog.berndthomas.net/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79" name="角丸四角形 78"/>
          <p:cNvSpPr/>
          <p:nvPr/>
        </p:nvSpPr>
        <p:spPr>
          <a:xfrm>
            <a:off x="1053465" y="24927810"/>
            <a:ext cx="11093571" cy="10317276"/>
          </a:xfrm>
          <a:prstGeom prst="roundRect">
            <a:avLst>
              <a:gd name="adj" fmla="val 5576"/>
            </a:avLst>
          </a:prstGeom>
          <a:solidFill>
            <a:schemeClr val="bg1"/>
          </a:solidFill>
          <a:ln w="127000">
            <a:solidFill>
              <a:srgbClr val="028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endParaRPr lang="en-US" altLang="ja-JP" sz="6600" dirty="0"/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</p:txBody>
      </p:sp>
      <p:sp>
        <p:nvSpPr>
          <p:cNvPr id="119" name="正方形/長方形 118"/>
          <p:cNvSpPr/>
          <p:nvPr/>
        </p:nvSpPr>
        <p:spPr>
          <a:xfrm>
            <a:off x="11924865" y="35752259"/>
            <a:ext cx="4896951" cy="865726"/>
          </a:xfrm>
          <a:prstGeom prst="roundRect">
            <a:avLst/>
          </a:prstGeom>
          <a:solidFill>
            <a:srgbClr val="02881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400" dirty="0" smtClean="0"/>
              <a:t>まとめ</a:t>
            </a:r>
            <a:endParaRPr lang="ja-JP" altLang="en-US" sz="5400" dirty="0" smtClean="0"/>
          </a:p>
        </p:txBody>
      </p:sp>
      <p:sp>
        <p:nvSpPr>
          <p:cNvPr id="80" name="正方形/長方形 79"/>
          <p:cNvSpPr/>
          <p:nvPr/>
        </p:nvSpPr>
        <p:spPr>
          <a:xfrm>
            <a:off x="13969752" y="25099138"/>
            <a:ext cx="3860165" cy="1008000"/>
          </a:xfrm>
          <a:prstGeom prst="roundRect">
            <a:avLst/>
          </a:prstGeom>
          <a:solidFill>
            <a:srgbClr val="02881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400" dirty="0"/>
              <a:t>実験結果</a:t>
            </a:r>
            <a:endParaRPr lang="ja-JP" altLang="en-US" sz="5400" dirty="0"/>
          </a:p>
        </p:txBody>
      </p:sp>
      <p:pic>
        <p:nvPicPr>
          <p:cNvPr id="14" name="图片 13" descr="12-19NCUシステム＋英ロゴ"/>
          <p:cNvPicPr>
            <a:picLocks noChangeAspect="1"/>
          </p:cNvPicPr>
          <p:nvPr/>
        </p:nvPicPr>
        <p:blipFill>
          <a:blip r:embed="rId2"/>
          <a:srcRect r="50137"/>
          <a:stretch>
            <a:fillRect/>
          </a:stretch>
        </p:blipFill>
        <p:spPr>
          <a:xfrm>
            <a:off x="901645" y="787929"/>
            <a:ext cx="2679095" cy="3622842"/>
          </a:xfrm>
          <a:prstGeom prst="rect">
            <a:avLst/>
          </a:prstGeom>
        </p:spPr>
      </p:pic>
      <p:pic>
        <p:nvPicPr>
          <p:cNvPr id="51" name="图片 2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4" y="13035937"/>
            <a:ext cx="3083496" cy="2748945"/>
          </a:xfrm>
          <a:prstGeom prst="rect">
            <a:avLst/>
          </a:prstGeom>
        </p:spPr>
      </p:pic>
      <p:pic>
        <p:nvPicPr>
          <p:cNvPr id="63" name="图片 3" descr="图表, 直方图&#10;&#10;已自动生成说明"/>
          <p:cNvPicPr>
            <a:picLocks noChangeAspect="1"/>
          </p:cNvPicPr>
          <p:nvPr/>
        </p:nvPicPr>
        <p:blipFill rotWithShape="1">
          <a:blip r:embed="rId4"/>
          <a:srcRect r="2505"/>
          <a:stretch>
            <a:fillRect/>
          </a:stretch>
        </p:blipFill>
        <p:spPr>
          <a:xfrm>
            <a:off x="12817475" y="14216380"/>
            <a:ext cx="14718030" cy="338455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AutoShape 2" descr="Untitled"/>
          <p:cNvSpPr>
            <a:spLocks noChangeAspect="1" noChangeArrowheads="1"/>
          </p:cNvSpPr>
          <p:nvPr/>
        </p:nvSpPr>
        <p:spPr bwMode="auto">
          <a:xfrm>
            <a:off x="14249400" y="20550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ja-JP" altLang="en-US" sz="720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12812395" y="17757775"/>
            <a:ext cx="14718030" cy="6556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3200" dirty="0">
                <a:solidFill>
                  <a:schemeClr val="tx1"/>
                </a:solidFill>
              </a:rPr>
              <a:t>④圧力の一階差分</a:t>
            </a:r>
            <a:r>
              <a:rPr lang="ja-JP" altLang="en-US" sz="3200" dirty="0"/>
              <a:t>結果</a:t>
            </a:r>
            <a:r>
              <a:rPr lang="ja-JP" altLang="en-US" sz="3200" dirty="0" smtClean="0">
                <a:solidFill>
                  <a:schemeClr val="tx1"/>
                </a:solidFill>
              </a:rPr>
              <a:t>で動作</a:t>
            </a:r>
            <a:r>
              <a:rPr lang="ja-JP" altLang="en-US" sz="3200" dirty="0">
                <a:solidFill>
                  <a:schemeClr val="tx1"/>
                </a:solidFill>
              </a:rPr>
              <a:t>を一つずつ</a:t>
            </a:r>
            <a:r>
              <a:rPr lang="ja-JP" altLang="en-US" sz="3200" dirty="0" smtClean="0">
                <a:solidFill>
                  <a:schemeClr val="tx1"/>
                </a:solidFill>
              </a:rPr>
              <a:t>切り出して特徴量</a:t>
            </a:r>
            <a:r>
              <a:rPr lang="ja-JP" altLang="en-US" sz="3200" dirty="0">
                <a:solidFill>
                  <a:schemeClr val="tx1"/>
                </a:solidFill>
              </a:rPr>
              <a:t>を</a:t>
            </a:r>
            <a:r>
              <a:rPr lang="ja-JP" altLang="en-US" sz="3200" dirty="0" smtClean="0">
                <a:solidFill>
                  <a:schemeClr val="tx1"/>
                </a:solidFill>
              </a:rPr>
              <a:t>計算</a:t>
            </a:r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3200" dirty="0"/>
          </a:p>
          <a:p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3200" dirty="0"/>
          </a:p>
          <a:p>
            <a:endParaRPr lang="en-US" altLang="ja-JP" sz="3200" dirty="0"/>
          </a:p>
          <a:p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3200" dirty="0">
              <a:solidFill>
                <a:schemeClr val="tx1"/>
              </a:solidFill>
            </a:endParaRPr>
          </a:p>
          <a:p>
            <a:endParaRPr lang="en-US" altLang="ja-JP" sz="3200" dirty="0">
              <a:solidFill>
                <a:schemeClr val="tx1"/>
              </a:solidFill>
            </a:endParaRPr>
          </a:p>
          <a:p>
            <a:r>
              <a:rPr lang="ja-JP" altLang="en-US" sz="3200" dirty="0">
                <a:solidFill>
                  <a:schemeClr val="bg1"/>
                </a:solidFill>
                <a:highlight>
                  <a:srgbClr val="028812"/>
                </a:highlight>
              </a:rPr>
              <a:t>特徴量</a:t>
            </a:r>
            <a:r>
              <a:rPr lang="ja-JP" altLang="en-US" sz="3200" dirty="0"/>
              <a:t>：平均値，最大値，最小値，標準偏差，データ範囲，最大値と最小値の比，一階差分の絶対平均値，最大値と最小値の絶対値，絶対値の平均値を算出し，</a:t>
            </a:r>
            <a:r>
              <a:rPr lang="en-US" altLang="ja-JP" sz="3200" dirty="0"/>
              <a:t>11</a:t>
            </a:r>
            <a:r>
              <a:rPr lang="ja-JP" altLang="en-US" sz="3200" dirty="0"/>
              <a:t>種類の特徴量を</a:t>
            </a:r>
            <a:r>
              <a:rPr lang="ja-JP" altLang="en-US" sz="3200" dirty="0" smtClean="0"/>
              <a:t>抽出</a:t>
            </a:r>
            <a:endParaRPr lang="ja-JP" altLang="en-US" sz="3200" dirty="0" smtClean="0"/>
          </a:p>
        </p:txBody>
      </p:sp>
      <p:pic>
        <p:nvPicPr>
          <p:cNvPr id="43" name="図 42"/>
          <p:cNvPicPr>
            <a:picLocks noChangeAspect="1"/>
          </p:cNvPicPr>
          <p:nvPr/>
        </p:nvPicPr>
        <p:blipFill rotWithShape="1">
          <a:blip r:embed="rId5"/>
          <a:srcRect l="17535" t="1242" r="39051" b="4502"/>
          <a:stretch>
            <a:fillRect/>
          </a:stretch>
        </p:blipFill>
        <p:spPr>
          <a:xfrm>
            <a:off x="3544901" y="30036351"/>
            <a:ext cx="4312657" cy="4592710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017" y="17586356"/>
            <a:ext cx="10408433" cy="5141765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1864446" y="23801104"/>
            <a:ext cx="6888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マークの動作は圧力センサデータを使っていない</a:t>
            </a:r>
            <a:endParaRPr kumimoji="1" lang="ja-JP" altLang="en-US" sz="24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166487" y="26318861"/>
            <a:ext cx="10980549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l"/>
            </a:pPr>
            <a:r>
              <a:rPr lang="ja-JP" altLang="en-US" sz="3200" dirty="0"/>
              <a:t>被験者</a:t>
            </a:r>
            <a:r>
              <a:rPr lang="en-US" altLang="ja-JP" sz="3200" dirty="0" smtClean="0"/>
              <a:t>13</a:t>
            </a:r>
            <a:r>
              <a:rPr lang="ja-JP" altLang="en-US" sz="3200" dirty="0"/>
              <a:t>名</a:t>
            </a:r>
            <a:r>
              <a:rPr lang="ja-JP" altLang="en-US" sz="3200" dirty="0" smtClean="0"/>
              <a:t>の各データに</a:t>
            </a:r>
            <a:r>
              <a:rPr lang="ja-JP" altLang="en-US" sz="3200" dirty="0"/>
              <a:t>おいて</a:t>
            </a:r>
            <a:r>
              <a:rPr lang="ja-JP" altLang="en-US" sz="3200" dirty="0" smtClean="0"/>
              <a:t>，</a:t>
            </a:r>
            <a:r>
              <a:rPr lang="ja-JP" altLang="en-US" sz="3200" dirty="0"/>
              <a:t>座る，起立，方向転換など動作数が</a:t>
            </a:r>
            <a:r>
              <a:rPr lang="en-US" altLang="ja-JP" sz="3200" dirty="0"/>
              <a:t>10</a:t>
            </a:r>
            <a:r>
              <a:rPr lang="ja-JP" altLang="en-US" sz="3200" dirty="0"/>
              <a:t>個より少ない動作</a:t>
            </a:r>
            <a:r>
              <a:rPr lang="ja-JP" altLang="en-US" sz="3200" dirty="0" smtClean="0"/>
              <a:t>に</a:t>
            </a:r>
            <a:r>
              <a:rPr lang="ja-JP" altLang="en-US" sz="3200" dirty="0"/>
              <a:t>対して</a:t>
            </a:r>
            <a:r>
              <a:rPr lang="ja-JP" altLang="en-US" sz="3200" dirty="0" smtClean="0"/>
              <a:t>，ランダムに</a:t>
            </a:r>
            <a:r>
              <a:rPr lang="en-US" altLang="ja-JP" sz="3200" dirty="0" smtClean="0"/>
              <a:t>1</a:t>
            </a:r>
            <a:r>
              <a:rPr lang="ja-JP" altLang="en-US" sz="3200" dirty="0"/>
              <a:t>種類</a:t>
            </a:r>
            <a:r>
              <a:rPr lang="ja-JP" altLang="en-US" sz="3200" dirty="0" smtClean="0"/>
              <a:t>の動作</a:t>
            </a:r>
            <a:r>
              <a:rPr lang="ja-JP" altLang="en-US" sz="3200" dirty="0"/>
              <a:t>を選び，テストデータと</a:t>
            </a:r>
            <a:r>
              <a:rPr lang="ja-JP" altLang="en-US" sz="3200" dirty="0" smtClean="0"/>
              <a:t>する</a:t>
            </a:r>
            <a:endParaRPr lang="en-US" altLang="ja-JP" sz="3200" dirty="0"/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ja-JP" altLang="en-US" sz="3200" dirty="0"/>
              <a:t>歩く，ラニングなど動作数が多いデータ</a:t>
            </a:r>
            <a:r>
              <a:rPr lang="ja-JP" altLang="en-US" sz="3200" dirty="0" smtClean="0"/>
              <a:t>に</a:t>
            </a:r>
            <a:r>
              <a:rPr lang="ja-JP" altLang="en-US" sz="3200" dirty="0"/>
              <a:t>対しては</a:t>
            </a:r>
            <a:r>
              <a:rPr lang="ja-JP" altLang="en-US" sz="3200" dirty="0" smtClean="0"/>
              <a:t>，</a:t>
            </a:r>
            <a:r>
              <a:rPr lang="ja-JP" altLang="en-US" sz="3200" dirty="0"/>
              <a:t>そのうちの</a:t>
            </a:r>
            <a:r>
              <a:rPr lang="en-US" altLang="ja-JP" sz="3200" dirty="0"/>
              <a:t>10</a:t>
            </a:r>
            <a:r>
              <a:rPr lang="ja-JP" altLang="en-US" sz="3200" dirty="0"/>
              <a:t>％を選び，テストデータと</a:t>
            </a:r>
            <a:r>
              <a:rPr lang="ja-JP" altLang="en-US" sz="3200" dirty="0" smtClean="0"/>
              <a:t>する</a:t>
            </a:r>
            <a:endParaRPr lang="en-US" altLang="ja-JP" sz="3200" dirty="0"/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ja-JP" altLang="en-US" sz="3200" dirty="0"/>
              <a:t>学習データの</a:t>
            </a:r>
            <a:r>
              <a:rPr lang="en-US" altLang="ja-JP" sz="3200" dirty="0"/>
              <a:t>20</a:t>
            </a:r>
            <a:r>
              <a:rPr lang="ja-JP" altLang="en-US" sz="3200" dirty="0" smtClean="0"/>
              <a:t>％をバリエーションデータ</a:t>
            </a:r>
            <a:r>
              <a:rPr lang="ja-JP" altLang="en-US" sz="3200" dirty="0"/>
              <a:t>と</a:t>
            </a:r>
            <a:r>
              <a:rPr lang="ja-JP" altLang="en-US" sz="3200" dirty="0" smtClean="0"/>
              <a:t>して</a:t>
            </a:r>
            <a:r>
              <a:rPr lang="ja-JP" altLang="en-US" sz="3200" dirty="0"/>
              <a:t>使う</a:t>
            </a:r>
            <a:endParaRPr lang="ja-JP" altLang="en-US" sz="3200" dirty="0"/>
          </a:p>
        </p:txBody>
      </p:sp>
      <p:sp>
        <p:nvSpPr>
          <p:cNvPr id="28" name="正方形/長方形 79"/>
          <p:cNvSpPr/>
          <p:nvPr/>
        </p:nvSpPr>
        <p:spPr>
          <a:xfrm>
            <a:off x="4074649" y="25110174"/>
            <a:ext cx="5273830" cy="1008000"/>
          </a:xfrm>
          <a:prstGeom prst="roundRect">
            <a:avLst/>
          </a:prstGeom>
          <a:solidFill>
            <a:srgbClr val="02881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400" dirty="0"/>
              <a:t>学習データ分割</a:t>
            </a:r>
            <a:endParaRPr lang="ja-JP" altLang="en-US" sz="5400" dirty="0"/>
          </a:p>
        </p:txBody>
      </p:sp>
      <p:pic>
        <p:nvPicPr>
          <p:cNvPr id="30" name="図 29"/>
          <p:cNvPicPr>
            <a:picLocks noChangeAspect="1"/>
          </p:cNvPicPr>
          <p:nvPr/>
        </p:nvPicPr>
        <p:blipFill rotWithShape="1">
          <a:blip r:embed="rId5"/>
          <a:srcRect l="80543" t="5230" r="180" b="14519"/>
          <a:stretch>
            <a:fillRect/>
          </a:stretch>
        </p:blipFill>
        <p:spPr>
          <a:xfrm>
            <a:off x="1315649" y="30289179"/>
            <a:ext cx="2165730" cy="4422431"/>
          </a:xfrm>
          <a:prstGeom prst="rect">
            <a:avLst/>
          </a:prstGeom>
        </p:spPr>
      </p:pic>
      <p:sp>
        <p:nvSpPr>
          <p:cNvPr id="31" name="角丸四角形 78"/>
          <p:cNvSpPr/>
          <p:nvPr/>
        </p:nvSpPr>
        <p:spPr>
          <a:xfrm>
            <a:off x="12600962" y="24900211"/>
            <a:ext cx="15092380" cy="10317276"/>
          </a:xfrm>
          <a:prstGeom prst="roundRect">
            <a:avLst>
              <a:gd name="adj" fmla="val 5576"/>
            </a:avLst>
          </a:prstGeom>
          <a:noFill/>
          <a:ln w="127000">
            <a:solidFill>
              <a:srgbClr val="028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endParaRPr lang="en-US" altLang="ja-JP" sz="6600" dirty="0"/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  <a:p>
            <a:pPr marL="548640" indent="-548640">
              <a:buFont typeface="Wingdings" panose="05000000000000000000" pitchFamily="2" charset="2"/>
              <a:buChar char="l"/>
              <a:tabLst>
                <a:tab pos="2750185" algn="l"/>
              </a:tabLst>
            </a:pPr>
            <a:endParaRPr lang="en-US" altLang="ja-JP" sz="4000" dirty="0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7933962" y="30396615"/>
            <a:ext cx="3971771" cy="4059500"/>
          </a:xfrm>
          <a:prstGeom prst="rect">
            <a:avLst/>
          </a:prstGeom>
          <a:solidFill>
            <a:srgbClr val="02881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90</a:t>
            </a:r>
            <a:r>
              <a:rPr kumimoji="1" lang="ja-JP" altLang="en-US" sz="3600" dirty="0"/>
              <a:t>％</a:t>
            </a:r>
            <a:r>
              <a:rPr lang="en-US" altLang="ja-JP" sz="3600" dirty="0"/>
              <a:t> Train Data</a:t>
            </a:r>
            <a:endParaRPr kumimoji="1" lang="en-US" altLang="ja-JP" sz="3600" dirty="0"/>
          </a:p>
        </p:txBody>
      </p:sp>
      <p:sp>
        <p:nvSpPr>
          <p:cNvPr id="34" name="正方形/長方形 33"/>
          <p:cNvSpPr/>
          <p:nvPr/>
        </p:nvSpPr>
        <p:spPr>
          <a:xfrm>
            <a:off x="7933962" y="33322881"/>
            <a:ext cx="3971771" cy="1131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</a:rPr>
              <a:t>10</a:t>
            </a:r>
            <a:r>
              <a:rPr kumimoji="1" lang="ja-JP" altLang="en-US" sz="3600" dirty="0">
                <a:solidFill>
                  <a:schemeClr val="tx1"/>
                </a:solidFill>
              </a:rPr>
              <a:t>％ </a:t>
            </a:r>
            <a:r>
              <a:rPr kumimoji="1" lang="en-US" altLang="ja-JP" sz="3600" dirty="0">
                <a:solidFill>
                  <a:schemeClr val="tx1"/>
                </a:solidFill>
              </a:rPr>
              <a:t>Test Data</a:t>
            </a:r>
            <a:endParaRPr kumimoji="1" lang="en-US" altLang="ja-JP" sz="3600" dirty="0">
              <a:solidFill>
                <a:schemeClr val="tx1"/>
              </a:solidFill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7921080" y="32942201"/>
            <a:ext cx="3971772" cy="3791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</a:rPr>
              <a:t>90%</a:t>
            </a:r>
            <a:r>
              <a:rPr kumimoji="1" lang="ja-JP" altLang="en-US" sz="2000" dirty="0">
                <a:solidFill>
                  <a:schemeClr val="tx1"/>
                </a:solidFill>
              </a:rPr>
              <a:t>*</a:t>
            </a:r>
            <a:r>
              <a:rPr kumimoji="1" lang="en-US" altLang="ja-JP" sz="2000" dirty="0">
                <a:solidFill>
                  <a:schemeClr val="tx1"/>
                </a:solidFill>
              </a:rPr>
              <a:t>20</a:t>
            </a:r>
            <a:r>
              <a:rPr lang="en-US" altLang="ja-JP" sz="2000" dirty="0">
                <a:solidFill>
                  <a:schemeClr val="tx1"/>
                </a:solidFill>
              </a:rPr>
              <a:t>%</a:t>
            </a:r>
            <a:r>
              <a:rPr kumimoji="1" lang="en-US" altLang="ja-JP" sz="2000" dirty="0">
                <a:solidFill>
                  <a:schemeClr val="tx1"/>
                </a:solidFill>
              </a:rPr>
              <a:t>validation data</a:t>
            </a:r>
            <a:endParaRPr kumimoji="1" lang="en-US" altLang="ja-JP" sz="2000" dirty="0">
              <a:solidFill>
                <a:schemeClr val="tx1"/>
              </a:solidFill>
            </a:endParaRPr>
          </a:p>
        </p:txBody>
      </p:sp>
      <p:graphicFrame>
        <p:nvGraphicFramePr>
          <p:cNvPr id="36" name="表 35"/>
          <p:cNvGraphicFramePr>
            <a:graphicFrameLocks noGrp="1"/>
          </p:cNvGraphicFramePr>
          <p:nvPr/>
        </p:nvGraphicFramePr>
        <p:xfrm>
          <a:off x="12961640" y="31935835"/>
          <a:ext cx="14113567" cy="31089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5583606"/>
                <a:gridCol w="2331601"/>
                <a:gridCol w="3099180"/>
                <a:gridCol w="3099180"/>
              </a:tblGrid>
              <a:tr h="43705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b="1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識別率</a:t>
                      </a:r>
                      <a:endParaRPr kumimoji="1" lang="ja-JP" altLang="en-US" sz="3200" b="1" dirty="0" smtClean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 err="1">
                          <a:solidFill>
                            <a:schemeClr val="bg1"/>
                          </a:solidFill>
                        </a:rPr>
                        <a:t>CatBoost</a:t>
                      </a:r>
                      <a:endParaRPr kumimoji="1" lang="en-US" altLang="ja-JP" sz="3200" dirty="0" err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dirty="0" smtClean="0">
                          <a:solidFill>
                            <a:schemeClr val="bg1"/>
                          </a:solidFill>
                        </a:rPr>
                        <a:t>ランダム</a:t>
                      </a:r>
                      <a:endParaRPr kumimoji="1" lang="en-US" altLang="ja-JP" sz="32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3200" dirty="0" smtClean="0">
                          <a:solidFill>
                            <a:schemeClr val="bg1"/>
                          </a:solidFill>
                        </a:rPr>
                        <a:t>フォレスト</a:t>
                      </a:r>
                      <a:endParaRPr kumimoji="1" lang="ja-JP" altLang="en-US" sz="3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kumimoji="1" lang="ja-JP" altLang="en-US" sz="3200" dirty="0" smtClean="0">
                          <a:solidFill>
                            <a:schemeClr val="bg1"/>
                          </a:solidFill>
                        </a:rPr>
                        <a:t>層ニューラルネットワーク</a:t>
                      </a:r>
                      <a:endParaRPr kumimoji="1" lang="ja-JP" altLang="en-US" sz="3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</a:tr>
              <a:tr h="47837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dirty="0">
                          <a:solidFill>
                            <a:schemeClr val="bg1"/>
                          </a:solidFill>
                        </a:rPr>
                        <a:t>圧力データのみ</a:t>
                      </a:r>
                      <a:endParaRPr kumimoji="1" lang="ja-JP" alt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59.51%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61.63%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54.38%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837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dirty="0">
                          <a:solidFill>
                            <a:schemeClr val="bg1"/>
                          </a:solidFill>
                        </a:rPr>
                        <a:t>加速度データのみ</a:t>
                      </a:r>
                      <a:endParaRPr kumimoji="1" lang="ja-JP" alt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92.74%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92.44%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73.41%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1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dirty="0">
                          <a:solidFill>
                            <a:schemeClr val="bg1"/>
                          </a:solidFill>
                        </a:rPr>
                        <a:t>加速度データと圧力データ</a:t>
                      </a:r>
                      <a:endParaRPr kumimoji="1" lang="ja-JP" alt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rgbClr val="FF0000"/>
                          </a:solidFill>
                        </a:rPr>
                        <a:t>94.86%</a:t>
                      </a:r>
                      <a:endParaRPr kumimoji="1" lang="en-US" altLang="ja-JP" sz="3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94.03%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dirty="0">
                          <a:solidFill>
                            <a:schemeClr val="tx1"/>
                          </a:solidFill>
                        </a:rPr>
                        <a:t>83.16%</a:t>
                      </a:r>
                      <a:endParaRPr kumimoji="1" lang="en-US" altLang="ja-JP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" name="テキスト ボックス 38"/>
          <p:cNvSpPr txBox="1"/>
          <p:nvPr/>
        </p:nvSpPr>
        <p:spPr>
          <a:xfrm>
            <a:off x="13113618" y="26356121"/>
            <a:ext cx="6335868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028812"/>
                </a:solidFill>
              </a:rPr>
              <a:t>圧力データのみ：</a:t>
            </a:r>
            <a:r>
              <a:rPr kumimoji="1" lang="ja-JP" altLang="en-US" sz="3200" dirty="0"/>
              <a:t>左右足の合計圧力データを使用し一階差分を</a:t>
            </a:r>
            <a:r>
              <a:rPr kumimoji="1" lang="ja-JP" altLang="en-US" sz="3200" dirty="0" smtClean="0"/>
              <a:t>計算して得た</a:t>
            </a:r>
            <a:r>
              <a:rPr kumimoji="1" lang="en-US" altLang="ja-JP" sz="3200" dirty="0"/>
              <a:t>11</a:t>
            </a:r>
            <a:r>
              <a:rPr kumimoji="1" lang="ja-JP" altLang="en-US" sz="3200" dirty="0"/>
              <a:t>種類の特徴量</a:t>
            </a:r>
            <a:r>
              <a:rPr kumimoji="1" lang="ja-JP" altLang="en-US" sz="3200" dirty="0" smtClean="0"/>
              <a:t>を学習モデル</a:t>
            </a:r>
            <a:r>
              <a:rPr kumimoji="1" lang="ja-JP" altLang="en-US" sz="3200" dirty="0"/>
              <a:t>に</a:t>
            </a:r>
            <a:r>
              <a:rPr kumimoji="1" lang="ja-JP" altLang="en-US" sz="3200" dirty="0" smtClean="0"/>
              <a:t>入力</a:t>
            </a:r>
            <a:endParaRPr kumimoji="1" lang="en-US" altLang="ja-JP" sz="3200" dirty="0"/>
          </a:p>
          <a:p>
            <a:r>
              <a:rPr kumimoji="1" lang="ja-JP" altLang="en-US" sz="3200" dirty="0">
                <a:solidFill>
                  <a:srgbClr val="028812"/>
                </a:solidFill>
              </a:rPr>
              <a:t>加速度データのみ</a:t>
            </a:r>
            <a:r>
              <a:rPr kumimoji="1" lang="ja-JP" altLang="en-US" sz="3200" dirty="0" smtClean="0">
                <a:solidFill>
                  <a:srgbClr val="028812"/>
                </a:solidFill>
              </a:rPr>
              <a:t>：</a:t>
            </a:r>
            <a:r>
              <a:rPr kumimoji="1" lang="en-US" altLang="ja-JP" sz="3200" dirty="0" smtClean="0"/>
              <a:t>IMU</a:t>
            </a:r>
            <a:r>
              <a:rPr kumimoji="1" lang="ja-JP" altLang="en-US" sz="3200" dirty="0" smtClean="0"/>
              <a:t>センサ</a:t>
            </a:r>
            <a:br>
              <a:rPr kumimoji="1" lang="en-US" altLang="ja-JP" sz="3200" dirty="0" smtClean="0"/>
            </a:br>
            <a:r>
              <a:rPr kumimoji="1" lang="en-US" altLang="ja-JP" sz="3200" dirty="0" smtClean="0"/>
              <a:t>2</a:t>
            </a:r>
            <a:r>
              <a:rPr kumimoji="1" lang="ja-JP" altLang="en-US" sz="3200" dirty="0" smtClean="0"/>
              <a:t>個とスマートフォン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台の</a:t>
            </a:r>
            <a:r>
              <a:rPr kumimoji="1" lang="en-US" altLang="ja-JP" sz="3200" dirty="0"/>
              <a:t>3</a:t>
            </a:r>
            <a:r>
              <a:rPr kumimoji="1" lang="ja-JP" altLang="en-US" sz="3200" dirty="0"/>
              <a:t>軸加速度を使用</a:t>
            </a:r>
            <a:r>
              <a:rPr kumimoji="1" lang="ja-JP" altLang="en-US" sz="3200" dirty="0" smtClean="0"/>
              <a:t>して得た</a:t>
            </a:r>
            <a:r>
              <a:rPr kumimoji="1" lang="en-US" altLang="ja-JP" sz="3200" dirty="0" smtClean="0"/>
              <a:t>99</a:t>
            </a:r>
            <a:r>
              <a:rPr lang="ja-JP" altLang="en-US" sz="3200" dirty="0"/>
              <a:t>種類の</a:t>
            </a:r>
            <a:r>
              <a:rPr kumimoji="1" lang="ja-JP" altLang="en-US" sz="3200" dirty="0" smtClean="0"/>
              <a:t>特徴量を学習モデル</a:t>
            </a:r>
            <a:r>
              <a:rPr kumimoji="1" lang="ja-JP" altLang="en-US" sz="3200" dirty="0"/>
              <a:t>に</a:t>
            </a:r>
            <a:r>
              <a:rPr kumimoji="1" lang="ja-JP" altLang="en-US" sz="3200" dirty="0" smtClean="0"/>
              <a:t>入力</a:t>
            </a:r>
            <a:endParaRPr kumimoji="1" lang="en-US" altLang="ja-JP" sz="3200" dirty="0"/>
          </a:p>
          <a:p>
            <a:r>
              <a:rPr kumimoji="1" lang="ja-JP" altLang="en-US" sz="3200" dirty="0">
                <a:solidFill>
                  <a:srgbClr val="028812"/>
                </a:solidFill>
              </a:rPr>
              <a:t>加速度データと圧力データ：</a:t>
            </a:r>
            <a:r>
              <a:rPr kumimoji="1" lang="ja-JP" altLang="en-US" sz="3200" dirty="0"/>
              <a:t>合計</a:t>
            </a:r>
            <a:r>
              <a:rPr kumimoji="1" lang="en-US" altLang="ja-JP" sz="3200" dirty="0"/>
              <a:t>110</a:t>
            </a:r>
            <a:r>
              <a:rPr kumimoji="1" lang="ja-JP" altLang="en-US" sz="3200" dirty="0"/>
              <a:t>種類の特徴量</a:t>
            </a:r>
            <a:r>
              <a:rPr kumimoji="1" lang="ja-JP" altLang="en-US" sz="3200" dirty="0" smtClean="0"/>
              <a:t>を</a:t>
            </a:r>
            <a:r>
              <a:rPr lang="ja-JP" altLang="en-US" sz="3200" dirty="0"/>
              <a:t>入力</a:t>
            </a:r>
            <a:endParaRPr kumimoji="1" lang="ja-JP" altLang="en-US" sz="3200" dirty="0"/>
          </a:p>
        </p:txBody>
      </p:sp>
      <p:grpSp>
        <p:nvGrpSpPr>
          <p:cNvPr id="48" name="グループ化 47"/>
          <p:cNvGrpSpPr/>
          <p:nvPr/>
        </p:nvGrpSpPr>
        <p:grpSpPr>
          <a:xfrm>
            <a:off x="1191824" y="12997597"/>
            <a:ext cx="7560990" cy="2647522"/>
            <a:chOff x="1291469" y="13717475"/>
            <a:chExt cx="7560990" cy="2647522"/>
          </a:xfrm>
        </p:grpSpPr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15649" y="14306089"/>
              <a:ext cx="2950845" cy="1987550"/>
            </a:xfrm>
            <a:prstGeom prst="rect">
              <a:avLst/>
            </a:prstGeom>
          </p:spPr>
        </p:pic>
        <p:pic>
          <p:nvPicPr>
            <p:cNvPr id="67" name="图片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21511" y="13717475"/>
              <a:ext cx="2684937" cy="2387222"/>
            </a:xfrm>
            <a:prstGeom prst="rect">
              <a:avLst/>
            </a:prstGeom>
          </p:spPr>
        </p:pic>
        <p:grpSp>
          <p:nvGrpSpPr>
            <p:cNvPr id="40" name="グループ化 39"/>
            <p:cNvGrpSpPr/>
            <p:nvPr/>
          </p:nvGrpSpPr>
          <p:grpSpPr>
            <a:xfrm>
              <a:off x="3984302" y="14134449"/>
              <a:ext cx="2057400" cy="2057400"/>
              <a:chOff x="6553591" y="13668982"/>
              <a:chExt cx="2057400" cy="2057400"/>
            </a:xfrm>
          </p:grpSpPr>
          <p:pic>
            <p:nvPicPr>
              <p:cNvPr id="1028" name="Picture 4" descr="保護フィルムの貼られたスマートフォンのイラスト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53591" y="13668982"/>
                <a:ext cx="2057400" cy="2057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6" name="图片 6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66044" y="14344468"/>
                <a:ext cx="588360" cy="588360"/>
              </a:xfrm>
              <a:prstGeom prst="rect">
                <a:avLst/>
              </a:prstGeom>
            </p:spPr>
          </p:pic>
        </p:grpSp>
        <p:sp>
          <p:nvSpPr>
            <p:cNvPr id="42" name="四角形: 角を丸くする 41"/>
            <p:cNvSpPr/>
            <p:nvPr/>
          </p:nvSpPr>
          <p:spPr>
            <a:xfrm>
              <a:off x="1291469" y="14076518"/>
              <a:ext cx="7560990" cy="2288479"/>
            </a:xfrm>
            <a:prstGeom prst="roundRect">
              <a:avLst/>
            </a:prstGeom>
            <a:noFill/>
            <a:ln w="28575">
              <a:solidFill>
                <a:srgbClr val="0288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 dirty="0">
                <a:noFill/>
              </a:endParaRPr>
            </a:p>
          </p:txBody>
        </p:sp>
      </p:grpSp>
      <p:sp>
        <p:nvSpPr>
          <p:cNvPr id="44" name="星: 5 pt 43"/>
          <p:cNvSpPr/>
          <p:nvPr/>
        </p:nvSpPr>
        <p:spPr>
          <a:xfrm>
            <a:off x="17138104" y="16603206"/>
            <a:ext cx="144016" cy="135567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6" name="星: 5 pt 45"/>
          <p:cNvSpPr/>
          <p:nvPr/>
        </p:nvSpPr>
        <p:spPr>
          <a:xfrm>
            <a:off x="1743376" y="23978830"/>
            <a:ext cx="144016" cy="135567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pic>
        <p:nvPicPr>
          <p:cNvPr id="50" name="図 4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60477" y="25023067"/>
            <a:ext cx="7542723" cy="681862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61620" y="18254345"/>
            <a:ext cx="14568805" cy="21513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00685" y="20342860"/>
            <a:ext cx="14429740" cy="21507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1760</Words>
  <Application>WPS 演示</Application>
  <PresentationFormat>ユーザー設定</PresentationFormat>
  <Paragraphs>136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Cambria Math</vt:lpstr>
      <vt:lpstr>Hiragino Maru Gothic Pro</vt:lpstr>
      <vt:lpstr>MS PGothic</vt:lpstr>
      <vt:lpstr>苹方-简</vt:lpstr>
      <vt:lpstr>DejaVu Math TeX Gyre</vt:lpstr>
      <vt:lpstr>Calibri</vt:lpstr>
      <vt:lpstr>微软雅黑</vt:lpstr>
      <vt:lpstr>汉仪旗黑</vt:lpstr>
      <vt:lpstr>宋体</vt:lpstr>
      <vt:lpstr>Arial Unicode MS</vt:lpstr>
      <vt:lpstr>汉仪书宋二KW</vt:lpstr>
      <vt:lpstr>MS PGothic</vt:lpstr>
      <vt:lpstr>Office ​​テーマ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SBRA2015_S-2-13</dc:title>
  <dc:creator>fujita</dc:creator>
  <cp:lastModifiedBy>胜利</cp:lastModifiedBy>
  <cp:revision>294</cp:revision>
  <cp:lastPrinted>2023-12-14T07:44:15Z</cp:lastPrinted>
  <dcterms:created xsi:type="dcterms:W3CDTF">2023-12-14T07:44:15Z</dcterms:created>
  <dcterms:modified xsi:type="dcterms:W3CDTF">2023-12-14T07:44:15Z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AF699869D03E6601F3F24D659183F771_43</vt:lpwstr>
  </property>
  <property fmtid="{D5CDD505-2E9C-101B-9397-08002B2CF9AE}" pid="3" name="KSOProductBuildVer">
    <vt:lpwstr>2052-6.4.0.8550</vt:lpwstr>
  </property>
</Properties>
</file>