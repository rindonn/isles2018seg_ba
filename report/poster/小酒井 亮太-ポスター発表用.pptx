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6" r:id="rId2"/>
  </p:sldIdLst>
  <p:sldSz cx="28803600" cy="41405175"/>
  <p:notesSz cx="6735763" cy="9866313"/>
  <p:embeddedFontLst>
    <p:embeddedFont>
      <p:font typeface="Hiragino Maru Gothic Pro" panose="020B0600070205080204" charset="-128"/>
      <p:regular r:id="rId4"/>
    </p:embeddedFont>
    <p:embeddedFont>
      <p:font typeface="Cambria Math" panose="02040503050406030204" pitchFamily="18" charset="0"/>
      <p:regular r:id="rId5"/>
    </p:embeddedFont>
    <p:embeddedFont>
      <p:font typeface="Calibri" panose="020F0502020204030204" pitchFamily="34" charset="0"/>
      <p:regular r:id="rId6"/>
      <p:bold r:id="rId7"/>
      <p:italic r:id="rId8"/>
      <p:boldItalic r:id="rId9"/>
    </p:embeddedFont>
    <p:embeddedFont>
      <p:font typeface="Century" panose="02040604050505020304" pitchFamily="18" charset="0"/>
      <p:regular r:id="rId10"/>
    </p:embeddedFont>
    <p:embeddedFont>
      <p:font typeface="BIZ UDPゴシック" panose="020B0400000000000000" pitchFamily="50" charset="-128"/>
      <p:regular r:id="rId11"/>
      <p:bold r:id="rId12"/>
    </p:embeddedFont>
    <p:embeddedFont>
      <p:font typeface="宋体" panose="02010600030101010101" pitchFamily="2" charset="-122"/>
      <p:regular r:id="rId13"/>
    </p:embeddedFont>
  </p:embeddedFontLst>
  <p:defaultTextStyle>
    <a:defPPr>
      <a:defRPr lang="ja-JP"/>
    </a:defPPr>
    <a:lvl1pPr marL="0" algn="l" defTabSz="4010660" rtl="0" eaLnBrk="1" latinLnBrk="0" hangingPunct="1">
      <a:defRPr kumimoji="1" sz="7900" kern="1200">
        <a:solidFill>
          <a:schemeClr val="tx1"/>
        </a:solidFill>
        <a:latin typeface="+mn-lt"/>
        <a:ea typeface="+mn-ea"/>
        <a:cs typeface="+mn-cs"/>
      </a:defRPr>
    </a:lvl1pPr>
    <a:lvl2pPr marL="2005330" algn="l" defTabSz="4010660" rtl="0" eaLnBrk="1" latinLnBrk="0" hangingPunct="1">
      <a:defRPr kumimoji="1" sz="7900" kern="1200">
        <a:solidFill>
          <a:schemeClr val="tx1"/>
        </a:solidFill>
        <a:latin typeface="+mn-lt"/>
        <a:ea typeface="+mn-ea"/>
        <a:cs typeface="+mn-cs"/>
      </a:defRPr>
    </a:lvl2pPr>
    <a:lvl3pPr marL="4010660" algn="l" defTabSz="4010660" rtl="0" eaLnBrk="1" latinLnBrk="0" hangingPunct="1">
      <a:defRPr kumimoji="1" sz="7900" kern="1200">
        <a:solidFill>
          <a:schemeClr val="tx1"/>
        </a:solidFill>
        <a:latin typeface="+mn-lt"/>
        <a:ea typeface="+mn-ea"/>
        <a:cs typeface="+mn-cs"/>
      </a:defRPr>
    </a:lvl3pPr>
    <a:lvl4pPr marL="6015990" algn="l" defTabSz="4010660" rtl="0" eaLnBrk="1" latinLnBrk="0" hangingPunct="1">
      <a:defRPr kumimoji="1" sz="7900" kern="1200">
        <a:solidFill>
          <a:schemeClr val="tx1"/>
        </a:solidFill>
        <a:latin typeface="+mn-lt"/>
        <a:ea typeface="+mn-ea"/>
        <a:cs typeface="+mn-cs"/>
      </a:defRPr>
    </a:lvl4pPr>
    <a:lvl5pPr marL="8021320" algn="l" defTabSz="4010660" rtl="0" eaLnBrk="1" latinLnBrk="0" hangingPunct="1">
      <a:defRPr kumimoji="1" sz="7900" kern="1200">
        <a:solidFill>
          <a:schemeClr val="tx1"/>
        </a:solidFill>
        <a:latin typeface="+mn-lt"/>
        <a:ea typeface="+mn-ea"/>
        <a:cs typeface="+mn-cs"/>
      </a:defRPr>
    </a:lvl5pPr>
    <a:lvl6pPr marL="10026650" algn="l" defTabSz="4010660" rtl="0" eaLnBrk="1" latinLnBrk="0" hangingPunct="1">
      <a:defRPr kumimoji="1" sz="7900" kern="1200">
        <a:solidFill>
          <a:schemeClr val="tx1"/>
        </a:solidFill>
        <a:latin typeface="+mn-lt"/>
        <a:ea typeface="+mn-ea"/>
        <a:cs typeface="+mn-cs"/>
      </a:defRPr>
    </a:lvl6pPr>
    <a:lvl7pPr marL="12031345" algn="l" defTabSz="4010660" rtl="0" eaLnBrk="1" latinLnBrk="0" hangingPunct="1">
      <a:defRPr kumimoji="1" sz="7900" kern="1200">
        <a:solidFill>
          <a:schemeClr val="tx1"/>
        </a:solidFill>
        <a:latin typeface="+mn-lt"/>
        <a:ea typeface="+mn-ea"/>
        <a:cs typeface="+mn-cs"/>
      </a:defRPr>
    </a:lvl7pPr>
    <a:lvl8pPr marL="14036675" algn="l" defTabSz="4010660" rtl="0" eaLnBrk="1" latinLnBrk="0" hangingPunct="1">
      <a:defRPr kumimoji="1" sz="7900" kern="1200">
        <a:solidFill>
          <a:schemeClr val="tx1"/>
        </a:solidFill>
        <a:latin typeface="+mn-lt"/>
        <a:ea typeface="+mn-ea"/>
        <a:cs typeface="+mn-cs"/>
      </a:defRPr>
    </a:lvl8pPr>
    <a:lvl9pPr marL="16042005" algn="l" defTabSz="4010660" rtl="0" eaLnBrk="1" latinLnBrk="0" hangingPunct="1">
      <a:defRPr kumimoji="1" sz="79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3041" userDrawn="1">
          <p15:clr>
            <a:srgbClr val="A4A3A4"/>
          </p15:clr>
        </p15:guide>
        <p15:guide id="2" pos="90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8812"/>
    <a:srgbClr val="A1D99C"/>
    <a:srgbClr val="60B46A"/>
    <a:srgbClr val="CFDB00"/>
    <a:srgbClr val="85E076"/>
    <a:srgbClr val="ECF363"/>
    <a:srgbClr val="A7AF0D"/>
    <a:srgbClr val="CFDB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showGuides="1">
      <p:cViewPr>
        <p:scale>
          <a:sx n="33" d="100"/>
          <a:sy n="33" d="100"/>
        </p:scale>
        <p:origin x="-1306" y="3974"/>
      </p:cViewPr>
      <p:guideLst>
        <p:guide orient="horz" pos="13041"/>
        <p:guide pos="90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8693" cy="49501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15194" y="0"/>
            <a:ext cx="2918693" cy="495013"/>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2024/8/7</a:t>
            </a:fld>
            <a:endParaRPr lang="zh-CN" altLang="en-US"/>
          </a:p>
        </p:txBody>
      </p:sp>
      <p:sp>
        <p:nvSpPr>
          <p:cNvPr id="4" name="幻灯片图像占位符 3"/>
          <p:cNvSpPr>
            <a:spLocks noGrp="1" noRot="1" noChangeAspect="1"/>
          </p:cNvSpPr>
          <p:nvPr>
            <p:ph type="sldImg" idx="2"/>
          </p:nvPr>
        </p:nvSpPr>
        <p:spPr>
          <a:xfrm>
            <a:off x="407924" y="1233249"/>
            <a:ext cx="5919597" cy="3329773"/>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3545" y="4748010"/>
            <a:ext cx="5388356" cy="3884736"/>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370983"/>
            <a:ext cx="2918693" cy="49501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15194" y="9370983"/>
            <a:ext cx="2918693" cy="495012"/>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1171485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2209800" y="1233488"/>
            <a:ext cx="2316163" cy="3328987"/>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60270" y="12862450"/>
            <a:ext cx="24483060" cy="8875276"/>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4320540" y="23462932"/>
            <a:ext cx="20162520" cy="10581322"/>
          </a:xfrm>
        </p:spPr>
        <p:txBody>
          <a:bodyPr/>
          <a:lstStyle>
            <a:lvl1pPr marL="0" indent="0" algn="ctr">
              <a:buNone/>
              <a:defRPr>
                <a:solidFill>
                  <a:schemeClr val="tx1">
                    <a:tint val="75000"/>
                  </a:schemeClr>
                </a:solidFill>
              </a:defRPr>
            </a:lvl1pPr>
            <a:lvl2pPr marL="2005330" indent="0" algn="ctr">
              <a:buNone/>
              <a:defRPr>
                <a:solidFill>
                  <a:schemeClr val="tx1">
                    <a:tint val="75000"/>
                  </a:schemeClr>
                </a:solidFill>
              </a:defRPr>
            </a:lvl2pPr>
            <a:lvl3pPr marL="4010660" indent="0" algn="ctr">
              <a:buNone/>
              <a:defRPr>
                <a:solidFill>
                  <a:schemeClr val="tx1">
                    <a:tint val="75000"/>
                  </a:schemeClr>
                </a:solidFill>
              </a:defRPr>
            </a:lvl3pPr>
            <a:lvl4pPr marL="6015990" indent="0" algn="ctr">
              <a:buNone/>
              <a:defRPr>
                <a:solidFill>
                  <a:schemeClr val="tx1">
                    <a:tint val="75000"/>
                  </a:schemeClr>
                </a:solidFill>
              </a:defRPr>
            </a:lvl4pPr>
            <a:lvl5pPr marL="8021320" indent="0" algn="ctr">
              <a:buNone/>
              <a:defRPr>
                <a:solidFill>
                  <a:schemeClr val="tx1">
                    <a:tint val="75000"/>
                  </a:schemeClr>
                </a:solidFill>
              </a:defRPr>
            </a:lvl5pPr>
            <a:lvl6pPr marL="10026650" indent="0" algn="ctr">
              <a:buNone/>
              <a:defRPr>
                <a:solidFill>
                  <a:schemeClr val="tx1">
                    <a:tint val="75000"/>
                  </a:schemeClr>
                </a:solidFill>
              </a:defRPr>
            </a:lvl6pPr>
            <a:lvl7pPr marL="12031980" indent="0" algn="ctr">
              <a:buNone/>
              <a:defRPr>
                <a:solidFill>
                  <a:schemeClr val="tx1">
                    <a:tint val="75000"/>
                  </a:schemeClr>
                </a:solidFill>
              </a:defRPr>
            </a:lvl7pPr>
            <a:lvl8pPr marL="14037310" indent="0" algn="ctr">
              <a:buNone/>
              <a:defRPr>
                <a:solidFill>
                  <a:schemeClr val="tx1">
                    <a:tint val="75000"/>
                  </a:schemeClr>
                </a:solidFill>
              </a:defRPr>
            </a:lvl8pPr>
            <a:lvl9pPr marL="1604264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2275286" y="26606668"/>
            <a:ext cx="24483060" cy="8223528"/>
          </a:xfrm>
        </p:spPr>
        <p:txBody>
          <a:bodyPr anchor="t"/>
          <a:lstStyle>
            <a:lvl1pPr algn="l">
              <a:defRPr sz="176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2275286" y="17549282"/>
            <a:ext cx="24483060" cy="9057379"/>
          </a:xfrm>
        </p:spPr>
        <p:txBody>
          <a:bodyPr anchor="b"/>
          <a:lstStyle>
            <a:lvl1pPr marL="0" indent="0">
              <a:buNone/>
              <a:defRPr sz="8700">
                <a:solidFill>
                  <a:schemeClr val="tx1">
                    <a:tint val="75000"/>
                  </a:schemeClr>
                </a:solidFill>
              </a:defRPr>
            </a:lvl1pPr>
            <a:lvl2pPr marL="2005330" indent="0">
              <a:buNone/>
              <a:defRPr sz="7900">
                <a:solidFill>
                  <a:schemeClr val="tx1">
                    <a:tint val="75000"/>
                  </a:schemeClr>
                </a:solidFill>
              </a:defRPr>
            </a:lvl2pPr>
            <a:lvl3pPr marL="4010660" indent="0">
              <a:buNone/>
              <a:defRPr sz="7000">
                <a:solidFill>
                  <a:schemeClr val="tx1">
                    <a:tint val="75000"/>
                  </a:schemeClr>
                </a:solidFill>
              </a:defRPr>
            </a:lvl3pPr>
            <a:lvl4pPr marL="6015990" indent="0">
              <a:buNone/>
              <a:defRPr sz="6100">
                <a:solidFill>
                  <a:schemeClr val="tx1">
                    <a:tint val="75000"/>
                  </a:schemeClr>
                </a:solidFill>
              </a:defRPr>
            </a:lvl4pPr>
            <a:lvl5pPr marL="8021320" indent="0">
              <a:buNone/>
              <a:defRPr sz="6100">
                <a:solidFill>
                  <a:schemeClr val="tx1">
                    <a:tint val="75000"/>
                  </a:schemeClr>
                </a:solidFill>
              </a:defRPr>
            </a:lvl5pPr>
            <a:lvl6pPr marL="10026650" indent="0">
              <a:buNone/>
              <a:defRPr sz="6100">
                <a:solidFill>
                  <a:schemeClr val="tx1">
                    <a:tint val="75000"/>
                  </a:schemeClr>
                </a:solidFill>
              </a:defRPr>
            </a:lvl6pPr>
            <a:lvl7pPr marL="12031980" indent="0">
              <a:buNone/>
              <a:defRPr sz="6100">
                <a:solidFill>
                  <a:schemeClr val="tx1">
                    <a:tint val="75000"/>
                  </a:schemeClr>
                </a:solidFill>
              </a:defRPr>
            </a:lvl7pPr>
            <a:lvl8pPr marL="14037310" indent="0">
              <a:buNone/>
              <a:defRPr sz="6100">
                <a:solidFill>
                  <a:schemeClr val="tx1">
                    <a:tint val="75000"/>
                  </a:schemeClr>
                </a:solidFill>
              </a:defRPr>
            </a:lvl8pPr>
            <a:lvl9pPr marL="16042640" indent="0">
              <a:buNone/>
              <a:defRPr sz="61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770601" y="60305871"/>
            <a:ext cx="42680336" cy="170566318"/>
          </a:xfrm>
        </p:spPr>
        <p:txBody>
          <a:bodyPr/>
          <a:lstStyle>
            <a:lvl1pPr>
              <a:defRPr sz="12300"/>
            </a:lvl1pPr>
            <a:lvl2pPr>
              <a:defRPr sz="10600"/>
            </a:lvl2pPr>
            <a:lvl3pPr>
              <a:defRPr sz="8700"/>
            </a:lvl3pPr>
            <a:lvl4pPr>
              <a:defRPr sz="7900"/>
            </a:lvl4pPr>
            <a:lvl5pPr>
              <a:defRPr sz="7900"/>
            </a:lvl5pPr>
            <a:lvl6pPr>
              <a:defRPr sz="7900"/>
            </a:lvl6pPr>
            <a:lvl7pPr>
              <a:defRPr sz="7900"/>
            </a:lvl7pPr>
            <a:lvl8pPr>
              <a:defRPr sz="7900"/>
            </a:lvl8pPr>
            <a:lvl9pPr>
              <a:defRPr sz="79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7930992" y="60305871"/>
            <a:ext cx="42680333" cy="170566318"/>
          </a:xfrm>
        </p:spPr>
        <p:txBody>
          <a:bodyPr/>
          <a:lstStyle>
            <a:lvl1pPr>
              <a:defRPr sz="12300"/>
            </a:lvl1pPr>
            <a:lvl2pPr>
              <a:defRPr sz="10600"/>
            </a:lvl2pPr>
            <a:lvl3pPr>
              <a:defRPr sz="8700"/>
            </a:lvl3pPr>
            <a:lvl4pPr>
              <a:defRPr sz="7900"/>
            </a:lvl4pPr>
            <a:lvl5pPr>
              <a:defRPr sz="7900"/>
            </a:lvl5pPr>
            <a:lvl6pPr>
              <a:defRPr sz="7900"/>
            </a:lvl6pPr>
            <a:lvl7pPr>
              <a:defRPr sz="7900"/>
            </a:lvl7pPr>
            <a:lvl8pPr>
              <a:defRPr sz="7900"/>
            </a:lvl8pPr>
            <a:lvl9pPr>
              <a:defRPr sz="79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1440180" y="1658127"/>
            <a:ext cx="25923240" cy="6900862"/>
          </a:xfrm>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1440180" y="9268246"/>
            <a:ext cx="12726592" cy="3862563"/>
          </a:xfrm>
        </p:spPr>
        <p:txBody>
          <a:bodyPr anchor="b"/>
          <a:lstStyle>
            <a:lvl1pPr marL="0" indent="0">
              <a:buNone/>
              <a:defRPr sz="10600" b="1"/>
            </a:lvl1pPr>
            <a:lvl2pPr marL="2005330" indent="0">
              <a:buNone/>
              <a:defRPr sz="8700" b="1"/>
            </a:lvl2pPr>
            <a:lvl3pPr marL="4010660" indent="0">
              <a:buNone/>
              <a:defRPr sz="7900" b="1"/>
            </a:lvl3pPr>
            <a:lvl4pPr marL="6015990" indent="0">
              <a:buNone/>
              <a:defRPr sz="7000" b="1"/>
            </a:lvl4pPr>
            <a:lvl5pPr marL="8021320" indent="0">
              <a:buNone/>
              <a:defRPr sz="7000" b="1"/>
            </a:lvl5pPr>
            <a:lvl6pPr marL="10026650" indent="0">
              <a:buNone/>
              <a:defRPr sz="7000" b="1"/>
            </a:lvl6pPr>
            <a:lvl7pPr marL="12031980" indent="0">
              <a:buNone/>
              <a:defRPr sz="7000" b="1"/>
            </a:lvl7pPr>
            <a:lvl8pPr marL="14037310" indent="0">
              <a:buNone/>
              <a:defRPr sz="7000" b="1"/>
            </a:lvl8pPr>
            <a:lvl9pPr marL="16042640" indent="0">
              <a:buNone/>
              <a:defRPr sz="70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1440180" y="13130808"/>
            <a:ext cx="12726592" cy="23855901"/>
          </a:xfrm>
        </p:spPr>
        <p:txBody>
          <a:bodyPr/>
          <a:lstStyle>
            <a:lvl1pPr>
              <a:defRPr sz="10600"/>
            </a:lvl1pPr>
            <a:lvl2pPr>
              <a:defRPr sz="8700"/>
            </a:lvl2pPr>
            <a:lvl3pPr>
              <a:defRPr sz="7900"/>
            </a:lvl3pPr>
            <a:lvl4pPr>
              <a:defRPr sz="7000"/>
            </a:lvl4pPr>
            <a:lvl5pPr>
              <a:defRPr sz="7000"/>
            </a:lvl5pPr>
            <a:lvl6pPr>
              <a:defRPr sz="7000"/>
            </a:lvl6pPr>
            <a:lvl7pPr>
              <a:defRPr sz="7000"/>
            </a:lvl7pPr>
            <a:lvl8pPr>
              <a:defRPr sz="7000"/>
            </a:lvl8pPr>
            <a:lvl9pPr>
              <a:defRPr sz="7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14631830" y="9268246"/>
            <a:ext cx="12731592" cy="3862563"/>
          </a:xfrm>
        </p:spPr>
        <p:txBody>
          <a:bodyPr anchor="b"/>
          <a:lstStyle>
            <a:lvl1pPr marL="0" indent="0">
              <a:buNone/>
              <a:defRPr sz="10600" b="1"/>
            </a:lvl1pPr>
            <a:lvl2pPr marL="2005330" indent="0">
              <a:buNone/>
              <a:defRPr sz="8700" b="1"/>
            </a:lvl2pPr>
            <a:lvl3pPr marL="4010660" indent="0">
              <a:buNone/>
              <a:defRPr sz="7900" b="1"/>
            </a:lvl3pPr>
            <a:lvl4pPr marL="6015990" indent="0">
              <a:buNone/>
              <a:defRPr sz="7000" b="1"/>
            </a:lvl4pPr>
            <a:lvl5pPr marL="8021320" indent="0">
              <a:buNone/>
              <a:defRPr sz="7000" b="1"/>
            </a:lvl5pPr>
            <a:lvl6pPr marL="10026650" indent="0">
              <a:buNone/>
              <a:defRPr sz="7000" b="1"/>
            </a:lvl6pPr>
            <a:lvl7pPr marL="12031980" indent="0">
              <a:buNone/>
              <a:defRPr sz="7000" b="1"/>
            </a:lvl7pPr>
            <a:lvl8pPr marL="14037310" indent="0">
              <a:buNone/>
              <a:defRPr sz="7000" b="1"/>
            </a:lvl8pPr>
            <a:lvl9pPr marL="16042640" indent="0">
              <a:buNone/>
              <a:defRPr sz="70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14631830" y="13130808"/>
            <a:ext cx="12731592" cy="23855901"/>
          </a:xfrm>
        </p:spPr>
        <p:txBody>
          <a:bodyPr/>
          <a:lstStyle>
            <a:lvl1pPr>
              <a:defRPr sz="10600"/>
            </a:lvl1pPr>
            <a:lvl2pPr>
              <a:defRPr sz="8700"/>
            </a:lvl2pPr>
            <a:lvl3pPr>
              <a:defRPr sz="7900"/>
            </a:lvl3pPr>
            <a:lvl4pPr>
              <a:defRPr sz="7000"/>
            </a:lvl4pPr>
            <a:lvl5pPr>
              <a:defRPr sz="7000"/>
            </a:lvl5pPr>
            <a:lvl6pPr>
              <a:defRPr sz="7000"/>
            </a:lvl6pPr>
            <a:lvl7pPr>
              <a:defRPr sz="7000"/>
            </a:lvl7pPr>
            <a:lvl8pPr>
              <a:defRPr sz="7000"/>
            </a:lvl8pPr>
            <a:lvl9pPr>
              <a:defRPr sz="7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1440185" y="1648539"/>
            <a:ext cx="9476186" cy="7015877"/>
          </a:xfrm>
        </p:spPr>
        <p:txBody>
          <a:bodyPr anchor="b"/>
          <a:lstStyle>
            <a:lvl1pPr algn="l">
              <a:defRPr sz="87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11261408" y="1648548"/>
            <a:ext cx="16102012" cy="35338170"/>
          </a:xfrm>
        </p:spPr>
        <p:txBody>
          <a:bodyPr/>
          <a:lstStyle>
            <a:lvl1pPr>
              <a:defRPr sz="14000"/>
            </a:lvl1pPr>
            <a:lvl2pPr>
              <a:defRPr sz="12300"/>
            </a:lvl2pPr>
            <a:lvl3pPr>
              <a:defRPr sz="10600"/>
            </a:lvl3pPr>
            <a:lvl4pPr>
              <a:defRPr sz="8700"/>
            </a:lvl4pPr>
            <a:lvl5pPr>
              <a:defRPr sz="8700"/>
            </a:lvl5pPr>
            <a:lvl6pPr>
              <a:defRPr sz="8700"/>
            </a:lvl6pPr>
            <a:lvl7pPr>
              <a:defRPr sz="8700"/>
            </a:lvl7pPr>
            <a:lvl8pPr>
              <a:defRPr sz="8700"/>
            </a:lvl8pPr>
            <a:lvl9pPr>
              <a:defRPr sz="87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1440185" y="8664426"/>
            <a:ext cx="9476186" cy="28322293"/>
          </a:xfrm>
        </p:spPr>
        <p:txBody>
          <a:bodyPr/>
          <a:lstStyle>
            <a:lvl1pPr marL="0" indent="0">
              <a:buNone/>
              <a:defRPr sz="6100"/>
            </a:lvl1pPr>
            <a:lvl2pPr marL="2005330" indent="0">
              <a:buNone/>
              <a:defRPr sz="5300"/>
            </a:lvl2pPr>
            <a:lvl3pPr marL="4010660" indent="0">
              <a:buNone/>
              <a:defRPr sz="4400"/>
            </a:lvl3pPr>
            <a:lvl4pPr marL="6015990" indent="0">
              <a:buNone/>
              <a:defRPr sz="3900"/>
            </a:lvl4pPr>
            <a:lvl5pPr marL="8021320" indent="0">
              <a:buNone/>
              <a:defRPr sz="3900"/>
            </a:lvl5pPr>
            <a:lvl6pPr marL="10026650" indent="0">
              <a:buNone/>
              <a:defRPr sz="3900"/>
            </a:lvl6pPr>
            <a:lvl7pPr marL="12031980" indent="0">
              <a:buNone/>
              <a:defRPr sz="3900"/>
            </a:lvl7pPr>
            <a:lvl8pPr marL="14037310" indent="0">
              <a:buNone/>
              <a:defRPr sz="3900"/>
            </a:lvl8pPr>
            <a:lvl9pPr marL="16042640" indent="0">
              <a:buNone/>
              <a:defRPr sz="3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5645708" y="28983623"/>
            <a:ext cx="17282160" cy="3421681"/>
          </a:xfrm>
        </p:spPr>
        <p:txBody>
          <a:bodyPr anchor="b"/>
          <a:lstStyle>
            <a:lvl1pPr algn="l">
              <a:defRPr sz="8700" b="1"/>
            </a:lvl1pPr>
          </a:lstStyle>
          <a:p>
            <a:r>
              <a:rPr kumimoji="1" lang="ja-JP" altLang="en-US"/>
              <a:t>マスター タイトルの書式設定</a:t>
            </a:r>
          </a:p>
        </p:txBody>
      </p:sp>
      <p:sp>
        <p:nvSpPr>
          <p:cNvPr id="3" name="図プレースホルダー 2"/>
          <p:cNvSpPr>
            <a:spLocks noGrp="1"/>
          </p:cNvSpPr>
          <p:nvPr>
            <p:ph type="pic" idx="1"/>
          </p:nvPr>
        </p:nvSpPr>
        <p:spPr>
          <a:xfrm>
            <a:off x="5645708" y="3699630"/>
            <a:ext cx="17282160" cy="24843105"/>
          </a:xfrm>
        </p:spPr>
        <p:txBody>
          <a:bodyPr/>
          <a:lstStyle>
            <a:lvl1pPr marL="0" indent="0">
              <a:buNone/>
              <a:defRPr sz="14000"/>
            </a:lvl1pPr>
            <a:lvl2pPr marL="2005330" indent="0">
              <a:buNone/>
              <a:defRPr sz="12300"/>
            </a:lvl2pPr>
            <a:lvl3pPr marL="4010660" indent="0">
              <a:buNone/>
              <a:defRPr sz="10600"/>
            </a:lvl3pPr>
            <a:lvl4pPr marL="6015990" indent="0">
              <a:buNone/>
              <a:defRPr sz="8700"/>
            </a:lvl4pPr>
            <a:lvl5pPr marL="8021320" indent="0">
              <a:buNone/>
              <a:defRPr sz="8700"/>
            </a:lvl5pPr>
            <a:lvl6pPr marL="10026650" indent="0">
              <a:buNone/>
              <a:defRPr sz="8700"/>
            </a:lvl6pPr>
            <a:lvl7pPr marL="12031980" indent="0">
              <a:buNone/>
              <a:defRPr sz="8700"/>
            </a:lvl7pPr>
            <a:lvl8pPr marL="14037310" indent="0">
              <a:buNone/>
              <a:defRPr sz="8700"/>
            </a:lvl8pPr>
            <a:lvl9pPr marL="16042640" indent="0">
              <a:buNone/>
              <a:defRPr sz="8700"/>
            </a:lvl9pPr>
          </a:lstStyle>
          <a:p>
            <a:endParaRPr kumimoji="1" lang="ja-JP" altLang="en-US"/>
          </a:p>
        </p:txBody>
      </p:sp>
      <p:sp>
        <p:nvSpPr>
          <p:cNvPr id="4" name="テキスト プレースホルダー 3"/>
          <p:cNvSpPr>
            <a:spLocks noGrp="1"/>
          </p:cNvSpPr>
          <p:nvPr>
            <p:ph type="body" sz="half" idx="2"/>
          </p:nvPr>
        </p:nvSpPr>
        <p:spPr>
          <a:xfrm>
            <a:off x="5645708" y="32405304"/>
            <a:ext cx="17282160" cy="4859354"/>
          </a:xfrm>
        </p:spPr>
        <p:txBody>
          <a:bodyPr/>
          <a:lstStyle>
            <a:lvl1pPr marL="0" indent="0">
              <a:buNone/>
              <a:defRPr sz="6100"/>
            </a:lvl1pPr>
            <a:lvl2pPr marL="2005330" indent="0">
              <a:buNone/>
              <a:defRPr sz="5300"/>
            </a:lvl2pPr>
            <a:lvl3pPr marL="4010660" indent="0">
              <a:buNone/>
              <a:defRPr sz="4400"/>
            </a:lvl3pPr>
            <a:lvl4pPr marL="6015990" indent="0">
              <a:buNone/>
              <a:defRPr sz="3900"/>
            </a:lvl4pPr>
            <a:lvl5pPr marL="8021320" indent="0">
              <a:buNone/>
              <a:defRPr sz="3900"/>
            </a:lvl5pPr>
            <a:lvl6pPr marL="10026650" indent="0">
              <a:buNone/>
              <a:defRPr sz="3900"/>
            </a:lvl6pPr>
            <a:lvl7pPr marL="12031980" indent="0">
              <a:buNone/>
              <a:defRPr sz="3900"/>
            </a:lvl7pPr>
            <a:lvl8pPr marL="14037310" indent="0">
              <a:buNone/>
              <a:defRPr sz="3900"/>
            </a:lvl8pPr>
            <a:lvl9pPr marL="16042640" indent="0">
              <a:buNone/>
              <a:defRPr sz="3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9153645" y="10351294"/>
            <a:ext cx="21457680" cy="22052089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770602" y="10351294"/>
            <a:ext cx="63902988" cy="22052089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E79983CC-C5CD-4660-8EFA-84CE1102611A}" type="datetimeFigureOut">
              <a:rPr kumimoji="1" lang="ja-JP" altLang="en-US" smtClean="0"/>
              <a:t>2024/8/7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53ADCC8-0883-400D-AF1A-E5CCD24E4989}" type="slidenum">
              <a:rPr kumimoji="1" lang="ja-JP" altLang="en-US" smtClean="0"/>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1440180" y="1658127"/>
            <a:ext cx="25923240" cy="6900862"/>
          </a:xfrm>
          <a:prstGeom prst="rect">
            <a:avLst/>
          </a:prstGeom>
        </p:spPr>
        <p:txBody>
          <a:bodyPr vert="horz" lIns="401067" tIns="200533" rIns="401067" bIns="200533"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1440180" y="9661216"/>
            <a:ext cx="25923240" cy="27325502"/>
          </a:xfrm>
          <a:prstGeom prst="rect">
            <a:avLst/>
          </a:prstGeom>
        </p:spPr>
        <p:txBody>
          <a:bodyPr vert="horz" lIns="401067" tIns="200533" rIns="401067" bIns="200533"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1440180" y="38376472"/>
            <a:ext cx="6720840" cy="2204443"/>
          </a:xfrm>
          <a:prstGeom prst="rect">
            <a:avLst/>
          </a:prstGeom>
        </p:spPr>
        <p:txBody>
          <a:bodyPr vert="horz" lIns="401067" tIns="200533" rIns="401067" bIns="200533" rtlCol="0" anchor="ctr"/>
          <a:lstStyle>
            <a:lvl1pPr algn="l">
              <a:defRPr sz="5300">
                <a:solidFill>
                  <a:schemeClr val="tx1">
                    <a:tint val="75000"/>
                  </a:schemeClr>
                </a:solidFill>
              </a:defRPr>
            </a:lvl1pPr>
          </a:lstStyle>
          <a:p>
            <a:fld id="{E79983CC-C5CD-4660-8EFA-84CE1102611A}" type="datetimeFigureOut">
              <a:rPr kumimoji="1" lang="ja-JP" altLang="en-US" smtClean="0"/>
              <a:t>2024/8/7</a:t>
            </a:fld>
            <a:endParaRPr kumimoji="1" lang="ja-JP" altLang="en-US"/>
          </a:p>
        </p:txBody>
      </p:sp>
      <p:sp>
        <p:nvSpPr>
          <p:cNvPr id="5" name="フッター プレースホルダー 4"/>
          <p:cNvSpPr>
            <a:spLocks noGrp="1"/>
          </p:cNvSpPr>
          <p:nvPr>
            <p:ph type="ftr" sz="quarter" idx="3"/>
          </p:nvPr>
        </p:nvSpPr>
        <p:spPr>
          <a:xfrm>
            <a:off x="9841230" y="38376472"/>
            <a:ext cx="9121140" cy="2204443"/>
          </a:xfrm>
          <a:prstGeom prst="rect">
            <a:avLst/>
          </a:prstGeom>
        </p:spPr>
        <p:txBody>
          <a:bodyPr vert="horz" lIns="401067" tIns="200533" rIns="401067" bIns="200533" rtlCol="0" anchor="ctr"/>
          <a:lstStyle>
            <a:lvl1pPr algn="ctr">
              <a:defRPr sz="53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20642580" y="38376472"/>
            <a:ext cx="6720840" cy="2204443"/>
          </a:xfrm>
          <a:prstGeom prst="rect">
            <a:avLst/>
          </a:prstGeom>
        </p:spPr>
        <p:txBody>
          <a:bodyPr vert="horz" lIns="401067" tIns="200533" rIns="401067" bIns="200533" rtlCol="0" anchor="ctr"/>
          <a:lstStyle>
            <a:lvl1pPr algn="r">
              <a:defRPr sz="5300">
                <a:solidFill>
                  <a:schemeClr val="tx1">
                    <a:tint val="75000"/>
                  </a:schemeClr>
                </a:solidFill>
              </a:defRPr>
            </a:lvl1pPr>
          </a:lstStyle>
          <a:p>
            <a:fld id="{353ADCC8-0883-400D-AF1A-E5CCD24E4989}"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010660" rtl="0" eaLnBrk="1" latinLnBrk="0" hangingPunct="1">
        <a:spcBef>
          <a:spcPct val="0"/>
        </a:spcBef>
        <a:buNone/>
        <a:defRPr kumimoji="1" sz="19300" kern="1200">
          <a:solidFill>
            <a:schemeClr val="tx1"/>
          </a:solidFill>
          <a:latin typeface="+mj-lt"/>
          <a:ea typeface="+mj-ea"/>
          <a:cs typeface="+mj-cs"/>
        </a:defRPr>
      </a:lvl1pPr>
    </p:titleStyle>
    <p:bodyStyle>
      <a:lvl1pPr marL="1504315" indent="-1504315" algn="l" defTabSz="4010660" rtl="0" eaLnBrk="1" latinLnBrk="0" hangingPunct="1">
        <a:spcBef>
          <a:spcPct val="20000"/>
        </a:spcBef>
        <a:buFont typeface="Arial" panose="020B0604020202090204" pitchFamily="34" charset="0"/>
        <a:buChar char="•"/>
        <a:defRPr kumimoji="1" sz="14000" kern="1200">
          <a:solidFill>
            <a:schemeClr val="tx1"/>
          </a:solidFill>
          <a:latin typeface="+mn-lt"/>
          <a:ea typeface="+mn-ea"/>
          <a:cs typeface="+mn-cs"/>
        </a:defRPr>
      </a:lvl1pPr>
      <a:lvl2pPr marL="3258820" indent="-1253490" algn="l" defTabSz="4010660" rtl="0" eaLnBrk="1" latinLnBrk="0" hangingPunct="1">
        <a:spcBef>
          <a:spcPct val="20000"/>
        </a:spcBef>
        <a:buFont typeface="Arial" panose="020B0604020202090204" pitchFamily="34" charset="0"/>
        <a:buChar char="–"/>
        <a:defRPr kumimoji="1" sz="12300" kern="1200">
          <a:solidFill>
            <a:schemeClr val="tx1"/>
          </a:solidFill>
          <a:latin typeface="+mn-lt"/>
          <a:ea typeface="+mn-ea"/>
          <a:cs typeface="+mn-cs"/>
        </a:defRPr>
      </a:lvl2pPr>
      <a:lvl3pPr marL="5013325" indent="-1002665" algn="l" defTabSz="4010660" rtl="0" eaLnBrk="1" latinLnBrk="0" hangingPunct="1">
        <a:spcBef>
          <a:spcPct val="20000"/>
        </a:spcBef>
        <a:buFont typeface="Arial" panose="020B0604020202090204" pitchFamily="34" charset="0"/>
        <a:buChar char="•"/>
        <a:defRPr kumimoji="1" sz="10600" kern="1200">
          <a:solidFill>
            <a:schemeClr val="tx1"/>
          </a:solidFill>
          <a:latin typeface="+mn-lt"/>
          <a:ea typeface="+mn-ea"/>
          <a:cs typeface="+mn-cs"/>
        </a:defRPr>
      </a:lvl3pPr>
      <a:lvl4pPr marL="701865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4pPr>
      <a:lvl5pPr marL="902398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5pPr>
      <a:lvl6pPr marL="1102931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6pPr>
      <a:lvl7pPr marL="1303464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7pPr>
      <a:lvl8pPr marL="1503997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8pPr>
      <a:lvl9pPr marL="17045305" indent="-1002665" algn="l" defTabSz="4010660" rtl="0" eaLnBrk="1" latinLnBrk="0" hangingPunct="1">
        <a:spcBef>
          <a:spcPct val="20000"/>
        </a:spcBef>
        <a:buFont typeface="Arial" panose="020B0604020202090204" pitchFamily="34" charset="0"/>
        <a:buChar char="•"/>
        <a:defRPr kumimoji="1" sz="8700" kern="1200">
          <a:solidFill>
            <a:schemeClr val="tx1"/>
          </a:solidFill>
          <a:latin typeface="+mn-lt"/>
          <a:ea typeface="+mn-ea"/>
          <a:cs typeface="+mn-cs"/>
        </a:defRPr>
      </a:lvl9pPr>
    </p:bodyStyle>
    <p:otherStyle>
      <a:defPPr>
        <a:defRPr lang="ja-JP"/>
      </a:defPPr>
      <a:lvl1pPr marL="0" algn="l" defTabSz="4010660" rtl="0" eaLnBrk="1" latinLnBrk="0" hangingPunct="1">
        <a:defRPr kumimoji="1" sz="7900" kern="1200">
          <a:solidFill>
            <a:schemeClr val="tx1"/>
          </a:solidFill>
          <a:latin typeface="+mn-lt"/>
          <a:ea typeface="+mn-ea"/>
          <a:cs typeface="+mn-cs"/>
        </a:defRPr>
      </a:lvl1pPr>
      <a:lvl2pPr marL="2005330" algn="l" defTabSz="4010660" rtl="0" eaLnBrk="1" latinLnBrk="0" hangingPunct="1">
        <a:defRPr kumimoji="1" sz="7900" kern="1200">
          <a:solidFill>
            <a:schemeClr val="tx1"/>
          </a:solidFill>
          <a:latin typeface="+mn-lt"/>
          <a:ea typeface="+mn-ea"/>
          <a:cs typeface="+mn-cs"/>
        </a:defRPr>
      </a:lvl2pPr>
      <a:lvl3pPr marL="4010660" algn="l" defTabSz="4010660" rtl="0" eaLnBrk="1" latinLnBrk="0" hangingPunct="1">
        <a:defRPr kumimoji="1" sz="7900" kern="1200">
          <a:solidFill>
            <a:schemeClr val="tx1"/>
          </a:solidFill>
          <a:latin typeface="+mn-lt"/>
          <a:ea typeface="+mn-ea"/>
          <a:cs typeface="+mn-cs"/>
        </a:defRPr>
      </a:lvl3pPr>
      <a:lvl4pPr marL="6015990" algn="l" defTabSz="4010660" rtl="0" eaLnBrk="1" latinLnBrk="0" hangingPunct="1">
        <a:defRPr kumimoji="1" sz="7900" kern="1200">
          <a:solidFill>
            <a:schemeClr val="tx1"/>
          </a:solidFill>
          <a:latin typeface="+mn-lt"/>
          <a:ea typeface="+mn-ea"/>
          <a:cs typeface="+mn-cs"/>
        </a:defRPr>
      </a:lvl4pPr>
      <a:lvl5pPr marL="8021320" algn="l" defTabSz="4010660" rtl="0" eaLnBrk="1" latinLnBrk="0" hangingPunct="1">
        <a:defRPr kumimoji="1" sz="7900" kern="1200">
          <a:solidFill>
            <a:schemeClr val="tx1"/>
          </a:solidFill>
          <a:latin typeface="+mn-lt"/>
          <a:ea typeface="+mn-ea"/>
          <a:cs typeface="+mn-cs"/>
        </a:defRPr>
      </a:lvl5pPr>
      <a:lvl6pPr marL="10026650" algn="l" defTabSz="4010660" rtl="0" eaLnBrk="1" latinLnBrk="0" hangingPunct="1">
        <a:defRPr kumimoji="1" sz="7900" kern="1200">
          <a:solidFill>
            <a:schemeClr val="tx1"/>
          </a:solidFill>
          <a:latin typeface="+mn-lt"/>
          <a:ea typeface="+mn-ea"/>
          <a:cs typeface="+mn-cs"/>
        </a:defRPr>
      </a:lvl6pPr>
      <a:lvl7pPr marL="12031980" algn="l" defTabSz="4010660" rtl="0" eaLnBrk="1" latinLnBrk="0" hangingPunct="1">
        <a:defRPr kumimoji="1" sz="7900" kern="1200">
          <a:solidFill>
            <a:schemeClr val="tx1"/>
          </a:solidFill>
          <a:latin typeface="+mn-lt"/>
          <a:ea typeface="+mn-ea"/>
          <a:cs typeface="+mn-cs"/>
        </a:defRPr>
      </a:lvl7pPr>
      <a:lvl8pPr marL="14037310" algn="l" defTabSz="4010660" rtl="0" eaLnBrk="1" latinLnBrk="0" hangingPunct="1">
        <a:defRPr kumimoji="1" sz="7900" kern="1200">
          <a:solidFill>
            <a:schemeClr val="tx1"/>
          </a:solidFill>
          <a:latin typeface="+mn-lt"/>
          <a:ea typeface="+mn-ea"/>
          <a:cs typeface="+mn-cs"/>
        </a:defRPr>
      </a:lvl8pPr>
      <a:lvl9pPr marL="16042640" algn="l" defTabSz="4010660" rtl="0" eaLnBrk="1" latinLnBrk="0" hangingPunct="1">
        <a:defRPr kumimoji="1" sz="7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10585376" y="9685363"/>
            <a:ext cx="17620623" cy="25559723"/>
          </a:xfrm>
          <a:prstGeom prst="roundRect">
            <a:avLst>
              <a:gd name="adj" fmla="val 4313"/>
            </a:avLst>
          </a:prstGeom>
          <a:solidFill>
            <a:schemeClr val="bg1"/>
          </a:solidFill>
          <a:ln w="127000">
            <a:solidFill>
              <a:srgbClr val="028812"/>
            </a:solidFill>
          </a:ln>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t"/>
          <a:lstStyle/>
          <a:p>
            <a:endParaRPr lang="en-US" altLang="ja-JP" sz="3600" dirty="0" smtClean="0">
              <a:solidFill>
                <a:schemeClr val="tx1"/>
              </a:solidFill>
              <a:latin typeface="+mn-ea"/>
            </a:endParaRPr>
          </a:p>
          <a:p>
            <a:endParaRPr lang="en-US" altLang="ja-JP" sz="3600" dirty="0">
              <a:solidFill>
                <a:schemeClr val="tx1"/>
              </a:solidFill>
              <a:latin typeface="+mn-ea"/>
            </a:endParaRPr>
          </a:p>
          <a:p>
            <a:r>
              <a:rPr lang="en-US" altLang="ja-JP" sz="3600" dirty="0" smtClean="0">
                <a:solidFill>
                  <a:schemeClr val="tx1"/>
                </a:solidFill>
              </a:rPr>
              <a:t>  </a:t>
            </a:r>
            <a:r>
              <a:rPr lang="ja-JP" altLang="ja-JP" sz="3600" dirty="0" smtClean="0">
                <a:solidFill>
                  <a:schemeClr val="tx1"/>
                </a:solidFill>
              </a:rPr>
              <a:t>コンジョイント</a:t>
            </a:r>
            <a:r>
              <a:rPr lang="ja-JP" altLang="ja-JP" sz="3600" dirty="0">
                <a:solidFill>
                  <a:schemeClr val="tx1"/>
                </a:solidFill>
              </a:rPr>
              <a:t>分析の結果と考察について論述する</a:t>
            </a:r>
            <a:r>
              <a:rPr lang="en-US" altLang="ja-JP" sz="3600" dirty="0">
                <a:solidFill>
                  <a:schemeClr val="tx1"/>
                </a:solidFill>
              </a:rPr>
              <a:t>. </a:t>
            </a:r>
            <a:r>
              <a:rPr lang="ja-JP" altLang="ja-JP" sz="3600" dirty="0">
                <a:solidFill>
                  <a:schemeClr val="tx1"/>
                </a:solidFill>
              </a:rPr>
              <a:t>説明で使用される効用パラメータの値は高いほどプログラミングの職業志望度やタイピングスキル向上の影響が大きく</a:t>
            </a:r>
            <a:r>
              <a:rPr lang="en-US" altLang="ja-JP" sz="3600" dirty="0">
                <a:solidFill>
                  <a:schemeClr val="tx1"/>
                </a:solidFill>
              </a:rPr>
              <a:t>, </a:t>
            </a:r>
            <a:r>
              <a:rPr lang="ja-JP" altLang="ja-JP" sz="3600" dirty="0">
                <a:solidFill>
                  <a:schemeClr val="tx1"/>
                </a:solidFill>
              </a:rPr>
              <a:t>逆はその真逆の影響を及ぼすことを示している</a:t>
            </a:r>
            <a:r>
              <a:rPr lang="en-US" altLang="ja-JP" sz="3600" dirty="0">
                <a:solidFill>
                  <a:schemeClr val="tx1"/>
                </a:solidFill>
              </a:rPr>
              <a:t>. </a:t>
            </a:r>
            <a:r>
              <a:rPr lang="ja-JP" altLang="ja-JP" sz="3600" dirty="0">
                <a:solidFill>
                  <a:schemeClr val="tx1"/>
                </a:solidFill>
              </a:rPr>
              <a:t>以下の節では傾向として特に顕著であったものを説明して</a:t>
            </a:r>
            <a:r>
              <a:rPr lang="ja-JP" altLang="ja-JP" sz="3600" dirty="0" smtClean="0">
                <a:solidFill>
                  <a:schemeClr val="tx1"/>
                </a:solidFill>
              </a:rPr>
              <a:t>いる</a:t>
            </a:r>
            <a:r>
              <a:rPr lang="en-US" altLang="ja-JP" sz="3600" dirty="0" smtClean="0">
                <a:solidFill>
                  <a:schemeClr val="tx1"/>
                </a:solidFill>
              </a:rPr>
              <a:t>.</a:t>
            </a:r>
            <a:r>
              <a:rPr lang="ja-JP" altLang="en-US" sz="3600" dirty="0">
                <a:solidFill>
                  <a:schemeClr val="tx1"/>
                </a:solidFill>
                <a:latin typeface="+mn-ea"/>
              </a:rPr>
              <a:t>　</a:t>
            </a:r>
            <a:endParaRPr lang="en-US" altLang="ja-JP" sz="3600" dirty="0" smtClean="0">
              <a:solidFill>
                <a:schemeClr val="tx1"/>
              </a:solidFill>
              <a:latin typeface="+mn-ea"/>
            </a:endParaRPr>
          </a:p>
          <a:p>
            <a:endParaRPr lang="en-US" altLang="ja-JP" sz="3600" dirty="0" smtClean="0">
              <a:solidFill>
                <a:schemeClr val="tx1"/>
              </a:solidFill>
              <a:latin typeface="+mn-ea"/>
            </a:endParaRPr>
          </a:p>
          <a:p>
            <a:r>
              <a:rPr lang="ja-JP" altLang="ja-JP" sz="3600" b="1" dirty="0" smtClean="0">
                <a:solidFill>
                  <a:schemeClr val="tx1"/>
                </a:solidFill>
                <a:latin typeface="BIZ UDPゴシック" panose="020B0400000000000000" pitchFamily="50" charset="-128"/>
                <a:ea typeface="BIZ UDPゴシック" panose="020B0400000000000000" pitchFamily="50" charset="-128"/>
              </a:rPr>
              <a:t>プログラミング</a:t>
            </a:r>
            <a:r>
              <a:rPr lang="ja-JP" altLang="ja-JP" sz="3600" b="1" dirty="0">
                <a:solidFill>
                  <a:schemeClr val="tx1"/>
                </a:solidFill>
                <a:latin typeface="BIZ UDPゴシック" panose="020B0400000000000000" pitchFamily="50" charset="-128"/>
                <a:ea typeface="BIZ UDPゴシック" panose="020B0400000000000000" pitchFamily="50" charset="-128"/>
              </a:rPr>
              <a:t>の職業</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志望度</a:t>
            </a:r>
            <a:r>
              <a:rPr lang="ja-JP" altLang="en-US" sz="3600" b="1" dirty="0">
                <a:solidFill>
                  <a:schemeClr val="tx1"/>
                </a:solidFill>
                <a:latin typeface="BIZ UDPゴシック" panose="020B0400000000000000" pitchFamily="50" charset="-128"/>
                <a:ea typeface="BIZ UDPゴシック" panose="020B0400000000000000" pitchFamily="50" charset="-128"/>
              </a:rPr>
              <a:t>に</a:t>
            </a:r>
            <a:r>
              <a:rPr lang="ja-JP" altLang="en-US" sz="3600" b="1" dirty="0" smtClean="0">
                <a:solidFill>
                  <a:schemeClr val="tx1"/>
                </a:solidFill>
                <a:latin typeface="BIZ UDPゴシック" panose="020B0400000000000000" pitchFamily="50" charset="-128"/>
                <a:ea typeface="BIZ UDPゴシック" panose="020B0400000000000000" pitchFamily="50" charset="-128"/>
              </a:rPr>
              <a:t>ついて</a:t>
            </a:r>
            <a:r>
              <a:rPr lang="ja-JP" altLang="en-US" sz="3600" dirty="0">
                <a:solidFill>
                  <a:schemeClr val="tx1"/>
                </a:solidFill>
              </a:rPr>
              <a:t>：</a:t>
            </a:r>
            <a:r>
              <a:rPr lang="ja-JP" altLang="ja-JP" sz="3600" dirty="0" smtClean="0">
                <a:solidFill>
                  <a:schemeClr val="tx1"/>
                </a:solidFill>
              </a:rPr>
              <a:t>各アンケート</a:t>
            </a:r>
            <a:r>
              <a:rPr lang="ja-JP" altLang="ja-JP" sz="3600" dirty="0">
                <a:solidFill>
                  <a:schemeClr val="tx1"/>
                </a:solidFill>
              </a:rPr>
              <a:t>内容との関係を確認すると</a:t>
            </a:r>
            <a:r>
              <a:rPr lang="en-US" altLang="ja-JP" sz="3600" dirty="0">
                <a:solidFill>
                  <a:schemeClr val="tx1"/>
                </a:solidFill>
              </a:rPr>
              <a:t>, 1</a:t>
            </a:r>
            <a:r>
              <a:rPr lang="ja-JP" altLang="ja-JP" sz="3600" dirty="0">
                <a:solidFill>
                  <a:schemeClr val="tx1"/>
                </a:solidFill>
              </a:rPr>
              <a:t>週間のゲーム頻度と行うゲームの種類における調査については表</a:t>
            </a:r>
            <a:r>
              <a:rPr lang="en-US" altLang="ja-JP" sz="3600" dirty="0">
                <a:solidFill>
                  <a:schemeClr val="tx1"/>
                </a:solidFill>
              </a:rPr>
              <a:t>1</a:t>
            </a:r>
            <a:r>
              <a:rPr lang="ja-JP" altLang="ja-JP" sz="3600" dirty="0">
                <a:solidFill>
                  <a:schemeClr val="tx1"/>
                </a:solidFill>
              </a:rPr>
              <a:t>に結果を記載する</a:t>
            </a:r>
            <a:r>
              <a:rPr lang="en-US" altLang="ja-JP" sz="3600" dirty="0" smtClean="0">
                <a:solidFill>
                  <a:schemeClr val="tx1"/>
                </a:solidFill>
              </a:rPr>
              <a:t>. </a:t>
            </a:r>
          </a:p>
          <a:p>
            <a:endParaRPr lang="en-US" altLang="ja-JP" sz="3200" dirty="0" smtClean="0">
              <a:solidFill>
                <a:schemeClr val="tx1"/>
              </a:solidFill>
            </a:endParaRPr>
          </a:p>
          <a:p>
            <a:endParaRPr lang="en-US" altLang="ja-JP" sz="3200" dirty="0" smtClean="0">
              <a:solidFill>
                <a:schemeClr val="tx1"/>
              </a:solidFill>
            </a:endParaRPr>
          </a:p>
          <a:p>
            <a:endParaRPr lang="en-US" altLang="ja-JP" sz="3200" dirty="0">
              <a:solidFill>
                <a:schemeClr val="tx1"/>
              </a:solidFill>
            </a:endParaRPr>
          </a:p>
          <a:p>
            <a:endParaRPr lang="en-US" altLang="ja-JP" sz="3200" dirty="0" smtClean="0">
              <a:solidFill>
                <a:schemeClr val="tx1"/>
              </a:solidFill>
            </a:endParaRPr>
          </a:p>
          <a:p>
            <a:endParaRPr lang="en-US" altLang="ja-JP" sz="3200" dirty="0">
              <a:solidFill>
                <a:schemeClr val="tx1"/>
              </a:solidFill>
            </a:endParaRPr>
          </a:p>
          <a:p>
            <a:endParaRPr lang="en-US" altLang="ja-JP" sz="3200" dirty="0" smtClean="0">
              <a:solidFill>
                <a:schemeClr val="tx1"/>
              </a:solidFill>
            </a:endParaRPr>
          </a:p>
          <a:p>
            <a:endParaRPr lang="en-US" altLang="ja-JP" sz="3200" dirty="0">
              <a:solidFill>
                <a:schemeClr val="tx1"/>
              </a:solidFill>
            </a:endParaRPr>
          </a:p>
          <a:p>
            <a:endParaRPr lang="en-US" altLang="ja-JP" sz="3200" dirty="0" smtClean="0">
              <a:solidFill>
                <a:schemeClr val="tx1"/>
              </a:solidFill>
            </a:endParaRPr>
          </a:p>
          <a:p>
            <a:endParaRPr lang="en-US" altLang="ja-JP" sz="3200" dirty="0">
              <a:solidFill>
                <a:schemeClr val="tx1"/>
              </a:solidFill>
            </a:endParaRPr>
          </a:p>
          <a:p>
            <a:endParaRPr lang="en-US" altLang="ja-JP" sz="3200" dirty="0" smtClean="0">
              <a:solidFill>
                <a:schemeClr val="tx1"/>
              </a:solidFill>
            </a:endParaRPr>
          </a:p>
          <a:p>
            <a:endParaRPr lang="en-US" altLang="ja-JP" sz="3200" dirty="0">
              <a:solidFill>
                <a:schemeClr val="tx1"/>
              </a:solidFill>
            </a:endParaRPr>
          </a:p>
          <a:p>
            <a:r>
              <a:rPr lang="ja-JP" altLang="ja-JP" sz="3600" dirty="0" smtClean="0">
                <a:solidFill>
                  <a:schemeClr val="tx1"/>
                </a:solidFill>
              </a:rPr>
              <a:t>家庭</a:t>
            </a:r>
            <a:r>
              <a:rPr lang="ja-JP" altLang="ja-JP" sz="3600" dirty="0">
                <a:solidFill>
                  <a:schemeClr val="tx1"/>
                </a:solidFill>
              </a:rPr>
              <a:t>の電子機器の普及環境</a:t>
            </a:r>
            <a:r>
              <a:rPr lang="en-US" altLang="ja-JP" sz="3600" dirty="0">
                <a:solidFill>
                  <a:schemeClr val="tx1"/>
                </a:solidFill>
              </a:rPr>
              <a:t>(</a:t>
            </a:r>
            <a:r>
              <a:rPr lang="ja-JP" altLang="ja-JP" sz="3600" dirty="0">
                <a:solidFill>
                  <a:schemeClr val="tx1"/>
                </a:solidFill>
              </a:rPr>
              <a:t>ゲーム専用機</a:t>
            </a:r>
            <a:r>
              <a:rPr lang="en-US" altLang="ja-JP" sz="3600" dirty="0">
                <a:solidFill>
                  <a:schemeClr val="tx1"/>
                </a:solidFill>
              </a:rPr>
              <a:t>)</a:t>
            </a:r>
            <a:r>
              <a:rPr lang="ja-JP" altLang="ja-JP" sz="3600" dirty="0">
                <a:solidFill>
                  <a:schemeClr val="tx1"/>
                </a:solidFill>
              </a:rPr>
              <a:t>がダントツであり</a:t>
            </a:r>
            <a:r>
              <a:rPr lang="en-US" altLang="ja-JP" sz="3600" dirty="0">
                <a:solidFill>
                  <a:schemeClr val="tx1"/>
                </a:solidFill>
              </a:rPr>
              <a:t>, </a:t>
            </a:r>
            <a:r>
              <a:rPr lang="ja-JP" altLang="ja-JP" sz="3600" dirty="0">
                <a:solidFill>
                  <a:schemeClr val="tx1"/>
                </a:solidFill>
              </a:rPr>
              <a:t>これを踏まえるとゲーム頻度においてはやや制限されている傾向も感じられる</a:t>
            </a:r>
            <a:r>
              <a:rPr lang="en-US" altLang="ja-JP" sz="3600" dirty="0">
                <a:solidFill>
                  <a:schemeClr val="tx1"/>
                </a:solidFill>
              </a:rPr>
              <a:t>. </a:t>
            </a:r>
            <a:r>
              <a:rPr lang="ja-JP" altLang="ja-JP" sz="3600" dirty="0">
                <a:solidFill>
                  <a:schemeClr val="tx1"/>
                </a:solidFill>
              </a:rPr>
              <a:t>また</a:t>
            </a:r>
            <a:r>
              <a:rPr lang="en-US" altLang="ja-JP" sz="3600" dirty="0">
                <a:solidFill>
                  <a:schemeClr val="tx1"/>
                </a:solidFill>
              </a:rPr>
              <a:t>, YouTube</a:t>
            </a:r>
            <a:r>
              <a:rPr lang="ja-JP" altLang="ja-JP" sz="3600" dirty="0">
                <a:solidFill>
                  <a:schemeClr val="tx1"/>
                </a:solidFill>
              </a:rPr>
              <a:t>の閲覧に関する質問では</a:t>
            </a:r>
            <a:r>
              <a:rPr lang="en-US" altLang="ja-JP" sz="3600" dirty="0">
                <a:solidFill>
                  <a:schemeClr val="tx1"/>
                </a:solidFill>
              </a:rPr>
              <a:t>, </a:t>
            </a:r>
            <a:r>
              <a:rPr lang="ja-JP" altLang="ja-JP" sz="3600" dirty="0">
                <a:solidFill>
                  <a:schemeClr val="tx1"/>
                </a:solidFill>
              </a:rPr>
              <a:t>１週間の閲覧頻度が毎日</a:t>
            </a:r>
            <a:r>
              <a:rPr lang="en-US" altLang="ja-JP" sz="3600" dirty="0">
                <a:solidFill>
                  <a:schemeClr val="tx1"/>
                </a:solidFill>
              </a:rPr>
              <a:t>(</a:t>
            </a:r>
            <a:r>
              <a:rPr lang="ja-JP" altLang="ja-JP" sz="3600" dirty="0">
                <a:solidFill>
                  <a:schemeClr val="tx1"/>
                </a:solidFill>
              </a:rPr>
              <a:t>最大値で</a:t>
            </a:r>
            <a:r>
              <a:rPr lang="en-US" altLang="ja-JP" sz="3600" dirty="0">
                <a:solidFill>
                  <a:schemeClr val="tx1"/>
                </a:solidFill>
              </a:rPr>
              <a:t>2.99), </a:t>
            </a:r>
            <a:r>
              <a:rPr lang="ja-JP" altLang="ja-JP" sz="3600" dirty="0">
                <a:solidFill>
                  <a:schemeClr val="tx1"/>
                </a:solidFill>
              </a:rPr>
              <a:t>週</a:t>
            </a:r>
            <a:r>
              <a:rPr lang="en-US" altLang="ja-JP" sz="3600" dirty="0">
                <a:solidFill>
                  <a:schemeClr val="tx1"/>
                </a:solidFill>
              </a:rPr>
              <a:t>3</a:t>
            </a:r>
            <a:r>
              <a:rPr lang="ja-JP" altLang="ja-JP" sz="3600" dirty="0">
                <a:solidFill>
                  <a:schemeClr val="tx1"/>
                </a:solidFill>
              </a:rPr>
              <a:t>～</a:t>
            </a:r>
            <a:r>
              <a:rPr lang="en-US" altLang="ja-JP" sz="3600" dirty="0">
                <a:solidFill>
                  <a:schemeClr val="tx1"/>
                </a:solidFill>
              </a:rPr>
              <a:t>6</a:t>
            </a:r>
            <a:r>
              <a:rPr lang="ja-JP" altLang="ja-JP" sz="3600" dirty="0">
                <a:solidFill>
                  <a:schemeClr val="tx1"/>
                </a:solidFill>
              </a:rPr>
              <a:t>回</a:t>
            </a:r>
            <a:r>
              <a:rPr lang="en-US" altLang="ja-JP" sz="3600" dirty="0">
                <a:solidFill>
                  <a:schemeClr val="tx1"/>
                </a:solidFill>
              </a:rPr>
              <a:t>(</a:t>
            </a:r>
            <a:r>
              <a:rPr lang="ja-JP" altLang="ja-JP" sz="3600" dirty="0">
                <a:solidFill>
                  <a:schemeClr val="tx1"/>
                </a:solidFill>
              </a:rPr>
              <a:t>第</a:t>
            </a:r>
            <a:r>
              <a:rPr lang="en-US" altLang="ja-JP" sz="3600" dirty="0">
                <a:solidFill>
                  <a:schemeClr val="tx1"/>
                </a:solidFill>
              </a:rPr>
              <a:t>2</a:t>
            </a:r>
            <a:r>
              <a:rPr lang="ja-JP" altLang="ja-JP" sz="3600" dirty="0">
                <a:solidFill>
                  <a:schemeClr val="tx1"/>
                </a:solidFill>
              </a:rPr>
              <a:t>位で</a:t>
            </a:r>
            <a:r>
              <a:rPr lang="en-US" altLang="ja-JP" sz="3600" dirty="0">
                <a:solidFill>
                  <a:schemeClr val="tx1"/>
                </a:solidFill>
              </a:rPr>
              <a:t>2.32)</a:t>
            </a:r>
            <a:r>
              <a:rPr lang="ja-JP" altLang="ja-JP" sz="3600" dirty="0">
                <a:solidFill>
                  <a:schemeClr val="tx1"/>
                </a:solidFill>
              </a:rPr>
              <a:t>など閲覧頻度に関する項目が上位の全てを占めている</a:t>
            </a:r>
            <a:r>
              <a:rPr lang="en-US" altLang="ja-JP" sz="3600" dirty="0">
                <a:solidFill>
                  <a:schemeClr val="tx1"/>
                </a:solidFill>
              </a:rPr>
              <a:t>. YouTube</a:t>
            </a:r>
            <a:r>
              <a:rPr lang="ja-JP" altLang="ja-JP" sz="3600" dirty="0">
                <a:solidFill>
                  <a:schemeClr val="tx1"/>
                </a:solidFill>
              </a:rPr>
              <a:t>コンテンツとしては「ふうはや</a:t>
            </a:r>
            <a:r>
              <a:rPr lang="en-US" altLang="ja-JP" sz="3600" dirty="0">
                <a:solidFill>
                  <a:schemeClr val="tx1"/>
                </a:solidFill>
              </a:rPr>
              <a:t>, </a:t>
            </a:r>
            <a:r>
              <a:rPr lang="ja-JP" altLang="ja-JP" sz="3600" dirty="0">
                <a:solidFill>
                  <a:schemeClr val="tx1"/>
                </a:solidFill>
              </a:rPr>
              <a:t>ヒカキン</a:t>
            </a:r>
            <a:r>
              <a:rPr lang="en-US" altLang="ja-JP" sz="3600" dirty="0">
                <a:solidFill>
                  <a:schemeClr val="tx1"/>
                </a:solidFill>
              </a:rPr>
              <a:t>(</a:t>
            </a:r>
            <a:r>
              <a:rPr lang="ja-JP" altLang="ja-JP" sz="3600" dirty="0">
                <a:solidFill>
                  <a:schemeClr val="tx1"/>
                </a:solidFill>
              </a:rPr>
              <a:t>第</a:t>
            </a:r>
            <a:r>
              <a:rPr lang="en-US" altLang="ja-JP" sz="3600" dirty="0">
                <a:solidFill>
                  <a:schemeClr val="tx1"/>
                </a:solidFill>
              </a:rPr>
              <a:t>5</a:t>
            </a:r>
            <a:r>
              <a:rPr lang="ja-JP" altLang="ja-JP" sz="3600" dirty="0">
                <a:solidFill>
                  <a:schemeClr val="tx1"/>
                </a:solidFill>
              </a:rPr>
              <a:t>位で</a:t>
            </a:r>
            <a:r>
              <a:rPr lang="en-US" altLang="ja-JP" sz="3600" dirty="0">
                <a:solidFill>
                  <a:schemeClr val="tx1"/>
                </a:solidFill>
              </a:rPr>
              <a:t>1.57)</a:t>
            </a:r>
            <a:r>
              <a:rPr lang="ja-JP" altLang="ja-JP" sz="3600" dirty="0">
                <a:solidFill>
                  <a:schemeClr val="tx1"/>
                </a:solidFill>
              </a:rPr>
              <a:t>」であった</a:t>
            </a:r>
            <a:r>
              <a:rPr lang="en-US" altLang="ja-JP" sz="3600" dirty="0">
                <a:solidFill>
                  <a:schemeClr val="tx1"/>
                </a:solidFill>
              </a:rPr>
              <a:t>. </a:t>
            </a:r>
            <a:r>
              <a:rPr lang="ja-JP" altLang="ja-JP" sz="3600" dirty="0">
                <a:solidFill>
                  <a:schemeClr val="tx1"/>
                </a:solidFill>
              </a:rPr>
              <a:t>加えて所持している電子機器と作りたいゲームの種類においては表</a:t>
            </a:r>
            <a:r>
              <a:rPr lang="en-US" altLang="ja-JP" sz="3600" dirty="0">
                <a:solidFill>
                  <a:schemeClr val="tx1"/>
                </a:solidFill>
              </a:rPr>
              <a:t>2</a:t>
            </a:r>
            <a:r>
              <a:rPr lang="ja-JP" altLang="ja-JP" sz="3600" dirty="0">
                <a:solidFill>
                  <a:schemeClr val="tx1"/>
                </a:solidFill>
              </a:rPr>
              <a:t>のとおりであった</a:t>
            </a:r>
            <a:r>
              <a:rPr lang="en-US" altLang="ja-JP" sz="3600" dirty="0" smtClean="0">
                <a:solidFill>
                  <a:schemeClr val="tx1"/>
                </a:solidFill>
              </a:rPr>
              <a:t>.</a:t>
            </a:r>
          </a:p>
          <a:p>
            <a:endParaRPr lang="en-US" altLang="ja-JP" sz="3600" dirty="0" smtClean="0">
              <a:solidFill>
                <a:schemeClr val="tx1"/>
              </a:solidFill>
            </a:endParaRPr>
          </a:p>
          <a:p>
            <a:r>
              <a:rPr lang="ja-JP" altLang="en-US" sz="3600" b="1" dirty="0" smtClean="0">
                <a:solidFill>
                  <a:schemeClr val="tx1"/>
                </a:solidFill>
                <a:latin typeface="BIZ UDPゴシック" panose="020B0400000000000000" pitchFamily="50" charset="-128"/>
                <a:ea typeface="BIZ UDPゴシック" panose="020B0400000000000000" pitchFamily="50" charset="-128"/>
              </a:rPr>
              <a:t>タイピングスキルについて</a:t>
            </a:r>
            <a:r>
              <a:rPr lang="ja-JP" altLang="en-US" sz="3600" dirty="0" smtClean="0">
                <a:solidFill>
                  <a:schemeClr val="tx1"/>
                </a:solidFill>
              </a:rPr>
              <a:t>：</a:t>
            </a:r>
            <a:r>
              <a:rPr lang="ja-JP" altLang="ja-JP" sz="3600" dirty="0">
                <a:solidFill>
                  <a:schemeClr val="tx1"/>
                </a:solidFill>
              </a:rPr>
              <a:t>ゲーム頻度とプレイする種類においては「１週間にゲームをどれほどしますか？</a:t>
            </a:r>
            <a:r>
              <a:rPr lang="en-US" altLang="ja-JP" sz="3600" dirty="0">
                <a:solidFill>
                  <a:schemeClr val="tx1"/>
                </a:solidFill>
              </a:rPr>
              <a:t>_</a:t>
            </a:r>
            <a:r>
              <a:rPr lang="ja-JP" altLang="ja-JP" sz="3600" dirty="0">
                <a:solidFill>
                  <a:schemeClr val="tx1"/>
                </a:solidFill>
              </a:rPr>
              <a:t>毎日</a:t>
            </a:r>
            <a:r>
              <a:rPr lang="en-US" altLang="ja-JP" sz="3600" dirty="0">
                <a:solidFill>
                  <a:schemeClr val="tx1"/>
                </a:solidFill>
              </a:rPr>
              <a:t>(1.54)</a:t>
            </a:r>
            <a:r>
              <a:rPr lang="ja-JP" altLang="ja-JP" sz="3600" dirty="0">
                <a:solidFill>
                  <a:schemeClr val="tx1"/>
                </a:solidFill>
              </a:rPr>
              <a:t>」が最も高く</a:t>
            </a:r>
            <a:r>
              <a:rPr lang="en-US" altLang="ja-JP" sz="3600" dirty="0">
                <a:solidFill>
                  <a:schemeClr val="tx1"/>
                </a:solidFill>
              </a:rPr>
              <a:t>, </a:t>
            </a:r>
            <a:r>
              <a:rPr lang="ja-JP" altLang="ja-JP" sz="3600" dirty="0">
                <a:solidFill>
                  <a:schemeClr val="tx1"/>
                </a:solidFill>
              </a:rPr>
              <a:t>加えてゲーム専用機の使用</a:t>
            </a:r>
            <a:r>
              <a:rPr lang="en-US" altLang="ja-JP" sz="3600" dirty="0">
                <a:solidFill>
                  <a:schemeClr val="tx1"/>
                </a:solidFill>
              </a:rPr>
              <a:t>(0.91(4</a:t>
            </a:r>
            <a:r>
              <a:rPr lang="ja-JP" altLang="ja-JP" sz="3600" dirty="0">
                <a:solidFill>
                  <a:schemeClr val="tx1"/>
                </a:solidFill>
              </a:rPr>
              <a:t>位</a:t>
            </a:r>
            <a:r>
              <a:rPr lang="en-US" altLang="ja-JP" sz="3600" dirty="0">
                <a:solidFill>
                  <a:schemeClr val="tx1"/>
                </a:solidFill>
              </a:rPr>
              <a:t>))</a:t>
            </a:r>
            <a:r>
              <a:rPr lang="ja-JP" altLang="ja-JP" sz="3600" dirty="0">
                <a:solidFill>
                  <a:schemeClr val="tx1"/>
                </a:solidFill>
              </a:rPr>
              <a:t>が高い効用パラメータ値を示した</a:t>
            </a:r>
            <a:r>
              <a:rPr lang="en-US" altLang="ja-JP" sz="3600" dirty="0">
                <a:solidFill>
                  <a:schemeClr val="tx1"/>
                </a:solidFill>
              </a:rPr>
              <a:t>. </a:t>
            </a:r>
            <a:r>
              <a:rPr lang="ja-JP" altLang="ja-JP" sz="3600" dirty="0">
                <a:solidFill>
                  <a:schemeClr val="tx1"/>
                </a:solidFill>
              </a:rPr>
              <a:t>普段行うゲームの種類に関しては表</a:t>
            </a:r>
            <a:r>
              <a:rPr lang="en-US" altLang="ja-JP" sz="3600" dirty="0">
                <a:solidFill>
                  <a:schemeClr val="tx1"/>
                </a:solidFill>
              </a:rPr>
              <a:t>3</a:t>
            </a:r>
            <a:r>
              <a:rPr lang="ja-JP" altLang="ja-JP" sz="3600" dirty="0">
                <a:solidFill>
                  <a:schemeClr val="tx1"/>
                </a:solidFill>
              </a:rPr>
              <a:t>のとおりであった</a:t>
            </a:r>
            <a:r>
              <a:rPr lang="en-US" altLang="ja-JP" sz="3600" dirty="0">
                <a:solidFill>
                  <a:schemeClr val="tx1"/>
                </a:solidFill>
              </a:rPr>
              <a:t>. </a:t>
            </a:r>
            <a:r>
              <a:rPr lang="ja-JP" altLang="ja-JP" sz="3600" dirty="0">
                <a:solidFill>
                  <a:schemeClr val="tx1"/>
                </a:solidFill>
              </a:rPr>
              <a:t>ゲームの種類においては指の動きが複雑なものが影響しているように感じられる</a:t>
            </a:r>
            <a:r>
              <a:rPr lang="en-US" altLang="ja-JP" sz="3600" dirty="0" smtClean="0">
                <a:solidFill>
                  <a:schemeClr val="tx1"/>
                </a:solidFill>
              </a:rPr>
              <a:t>. </a:t>
            </a:r>
            <a:r>
              <a:rPr lang="ja-JP" altLang="ja-JP" sz="3600" dirty="0" smtClean="0">
                <a:solidFill>
                  <a:schemeClr val="tx1"/>
                </a:solidFill>
              </a:rPr>
              <a:t>また</a:t>
            </a:r>
            <a:r>
              <a:rPr lang="en-US" altLang="ja-JP" sz="3600" dirty="0">
                <a:solidFill>
                  <a:schemeClr val="tx1"/>
                </a:solidFill>
              </a:rPr>
              <a:t>, YouTube</a:t>
            </a:r>
            <a:r>
              <a:rPr lang="ja-JP" altLang="ja-JP" sz="3600" dirty="0">
                <a:solidFill>
                  <a:schemeClr val="tx1"/>
                </a:solidFill>
              </a:rPr>
              <a:t>の閲覧頻度とコンテンツについてはそれぞれ表</a:t>
            </a:r>
            <a:r>
              <a:rPr lang="en-US" altLang="ja-JP" sz="3600" dirty="0">
                <a:solidFill>
                  <a:schemeClr val="tx1"/>
                </a:solidFill>
              </a:rPr>
              <a:t>4</a:t>
            </a:r>
            <a:r>
              <a:rPr lang="ja-JP" altLang="ja-JP" sz="3600" dirty="0">
                <a:solidFill>
                  <a:schemeClr val="tx1"/>
                </a:solidFill>
              </a:rPr>
              <a:t>のとおりだった</a:t>
            </a:r>
            <a:r>
              <a:rPr lang="en-US" altLang="ja-JP" sz="3600" dirty="0" smtClean="0">
                <a:solidFill>
                  <a:schemeClr val="tx1"/>
                </a:solidFill>
              </a:rPr>
              <a:t>. YouTube</a:t>
            </a:r>
            <a:r>
              <a:rPr lang="ja-JP" altLang="ja-JP" sz="3600" dirty="0">
                <a:solidFill>
                  <a:schemeClr val="tx1"/>
                </a:solidFill>
              </a:rPr>
              <a:t>の閲覧頻度に関する「全く見ない</a:t>
            </a:r>
            <a:r>
              <a:rPr lang="en-US" altLang="ja-JP" sz="3600" dirty="0">
                <a:solidFill>
                  <a:schemeClr val="tx1"/>
                </a:solidFill>
              </a:rPr>
              <a:t>, </a:t>
            </a:r>
            <a:r>
              <a:rPr lang="ja-JP" altLang="ja-JP" sz="3600" dirty="0">
                <a:solidFill>
                  <a:schemeClr val="tx1"/>
                </a:solidFill>
              </a:rPr>
              <a:t>週に１回するかしないか」は標本数がそれぞれ</a:t>
            </a:r>
            <a:r>
              <a:rPr lang="en-US" altLang="ja-JP" sz="3600" dirty="0">
                <a:solidFill>
                  <a:schemeClr val="tx1"/>
                </a:solidFill>
              </a:rPr>
              <a:t>2,1</a:t>
            </a:r>
            <a:r>
              <a:rPr lang="ja-JP" altLang="ja-JP" sz="3600" dirty="0">
                <a:solidFill>
                  <a:schemeClr val="tx1"/>
                </a:solidFill>
              </a:rPr>
              <a:t>標本であり</a:t>
            </a:r>
            <a:r>
              <a:rPr lang="en-US" altLang="ja-JP" sz="3600" dirty="0">
                <a:solidFill>
                  <a:schemeClr val="tx1"/>
                </a:solidFill>
              </a:rPr>
              <a:t>, </a:t>
            </a:r>
            <a:r>
              <a:rPr lang="ja-JP" altLang="ja-JP" sz="3600" dirty="0">
                <a:solidFill>
                  <a:schemeClr val="tx1"/>
                </a:solidFill>
              </a:rPr>
              <a:t>傾向として確認することは</a:t>
            </a:r>
            <a:r>
              <a:rPr lang="ja-JP" altLang="ja-JP" sz="3600" dirty="0" smtClean="0">
                <a:solidFill>
                  <a:schemeClr val="tx1"/>
                </a:solidFill>
              </a:rPr>
              <a:t>難しい</a:t>
            </a:r>
            <a:r>
              <a:rPr lang="ja-JP" altLang="en-US" sz="3600" dirty="0">
                <a:solidFill>
                  <a:schemeClr val="tx1"/>
                </a:solidFill>
              </a:rPr>
              <a:t>結果となった</a:t>
            </a:r>
            <a:r>
              <a:rPr lang="en-US" altLang="ja-JP" sz="3600" dirty="0" smtClean="0">
                <a:solidFill>
                  <a:schemeClr val="tx1"/>
                </a:solidFill>
              </a:rPr>
              <a:t>.</a:t>
            </a:r>
            <a:r>
              <a:rPr lang="ja-JP" altLang="ja-JP" sz="3600" dirty="0">
                <a:solidFill>
                  <a:schemeClr val="tx1"/>
                </a:solidFill>
              </a:rPr>
              <a:t>加えて</a:t>
            </a:r>
            <a:r>
              <a:rPr lang="en-US" altLang="ja-JP" sz="3600" dirty="0">
                <a:solidFill>
                  <a:schemeClr val="tx1"/>
                </a:solidFill>
              </a:rPr>
              <a:t>,</a:t>
            </a:r>
            <a:r>
              <a:rPr lang="ja-JP" altLang="ja-JP" sz="3600" dirty="0">
                <a:solidFill>
                  <a:schemeClr val="tx1"/>
                </a:solidFill>
              </a:rPr>
              <a:t>電子機器所持とゲーム作成の種類においては「どの電子機器を持っていますか？</a:t>
            </a:r>
            <a:r>
              <a:rPr lang="en-US" altLang="ja-JP" sz="3600" dirty="0">
                <a:solidFill>
                  <a:schemeClr val="tx1"/>
                </a:solidFill>
              </a:rPr>
              <a:t>_</a:t>
            </a:r>
            <a:r>
              <a:rPr lang="ja-JP" altLang="ja-JP" sz="3600" dirty="0">
                <a:solidFill>
                  <a:schemeClr val="tx1"/>
                </a:solidFill>
              </a:rPr>
              <a:t>自分専用のゲーム専用機</a:t>
            </a:r>
            <a:r>
              <a:rPr lang="en-US" altLang="ja-JP" sz="3600" dirty="0">
                <a:solidFill>
                  <a:schemeClr val="tx1"/>
                </a:solidFill>
              </a:rPr>
              <a:t>, </a:t>
            </a:r>
            <a:r>
              <a:rPr lang="ja-JP" altLang="ja-JP" sz="3600" dirty="0">
                <a:solidFill>
                  <a:schemeClr val="tx1"/>
                </a:solidFill>
              </a:rPr>
              <a:t>学校のではない自分専用のタブレット</a:t>
            </a:r>
            <a:r>
              <a:rPr lang="en-US" altLang="ja-JP" sz="3600" dirty="0">
                <a:solidFill>
                  <a:schemeClr val="tx1"/>
                </a:solidFill>
              </a:rPr>
              <a:t>(</a:t>
            </a:r>
            <a:r>
              <a:rPr lang="ja-JP" altLang="ja-JP" sz="3600" dirty="0">
                <a:solidFill>
                  <a:schemeClr val="tx1"/>
                </a:solidFill>
              </a:rPr>
              <a:t>それぞれ第</a:t>
            </a:r>
            <a:r>
              <a:rPr lang="en-US" altLang="ja-JP" sz="3600" dirty="0">
                <a:solidFill>
                  <a:schemeClr val="tx1"/>
                </a:solidFill>
              </a:rPr>
              <a:t>3</a:t>
            </a:r>
            <a:r>
              <a:rPr lang="ja-JP" altLang="ja-JP" sz="3600" dirty="0">
                <a:solidFill>
                  <a:schemeClr val="tx1"/>
                </a:solidFill>
              </a:rPr>
              <a:t>位と第</a:t>
            </a:r>
            <a:r>
              <a:rPr lang="en-US" altLang="ja-JP" sz="3600" dirty="0">
                <a:solidFill>
                  <a:schemeClr val="tx1"/>
                </a:solidFill>
              </a:rPr>
              <a:t>4</a:t>
            </a:r>
            <a:r>
              <a:rPr lang="ja-JP" altLang="ja-JP" sz="3600" dirty="0">
                <a:solidFill>
                  <a:schemeClr val="tx1"/>
                </a:solidFill>
              </a:rPr>
              <a:t>位で</a:t>
            </a:r>
            <a:r>
              <a:rPr lang="en-US" altLang="ja-JP" sz="3600" dirty="0">
                <a:solidFill>
                  <a:schemeClr val="tx1"/>
                </a:solidFill>
              </a:rPr>
              <a:t>0.98, 0.95)</a:t>
            </a:r>
            <a:r>
              <a:rPr lang="ja-JP" altLang="ja-JP" sz="3600" dirty="0">
                <a:solidFill>
                  <a:schemeClr val="tx1"/>
                </a:solidFill>
              </a:rPr>
              <a:t>」</a:t>
            </a:r>
            <a:r>
              <a:rPr lang="en-US" altLang="ja-JP" sz="3600" dirty="0">
                <a:solidFill>
                  <a:schemeClr val="tx1"/>
                </a:solidFill>
              </a:rPr>
              <a:t>,</a:t>
            </a:r>
            <a:r>
              <a:rPr lang="ja-JP" altLang="ja-JP" sz="3600" dirty="0">
                <a:solidFill>
                  <a:schemeClr val="tx1"/>
                </a:solidFill>
              </a:rPr>
              <a:t>「プログラミングクラブでどんなゲームを作りたいですか</a:t>
            </a:r>
            <a:r>
              <a:rPr lang="en-US" altLang="ja-JP" sz="3600" dirty="0">
                <a:solidFill>
                  <a:schemeClr val="tx1"/>
                </a:solidFill>
              </a:rPr>
              <a:t>?_</a:t>
            </a:r>
            <a:r>
              <a:rPr lang="ja-JP" altLang="ja-JP" sz="3600" dirty="0">
                <a:solidFill>
                  <a:schemeClr val="tx1"/>
                </a:solidFill>
              </a:rPr>
              <a:t>格闘・音楽ゲーム</a:t>
            </a:r>
            <a:r>
              <a:rPr lang="en-US" altLang="ja-JP" sz="3600" dirty="0">
                <a:solidFill>
                  <a:schemeClr val="tx1"/>
                </a:solidFill>
              </a:rPr>
              <a:t>(</a:t>
            </a:r>
            <a:r>
              <a:rPr lang="ja-JP" altLang="ja-JP" sz="3600" dirty="0">
                <a:solidFill>
                  <a:schemeClr val="tx1"/>
                </a:solidFill>
              </a:rPr>
              <a:t>それぞれ第</a:t>
            </a:r>
            <a:r>
              <a:rPr lang="en-US" altLang="ja-JP" sz="3600" dirty="0">
                <a:solidFill>
                  <a:schemeClr val="tx1"/>
                </a:solidFill>
              </a:rPr>
              <a:t>1,2</a:t>
            </a:r>
            <a:r>
              <a:rPr lang="ja-JP" altLang="ja-JP" sz="3600" dirty="0">
                <a:solidFill>
                  <a:schemeClr val="tx1"/>
                </a:solidFill>
              </a:rPr>
              <a:t>位で</a:t>
            </a:r>
            <a:r>
              <a:rPr lang="en-US" altLang="ja-JP" sz="3600" dirty="0">
                <a:solidFill>
                  <a:schemeClr val="tx1"/>
                </a:solidFill>
              </a:rPr>
              <a:t>1.94, 1.85)</a:t>
            </a:r>
            <a:r>
              <a:rPr lang="ja-JP" altLang="ja-JP" sz="3600" dirty="0">
                <a:solidFill>
                  <a:schemeClr val="tx1"/>
                </a:solidFill>
              </a:rPr>
              <a:t>」</a:t>
            </a:r>
            <a:r>
              <a:rPr lang="ja-JP" altLang="ja-JP" sz="3600" dirty="0" smtClean="0">
                <a:solidFill>
                  <a:schemeClr val="tx1"/>
                </a:solidFill>
              </a:rPr>
              <a:t>であった</a:t>
            </a:r>
            <a:r>
              <a:rPr lang="en-US" altLang="ja-JP" sz="3600" dirty="0" smtClean="0">
                <a:solidFill>
                  <a:schemeClr val="tx1"/>
                </a:solidFill>
              </a:rPr>
              <a:t>.</a:t>
            </a:r>
            <a:endParaRPr lang="ja-JP" altLang="ja-JP" sz="3600" dirty="0">
              <a:solidFill>
                <a:schemeClr val="tx1"/>
              </a:solidFill>
            </a:endParaRPr>
          </a:p>
          <a:p>
            <a:endParaRPr lang="en-US" altLang="ja-JP" sz="3600" dirty="0" smtClean="0">
              <a:solidFill>
                <a:schemeClr val="tx1"/>
              </a:solidFill>
            </a:endParaRPr>
          </a:p>
          <a:p>
            <a:endParaRPr lang="en-US" altLang="ja-JP" sz="3600" dirty="0">
              <a:solidFill>
                <a:schemeClr val="tx1"/>
              </a:solidFill>
            </a:endParaRPr>
          </a:p>
          <a:p>
            <a:endParaRPr lang="en-US" altLang="ja-JP" sz="3600" dirty="0" smtClean="0">
              <a:solidFill>
                <a:schemeClr val="tx1"/>
              </a:solidFill>
            </a:endParaRPr>
          </a:p>
          <a:p>
            <a:endParaRPr lang="en-US" altLang="ja-JP" sz="3600" dirty="0">
              <a:solidFill>
                <a:schemeClr val="tx1"/>
              </a:solidFill>
            </a:endParaRPr>
          </a:p>
          <a:p>
            <a:endParaRPr lang="en-US" altLang="ja-JP" sz="3600" dirty="0" smtClean="0">
              <a:solidFill>
                <a:schemeClr val="tx1"/>
              </a:solidFill>
            </a:endParaRPr>
          </a:p>
          <a:p>
            <a:endParaRPr lang="en-US" altLang="ja-JP" sz="3600" dirty="0">
              <a:solidFill>
                <a:schemeClr val="tx1"/>
              </a:solidFill>
            </a:endParaRPr>
          </a:p>
          <a:p>
            <a:endParaRPr lang="ja-JP" altLang="ja-JP" sz="3600" dirty="0">
              <a:solidFill>
                <a:schemeClr val="tx1"/>
              </a:solidFill>
            </a:endParaRPr>
          </a:p>
          <a:p>
            <a:endParaRPr lang="en-US" altLang="ja-JP" sz="3200" dirty="0" smtClean="0">
              <a:solidFill>
                <a:schemeClr val="tx1"/>
              </a:solidFill>
            </a:endParaRPr>
          </a:p>
          <a:p>
            <a:endParaRPr lang="en-US" altLang="ja-JP" sz="3200" dirty="0">
              <a:solidFill>
                <a:schemeClr val="tx1"/>
              </a:solidFill>
              <a:latin typeface="+mn-ea"/>
            </a:endParaRPr>
          </a:p>
          <a:p>
            <a:endParaRPr lang="ja-JP" altLang="en-US" sz="3200" dirty="0">
              <a:solidFill>
                <a:schemeClr val="tx1"/>
              </a:solidFill>
              <a:latin typeface="+mn-ea"/>
            </a:endParaRPr>
          </a:p>
        </p:txBody>
      </p:sp>
      <p:sp>
        <p:nvSpPr>
          <p:cNvPr id="4" name="正方形/長方形 3"/>
          <p:cNvSpPr/>
          <p:nvPr/>
        </p:nvSpPr>
        <p:spPr>
          <a:xfrm>
            <a:off x="3600450" y="324323"/>
            <a:ext cx="24107775" cy="3876040"/>
          </a:xfrm>
          <a:prstGeom prst="roundRect">
            <a:avLst/>
          </a:prstGeom>
          <a:solidFill>
            <a:srgbClr val="A1D99C"/>
          </a:solidFill>
          <a:ln/>
        </p:spPr>
        <p:style>
          <a:lnRef idx="0">
            <a:schemeClr val="accent3"/>
          </a:lnRef>
          <a:fillRef idx="3">
            <a:schemeClr val="accent3"/>
          </a:fillRef>
          <a:effectRef idx="3">
            <a:schemeClr val="accent3"/>
          </a:effectRef>
          <a:fontRef idx="minor">
            <a:schemeClr val="lt1"/>
          </a:fontRef>
        </p:style>
        <p:txBody>
          <a:bodyPr lIns="87810" tIns="43905" rIns="87810" bIns="43905" rtlCol="0" anchor="ctr"/>
          <a:lstStyle/>
          <a:p>
            <a:pPr algn="ctr">
              <a:lnSpc>
                <a:spcPct val="150000"/>
              </a:lnSpc>
            </a:pPr>
            <a:r>
              <a:rPr lang="ja-JP" altLang="en-US" sz="4400" dirty="0" smtClean="0">
                <a:solidFill>
                  <a:schemeClr val="tx1"/>
                </a:solidFill>
                <a:latin typeface="+mj-ea"/>
                <a:ea typeface="+mj-ea"/>
                <a:cs typeface="Hiragino Maru Gothic Pro" panose="020F0400000000000000" charset="-128"/>
              </a:rPr>
              <a:t>２０２４年度　日本教育工学会　秋季全国大会</a:t>
            </a:r>
            <a:endParaRPr lang="en-US" altLang="ja-JP" sz="4400" dirty="0">
              <a:solidFill>
                <a:schemeClr val="tx1"/>
              </a:solidFill>
              <a:latin typeface="+mj-ea"/>
              <a:ea typeface="+mj-ea"/>
              <a:cs typeface="Hiragino Maru Gothic Pro" panose="020F0400000000000000" charset="-128"/>
            </a:endParaRPr>
          </a:p>
          <a:p>
            <a:pPr algn="ctr">
              <a:lnSpc>
                <a:spcPct val="150000"/>
              </a:lnSpc>
            </a:pPr>
            <a:r>
              <a:rPr lang="ja-JP" altLang="ja-JP" sz="6000" dirty="0">
                <a:solidFill>
                  <a:schemeClr val="tx1"/>
                </a:solidFill>
              </a:rPr>
              <a:t>タイピングスキルとプログラミング職業志望における小学生の傾向</a:t>
            </a:r>
            <a:r>
              <a:rPr lang="ja-JP" altLang="ja-JP" sz="6000" dirty="0" smtClean="0">
                <a:solidFill>
                  <a:schemeClr val="tx1"/>
                </a:solidFill>
              </a:rPr>
              <a:t>分析</a:t>
            </a:r>
            <a:endParaRPr lang="en-US" altLang="ja-JP" sz="6000" dirty="0" smtClean="0">
              <a:solidFill>
                <a:schemeClr val="tx1"/>
              </a:solidFill>
            </a:endParaRPr>
          </a:p>
          <a:p>
            <a:pPr algn="ctr">
              <a:lnSpc>
                <a:spcPct val="150000"/>
              </a:lnSpc>
            </a:pPr>
            <a:r>
              <a:rPr lang="ja-JP" altLang="en-US" sz="4800" dirty="0" smtClean="0">
                <a:solidFill>
                  <a:schemeClr val="tx1"/>
                </a:solidFill>
                <a:latin typeface="+mj-ea"/>
                <a:ea typeface="+mj-ea"/>
                <a:cs typeface="Hiragino Maru Gothic Pro" panose="020F0400000000000000" charset="-128"/>
              </a:rPr>
              <a:t>小酒井 </a:t>
            </a:r>
            <a:r>
              <a:rPr lang="ja-JP" altLang="en-US" sz="4800" dirty="0">
                <a:solidFill>
                  <a:schemeClr val="tx1"/>
                </a:solidFill>
                <a:latin typeface="+mj-ea"/>
                <a:ea typeface="+mj-ea"/>
                <a:cs typeface="Hiragino Maru Gothic Pro" panose="020F0400000000000000" charset="-128"/>
              </a:rPr>
              <a:t>亮</a:t>
            </a:r>
            <a:r>
              <a:rPr lang="ja-JP" altLang="en-US" sz="4800" dirty="0" smtClean="0">
                <a:solidFill>
                  <a:schemeClr val="tx1"/>
                </a:solidFill>
                <a:latin typeface="+mj-ea"/>
                <a:ea typeface="+mj-ea"/>
                <a:cs typeface="Hiragino Maru Gothic Pro" panose="020F0400000000000000" charset="-128"/>
              </a:rPr>
              <a:t>太</a:t>
            </a:r>
            <a:r>
              <a:rPr lang="en-US" altLang="ja-JP" sz="4800" dirty="0" smtClean="0">
                <a:solidFill>
                  <a:schemeClr val="tx1"/>
                </a:solidFill>
                <a:latin typeface="+mj-ea"/>
                <a:ea typeface="+mj-ea"/>
                <a:cs typeface="Hiragino Maru Gothic Pro" panose="020F0400000000000000" charset="-128"/>
              </a:rPr>
              <a:t>, </a:t>
            </a:r>
            <a:r>
              <a:rPr lang="ja-JP" altLang="en-US" sz="4800" dirty="0" smtClean="0">
                <a:solidFill>
                  <a:schemeClr val="tx1"/>
                </a:solidFill>
                <a:latin typeface="+mj-ea"/>
                <a:ea typeface="+mj-ea"/>
                <a:cs typeface="Hiragino Maru Gothic Pro" panose="020F0400000000000000" charset="-128"/>
              </a:rPr>
              <a:t>原 </a:t>
            </a:r>
            <a:r>
              <a:rPr lang="ja-JP" altLang="en-US" sz="4800" dirty="0">
                <a:solidFill>
                  <a:schemeClr val="tx1"/>
                </a:solidFill>
                <a:latin typeface="+mj-ea"/>
                <a:ea typeface="+mj-ea"/>
                <a:cs typeface="Hiragino Maru Gothic Pro" panose="020F0400000000000000" charset="-128"/>
              </a:rPr>
              <a:t>匠一郎</a:t>
            </a:r>
            <a:r>
              <a:rPr lang="ja-JP" altLang="en-US" sz="4800" dirty="0" smtClean="0">
                <a:solidFill>
                  <a:schemeClr val="tx1"/>
                </a:solidFill>
                <a:latin typeface="+mj-ea"/>
                <a:ea typeface="+mj-ea"/>
                <a:cs typeface="Hiragino Maru Gothic Pro" panose="020F0400000000000000" charset="-128"/>
              </a:rPr>
              <a:t>，</a:t>
            </a:r>
            <a:r>
              <a:rPr lang="ja-JP" altLang="en-US" sz="4800" dirty="0">
                <a:solidFill>
                  <a:schemeClr val="tx1"/>
                </a:solidFill>
                <a:latin typeface="+mj-ea"/>
                <a:ea typeface="+mj-ea"/>
                <a:cs typeface="Hiragino Maru Gothic Pro" panose="020F0400000000000000" charset="-128"/>
              </a:rPr>
              <a:t>渡邊 裕司（名古屋市立大学・大学院理学研究科）</a:t>
            </a:r>
            <a:endParaRPr lang="ja-JP" altLang="en-US" sz="4000" dirty="0">
              <a:solidFill>
                <a:schemeClr val="tx1"/>
              </a:solidFill>
              <a:latin typeface="+mj-ea"/>
              <a:ea typeface="+mj-ea"/>
              <a:cs typeface="Hiragino Maru Gothic Pro" panose="020F0400000000000000" charset="-128"/>
            </a:endParaRPr>
          </a:p>
        </p:txBody>
      </p:sp>
      <p:sp>
        <p:nvSpPr>
          <p:cNvPr id="5" name="角丸四角形 4"/>
          <p:cNvSpPr/>
          <p:nvPr/>
        </p:nvSpPr>
        <p:spPr>
          <a:xfrm>
            <a:off x="1095375" y="4428780"/>
            <a:ext cx="27110624" cy="4968552"/>
          </a:xfrm>
          <a:prstGeom prst="roundRect">
            <a:avLst>
              <a:gd name="adj" fmla="val 10836"/>
            </a:avLst>
          </a:prstGeom>
          <a:solidFill>
            <a:schemeClr val="bg1"/>
          </a:solidFill>
          <a:ln w="127000" cap="rnd">
            <a:solidFill>
              <a:srgbClr val="028812"/>
            </a:solidFill>
          </a:ln>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ctr"/>
          <a:lstStyle/>
          <a:p>
            <a:pPr algn="just"/>
            <a:endParaRPr lang="en-US" altLang="ja-JP" sz="4000" dirty="0">
              <a:solidFill>
                <a:schemeClr val="tx1"/>
              </a:solidFill>
              <a:latin typeface="Hiragino Maru Gothic Pro" panose="020F0400000000000000" charset="-128"/>
              <a:ea typeface="Hiragino Maru Gothic Pro" panose="020F0400000000000000" charset="-128"/>
            </a:endParaRPr>
          </a:p>
          <a:p>
            <a:r>
              <a:rPr lang="ja-JP" altLang="en-US" sz="4000" dirty="0" smtClean="0">
                <a:solidFill>
                  <a:schemeClr val="tx1"/>
                </a:solidFill>
              </a:rPr>
              <a:t>　</a:t>
            </a:r>
            <a:endParaRPr lang="en-US" altLang="ja-JP" sz="4000" dirty="0" smtClean="0">
              <a:solidFill>
                <a:schemeClr val="tx1"/>
              </a:solidFill>
            </a:endParaRPr>
          </a:p>
          <a:p>
            <a:r>
              <a:rPr lang="en-US" altLang="ja-JP" sz="4000" dirty="0" smtClean="0">
                <a:solidFill>
                  <a:schemeClr val="tx1"/>
                </a:solidFill>
              </a:rPr>
              <a:t> </a:t>
            </a:r>
            <a:r>
              <a:rPr lang="ja-JP" altLang="ja-JP" sz="4000" dirty="0" smtClean="0">
                <a:solidFill>
                  <a:schemeClr val="tx1"/>
                </a:solidFill>
              </a:rPr>
              <a:t>令和</a:t>
            </a:r>
            <a:r>
              <a:rPr lang="ja-JP" altLang="ja-JP" sz="4000" dirty="0">
                <a:solidFill>
                  <a:schemeClr val="tx1"/>
                </a:solidFill>
              </a:rPr>
              <a:t>の学習指導要領の改訂から初等教育向けのプログラミング学習が意識的に進められている（文部科学省</a:t>
            </a:r>
            <a:r>
              <a:rPr lang="en-US" altLang="ja-JP" sz="4000" dirty="0">
                <a:solidFill>
                  <a:schemeClr val="tx1"/>
                </a:solidFill>
              </a:rPr>
              <a:t> 2021</a:t>
            </a:r>
            <a:r>
              <a:rPr lang="ja-JP" altLang="ja-JP" sz="4000" dirty="0">
                <a:solidFill>
                  <a:schemeClr val="tx1"/>
                </a:solidFill>
              </a:rPr>
              <a:t>）．小酒井ら（</a:t>
            </a:r>
            <a:r>
              <a:rPr lang="en-US" altLang="ja-JP" sz="4000" dirty="0">
                <a:solidFill>
                  <a:schemeClr val="tx1"/>
                </a:solidFill>
              </a:rPr>
              <a:t>2024</a:t>
            </a:r>
            <a:r>
              <a:rPr lang="ja-JP" altLang="ja-JP" sz="4000" dirty="0">
                <a:solidFill>
                  <a:schemeClr val="tx1"/>
                </a:solidFill>
              </a:rPr>
              <a:t>）は名古屋の某小学校にて開催された</a:t>
            </a:r>
            <a:r>
              <a:rPr lang="en-US" altLang="ja-JP" sz="4000" dirty="0">
                <a:solidFill>
                  <a:schemeClr val="tx1"/>
                </a:solidFill>
              </a:rPr>
              <a:t>Scratch</a:t>
            </a:r>
            <a:r>
              <a:rPr lang="ja-JP" altLang="ja-JP" sz="4000" dirty="0">
                <a:solidFill>
                  <a:schemeClr val="tx1"/>
                </a:solidFill>
              </a:rPr>
              <a:t>のプログラミング講座の参加者</a:t>
            </a:r>
            <a:r>
              <a:rPr lang="en-US" altLang="ja-JP" sz="4000" dirty="0">
                <a:solidFill>
                  <a:schemeClr val="tx1"/>
                </a:solidFill>
              </a:rPr>
              <a:t>50</a:t>
            </a:r>
            <a:r>
              <a:rPr lang="ja-JP" altLang="ja-JP" sz="4000" dirty="0">
                <a:solidFill>
                  <a:schemeClr val="tx1"/>
                </a:solidFill>
              </a:rPr>
              <a:t>名から得たアンケート調査の結果を用いて分析を行った．その結果</a:t>
            </a:r>
            <a:r>
              <a:rPr lang="en-US" altLang="ja-JP" sz="4000" dirty="0">
                <a:solidFill>
                  <a:schemeClr val="tx1"/>
                </a:solidFill>
              </a:rPr>
              <a:t>, </a:t>
            </a:r>
            <a:r>
              <a:rPr lang="ja-JP" altLang="ja-JP" sz="4000" dirty="0">
                <a:solidFill>
                  <a:schemeClr val="tx1"/>
                </a:solidFill>
              </a:rPr>
              <a:t>プログラミング興味とタイピングスキルの傾向を明らかにしている</a:t>
            </a:r>
            <a:r>
              <a:rPr lang="en-US" altLang="ja-JP" sz="4000" dirty="0">
                <a:solidFill>
                  <a:schemeClr val="tx1"/>
                </a:solidFill>
              </a:rPr>
              <a:t>. </a:t>
            </a:r>
            <a:r>
              <a:rPr lang="ja-JP" altLang="ja-JP" sz="4000" dirty="0">
                <a:solidFill>
                  <a:schemeClr val="tx1"/>
                </a:solidFill>
              </a:rPr>
              <a:t>しかし，小学生のプログラミング職業志望度との関連は明らかにしていない．また</a:t>
            </a:r>
            <a:r>
              <a:rPr lang="en-US" altLang="ja-JP" sz="4000" dirty="0">
                <a:solidFill>
                  <a:schemeClr val="tx1"/>
                </a:solidFill>
              </a:rPr>
              <a:t>, </a:t>
            </a:r>
            <a:r>
              <a:rPr lang="ja-JP" altLang="ja-JP" sz="4000" dirty="0">
                <a:solidFill>
                  <a:schemeClr val="tx1"/>
                </a:solidFill>
              </a:rPr>
              <a:t>タイピングスキルにおいても新規かつ異なる傾向が得られた</a:t>
            </a:r>
            <a:r>
              <a:rPr lang="en-US" altLang="ja-JP" sz="4000" dirty="0">
                <a:solidFill>
                  <a:schemeClr val="tx1"/>
                </a:solidFill>
              </a:rPr>
              <a:t>. </a:t>
            </a:r>
            <a:r>
              <a:rPr lang="ja-JP" altLang="ja-JP" sz="4000" dirty="0">
                <a:solidFill>
                  <a:schemeClr val="tx1"/>
                </a:solidFill>
              </a:rPr>
              <a:t>そこで本研究では，上述したアンケート結果に対して，選好順位のデータを用いる分析手法であるコンジョイント分析（河野・石井</a:t>
            </a:r>
            <a:r>
              <a:rPr lang="en-US" altLang="ja-JP" sz="4000" dirty="0">
                <a:solidFill>
                  <a:schemeClr val="tx1"/>
                </a:solidFill>
              </a:rPr>
              <a:t> 2006</a:t>
            </a:r>
            <a:r>
              <a:rPr lang="ja-JP" altLang="ja-JP" sz="4000" dirty="0">
                <a:solidFill>
                  <a:schemeClr val="tx1"/>
                </a:solidFill>
              </a:rPr>
              <a:t>）を適用し，タイピングスキルとプログラミングの職業志望について影響を与える要因について検討した</a:t>
            </a:r>
            <a:r>
              <a:rPr lang="en-US" altLang="ja-JP" sz="4000" dirty="0">
                <a:solidFill>
                  <a:schemeClr val="tx1"/>
                </a:solidFill>
              </a:rPr>
              <a:t>.</a:t>
            </a:r>
            <a:endParaRPr lang="ja-JP" altLang="ja-JP" sz="4000" dirty="0">
              <a:solidFill>
                <a:schemeClr val="tx1"/>
              </a:solidFill>
            </a:endParaRPr>
          </a:p>
        </p:txBody>
      </p:sp>
      <p:sp>
        <p:nvSpPr>
          <p:cNvPr id="7" name="角丸四角形 6"/>
          <p:cNvSpPr/>
          <p:nvPr/>
        </p:nvSpPr>
        <p:spPr>
          <a:xfrm>
            <a:off x="1053468" y="9777974"/>
            <a:ext cx="9126342" cy="12865798"/>
          </a:xfrm>
          <a:prstGeom prst="roundRect">
            <a:avLst>
              <a:gd name="adj" fmla="val 6025"/>
            </a:avLst>
          </a:prstGeom>
          <a:solidFill>
            <a:schemeClr val="bg1"/>
          </a:solidFill>
          <a:ln w="127000">
            <a:solidFill>
              <a:srgbClr val="028812"/>
            </a:solidFill>
          </a:ln>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t"/>
          <a:lstStyle/>
          <a:p>
            <a:endParaRPr lang="en-US" altLang="ja-JP" sz="4000" dirty="0">
              <a:latin typeface="+mn-ea"/>
            </a:endParaRPr>
          </a:p>
          <a:p>
            <a:endParaRPr lang="en-US" altLang="ja-JP" sz="4000" dirty="0">
              <a:latin typeface="+mn-ea"/>
            </a:endParaRPr>
          </a:p>
          <a:p>
            <a:pPr>
              <a:tabLst>
                <a:tab pos="3096260" algn="l"/>
              </a:tabLst>
            </a:pPr>
            <a:r>
              <a:rPr lang="ja-JP" altLang="en-US" sz="3600" dirty="0" smtClean="0">
                <a:solidFill>
                  <a:schemeClr val="tx1"/>
                </a:solidFill>
                <a:latin typeface="+mn-ea"/>
              </a:rPr>
              <a:t>　</a:t>
            </a:r>
            <a:r>
              <a:rPr lang="en-US" altLang="ja-JP" sz="3600" dirty="0" smtClean="0">
                <a:solidFill>
                  <a:schemeClr val="tx1"/>
                </a:solidFill>
                <a:latin typeface="+mn-ea"/>
              </a:rPr>
              <a:t>2024</a:t>
            </a:r>
            <a:r>
              <a:rPr lang="ja-JP" altLang="en-US" sz="3600" dirty="0" smtClean="0">
                <a:solidFill>
                  <a:schemeClr val="tx1"/>
                </a:solidFill>
                <a:latin typeface="+mn-ea"/>
              </a:rPr>
              <a:t>年</a:t>
            </a:r>
            <a:r>
              <a:rPr lang="en-US" altLang="ja-JP" sz="3600" dirty="0" smtClean="0">
                <a:solidFill>
                  <a:schemeClr val="tx1"/>
                </a:solidFill>
                <a:latin typeface="+mn-ea"/>
              </a:rPr>
              <a:t>5</a:t>
            </a:r>
            <a:r>
              <a:rPr lang="ja-JP" altLang="en-US" sz="3600" dirty="0" smtClean="0">
                <a:solidFill>
                  <a:schemeClr val="tx1"/>
                </a:solidFill>
                <a:latin typeface="+mn-ea"/>
              </a:rPr>
              <a:t>月</a:t>
            </a:r>
            <a:r>
              <a:rPr lang="en-US" altLang="ja-JP" sz="3600" dirty="0" smtClean="0">
                <a:solidFill>
                  <a:schemeClr val="tx1"/>
                </a:solidFill>
                <a:latin typeface="+mn-ea"/>
              </a:rPr>
              <a:t>16</a:t>
            </a:r>
            <a:r>
              <a:rPr lang="ja-JP" altLang="en-US" sz="3600" dirty="0" smtClean="0">
                <a:solidFill>
                  <a:schemeClr val="tx1"/>
                </a:solidFill>
                <a:latin typeface="+mn-ea"/>
              </a:rPr>
              <a:t>日に名古屋の小学校で開催された出前講義において</a:t>
            </a:r>
            <a:r>
              <a:rPr lang="en-US" altLang="ja-JP" sz="3600" dirty="0" smtClean="0">
                <a:solidFill>
                  <a:schemeClr val="tx1"/>
                </a:solidFill>
                <a:latin typeface="+mn-ea"/>
              </a:rPr>
              <a:t>, </a:t>
            </a:r>
            <a:r>
              <a:rPr lang="ja-JP" altLang="en-US" sz="3600" dirty="0">
                <a:solidFill>
                  <a:schemeClr val="tx1"/>
                </a:solidFill>
              </a:rPr>
              <a:t>本</a:t>
            </a:r>
            <a:r>
              <a:rPr lang="ja-JP" altLang="ja-JP" sz="3600" dirty="0" smtClean="0">
                <a:solidFill>
                  <a:schemeClr val="tx1"/>
                </a:solidFill>
              </a:rPr>
              <a:t>講座</a:t>
            </a:r>
            <a:r>
              <a:rPr lang="ja-JP" altLang="ja-JP" sz="3600" dirty="0">
                <a:solidFill>
                  <a:schemeClr val="tx1"/>
                </a:solidFill>
              </a:rPr>
              <a:t>ではプログラミング概要について小学生に教室で講師が自ら説明し</a:t>
            </a:r>
            <a:r>
              <a:rPr lang="en-US" altLang="ja-JP" sz="3600" dirty="0">
                <a:solidFill>
                  <a:schemeClr val="tx1"/>
                </a:solidFill>
              </a:rPr>
              <a:t>, </a:t>
            </a:r>
            <a:r>
              <a:rPr lang="en-US" altLang="ja-JP" sz="3600" dirty="0" smtClean="0">
                <a:solidFill>
                  <a:schemeClr val="tx1"/>
                </a:solidFill>
              </a:rPr>
              <a:t> </a:t>
            </a:r>
            <a:r>
              <a:rPr lang="ja-JP" altLang="ja-JP" sz="3600" dirty="0" smtClean="0">
                <a:solidFill>
                  <a:schemeClr val="tx1"/>
                </a:solidFill>
              </a:rPr>
              <a:t>講座</a:t>
            </a:r>
            <a:r>
              <a:rPr lang="ja-JP" altLang="ja-JP" sz="3600" dirty="0">
                <a:solidFill>
                  <a:schemeClr val="tx1"/>
                </a:solidFill>
              </a:rPr>
              <a:t>終了時に我々が用意した</a:t>
            </a:r>
            <a:r>
              <a:rPr lang="en-US" altLang="ja-JP" sz="3600" dirty="0">
                <a:solidFill>
                  <a:schemeClr val="tx1"/>
                </a:solidFill>
              </a:rPr>
              <a:t>Google Form </a:t>
            </a:r>
            <a:r>
              <a:rPr lang="ja-JP" altLang="ja-JP" sz="3600" dirty="0">
                <a:solidFill>
                  <a:schemeClr val="tx1"/>
                </a:solidFill>
              </a:rPr>
              <a:t>のアンケートに答えてもらった結果，</a:t>
            </a:r>
            <a:r>
              <a:rPr lang="en-US" altLang="ja-JP" sz="3600" dirty="0">
                <a:solidFill>
                  <a:schemeClr val="tx1"/>
                </a:solidFill>
              </a:rPr>
              <a:t>23</a:t>
            </a:r>
            <a:r>
              <a:rPr lang="ja-JP" altLang="ja-JP" sz="3600" dirty="0">
                <a:solidFill>
                  <a:schemeClr val="tx1"/>
                </a:solidFill>
              </a:rPr>
              <a:t>名から回答が得られた</a:t>
            </a:r>
            <a:r>
              <a:rPr lang="ja-JP" altLang="ja-JP" sz="3600" dirty="0" smtClean="0">
                <a:solidFill>
                  <a:schemeClr val="tx1"/>
                </a:solidFill>
              </a:rPr>
              <a:t>．</a:t>
            </a:r>
            <a:r>
              <a:rPr lang="ja-JP" altLang="en-US" sz="3600" dirty="0" smtClean="0">
                <a:solidFill>
                  <a:schemeClr val="tx1"/>
                </a:solidFill>
              </a:rPr>
              <a:t>アンケート内容においては</a:t>
            </a:r>
            <a:r>
              <a:rPr lang="en-US" altLang="ja-JP" sz="3600" dirty="0" smtClean="0">
                <a:solidFill>
                  <a:schemeClr val="tx1"/>
                </a:solidFill>
              </a:rPr>
              <a:t>, </a:t>
            </a:r>
            <a:r>
              <a:rPr lang="ja-JP" altLang="en-US" sz="3600" dirty="0" smtClean="0">
                <a:solidFill>
                  <a:schemeClr val="tx1"/>
                </a:solidFill>
              </a:rPr>
              <a:t>特徴量となる</a:t>
            </a:r>
            <a:endParaRPr lang="en-US" altLang="ja-JP" sz="3600" dirty="0" smtClean="0">
              <a:solidFill>
                <a:schemeClr val="tx1"/>
              </a:solidFill>
            </a:endParaRPr>
          </a:p>
          <a:p>
            <a:pPr marL="548640" indent="-548640">
              <a:buFont typeface="Wingdings" panose="05000000000000000000" pitchFamily="2" charset="2"/>
              <a:buChar char="l"/>
              <a:tabLst>
                <a:tab pos="3096260" algn="l"/>
              </a:tabLst>
            </a:pPr>
            <a:r>
              <a:rPr lang="en-US" altLang="ja-JP" sz="3600" b="1" dirty="0" smtClean="0">
                <a:solidFill>
                  <a:schemeClr val="tx1"/>
                </a:solidFill>
                <a:latin typeface="BIZ UDPゴシック" panose="020B0400000000000000" pitchFamily="50" charset="-128"/>
                <a:ea typeface="BIZ UDPゴシック" panose="020B0400000000000000" pitchFamily="50" charset="-128"/>
              </a:rPr>
              <a:t>YouTube </a:t>
            </a:r>
            <a:r>
              <a:rPr lang="ja-JP" altLang="ja-JP" sz="3600" b="1" dirty="0">
                <a:solidFill>
                  <a:schemeClr val="tx1"/>
                </a:solidFill>
                <a:latin typeface="BIZ UDPゴシック" panose="020B0400000000000000" pitchFamily="50" charset="-128"/>
                <a:ea typeface="BIZ UDPゴシック" panose="020B0400000000000000" pitchFamily="50" charset="-128"/>
              </a:rPr>
              <a:t>の閲覧</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頻度</a:t>
            </a:r>
            <a:r>
              <a:rPr lang="ja-JP" altLang="en-US" sz="3600" b="1" dirty="0" smtClean="0">
                <a:solidFill>
                  <a:schemeClr val="tx1"/>
                </a:solidFill>
                <a:latin typeface="BIZ UDPゴシック" panose="020B0400000000000000" pitchFamily="50" charset="-128"/>
                <a:ea typeface="BIZ UDPゴシック" panose="020B0400000000000000" pitchFamily="50" charset="-128"/>
              </a:rPr>
              <a:t>（</a:t>
            </a:r>
            <a:r>
              <a:rPr lang="en-US" altLang="ja-JP" sz="3600" b="1" dirty="0" smtClean="0">
                <a:solidFill>
                  <a:schemeClr val="tx1"/>
                </a:solidFill>
                <a:latin typeface="BIZ UDPゴシック" panose="020B0400000000000000" pitchFamily="50" charset="-128"/>
                <a:ea typeface="BIZ UDPゴシック" panose="020B0400000000000000" pitchFamily="50" charset="-128"/>
              </a:rPr>
              <a:t>1</a:t>
            </a:r>
            <a:r>
              <a:rPr lang="ja-JP" altLang="en-US" sz="3600" b="1" dirty="0" smtClean="0">
                <a:solidFill>
                  <a:schemeClr val="tx1"/>
                </a:solidFill>
                <a:latin typeface="BIZ UDPゴシック" panose="020B0400000000000000" pitchFamily="50" charset="-128"/>
                <a:ea typeface="BIZ UDPゴシック" panose="020B0400000000000000" pitchFamily="50" charset="-128"/>
              </a:rPr>
              <a:t>週間）</a:t>
            </a:r>
            <a:endParaRPr lang="en-US" altLang="ja-JP" sz="3600" b="1" dirty="0" smtClean="0">
              <a:solidFill>
                <a:schemeClr val="tx1"/>
              </a:solidFill>
              <a:latin typeface="BIZ UDPゴシック" panose="020B0400000000000000" pitchFamily="50" charset="-128"/>
              <a:ea typeface="BIZ UDPゴシック" panose="020B0400000000000000" pitchFamily="50" charset="-128"/>
            </a:endParaRPr>
          </a:p>
          <a:p>
            <a:pPr marL="548640" indent="-548640">
              <a:buFont typeface="Wingdings" panose="05000000000000000000" pitchFamily="2" charset="2"/>
              <a:buChar char="l"/>
              <a:tabLst>
                <a:tab pos="3096260" algn="l"/>
              </a:tabLst>
            </a:pPr>
            <a:r>
              <a:rPr lang="en-US" altLang="ja-JP" sz="3600" b="1" dirty="0" smtClean="0">
                <a:solidFill>
                  <a:schemeClr val="tx1"/>
                </a:solidFill>
                <a:latin typeface="BIZ UDPゴシック" panose="020B0400000000000000" pitchFamily="50" charset="-128"/>
                <a:ea typeface="BIZ UDPゴシック" panose="020B0400000000000000" pitchFamily="50" charset="-128"/>
              </a:rPr>
              <a:t>YouTube</a:t>
            </a:r>
            <a:r>
              <a:rPr lang="ja-JP" altLang="en-US" sz="3600" b="1" dirty="0" smtClean="0">
                <a:solidFill>
                  <a:schemeClr val="tx1"/>
                </a:solidFill>
                <a:latin typeface="BIZ UDPゴシック" panose="020B0400000000000000" pitchFamily="50" charset="-128"/>
                <a:ea typeface="BIZ UDPゴシック" panose="020B0400000000000000" pitchFamily="50" charset="-128"/>
              </a:rPr>
              <a:t>閲覧</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コンテンツ</a:t>
            </a:r>
            <a:r>
              <a:rPr lang="ja-JP" altLang="ja-JP" sz="3600" b="1" dirty="0">
                <a:solidFill>
                  <a:schemeClr val="tx1"/>
                </a:solidFill>
                <a:latin typeface="BIZ UDPゴシック" panose="020B0400000000000000" pitchFamily="50" charset="-128"/>
                <a:ea typeface="BIZ UDPゴシック" panose="020B0400000000000000" pitchFamily="50" charset="-128"/>
              </a:rPr>
              <a:t>に関する</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質問</a:t>
            </a:r>
            <a:endParaRPr lang="en-US" altLang="ja-JP" sz="3600" b="1" dirty="0" smtClean="0">
              <a:solidFill>
                <a:schemeClr val="tx1"/>
              </a:solidFill>
              <a:latin typeface="BIZ UDPゴシック" panose="020B0400000000000000" pitchFamily="50" charset="-128"/>
              <a:ea typeface="BIZ UDPゴシック" panose="020B0400000000000000" pitchFamily="50" charset="-128"/>
            </a:endParaRPr>
          </a:p>
          <a:p>
            <a:pPr marL="548640" indent="-548640">
              <a:buFont typeface="Wingdings" panose="05000000000000000000" pitchFamily="2" charset="2"/>
              <a:buChar char="l"/>
              <a:tabLst>
                <a:tab pos="3096260" algn="l"/>
              </a:tabLst>
            </a:pPr>
            <a:r>
              <a:rPr lang="ja-JP" altLang="ja-JP" sz="3600" b="1" dirty="0" smtClean="0">
                <a:solidFill>
                  <a:schemeClr val="tx1"/>
                </a:solidFill>
                <a:latin typeface="BIZ UDPゴシック" panose="020B0400000000000000" pitchFamily="50" charset="-128"/>
                <a:ea typeface="BIZ UDPゴシック" panose="020B0400000000000000" pitchFamily="50" charset="-128"/>
              </a:rPr>
              <a:t>普段</a:t>
            </a:r>
            <a:r>
              <a:rPr lang="ja-JP" altLang="ja-JP" sz="3600" b="1" dirty="0">
                <a:solidFill>
                  <a:schemeClr val="tx1"/>
                </a:solidFill>
                <a:latin typeface="BIZ UDPゴシック" panose="020B0400000000000000" pitchFamily="50" charset="-128"/>
                <a:ea typeface="BIZ UDPゴシック" panose="020B0400000000000000" pitchFamily="50" charset="-128"/>
              </a:rPr>
              <a:t>プレイするゲームの</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種類</a:t>
            </a:r>
            <a:endParaRPr lang="en-US" altLang="ja-JP" sz="3600" b="1" dirty="0" smtClean="0">
              <a:solidFill>
                <a:schemeClr val="tx1"/>
              </a:solidFill>
              <a:latin typeface="BIZ UDPゴシック" panose="020B0400000000000000" pitchFamily="50" charset="-128"/>
              <a:ea typeface="BIZ UDPゴシック" panose="020B0400000000000000" pitchFamily="50" charset="-128"/>
            </a:endParaRPr>
          </a:p>
          <a:p>
            <a:pPr marL="548640" indent="-548640">
              <a:buFont typeface="Wingdings" panose="05000000000000000000" pitchFamily="2" charset="2"/>
              <a:buChar char="l"/>
              <a:tabLst>
                <a:tab pos="3096260" algn="l"/>
              </a:tabLst>
            </a:pPr>
            <a:r>
              <a:rPr lang="ja-JP" altLang="ja-JP" sz="3600" b="1" dirty="0" smtClean="0">
                <a:solidFill>
                  <a:schemeClr val="tx1"/>
                </a:solidFill>
                <a:latin typeface="BIZ UDPゴシック" panose="020B0400000000000000" pitchFamily="50" charset="-128"/>
                <a:ea typeface="BIZ UDPゴシック" panose="020B0400000000000000" pitchFamily="50" charset="-128"/>
              </a:rPr>
              <a:t>作成したい</a:t>
            </a:r>
            <a:r>
              <a:rPr lang="ja-JP" altLang="en-US" sz="3600" b="1" dirty="0" smtClean="0">
                <a:solidFill>
                  <a:schemeClr val="tx1"/>
                </a:solidFill>
                <a:latin typeface="BIZ UDPゴシック" panose="020B0400000000000000" pitchFamily="50" charset="-128"/>
                <a:ea typeface="BIZ UDPゴシック" panose="020B0400000000000000" pitchFamily="50" charset="-128"/>
              </a:rPr>
              <a:t>と思う</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ゲーム</a:t>
            </a:r>
            <a:r>
              <a:rPr lang="ja-JP" altLang="ja-JP" sz="3600" b="1" dirty="0">
                <a:solidFill>
                  <a:schemeClr val="tx1"/>
                </a:solidFill>
                <a:latin typeface="BIZ UDPゴシック" panose="020B0400000000000000" pitchFamily="50" charset="-128"/>
                <a:ea typeface="BIZ UDPゴシック" panose="020B0400000000000000" pitchFamily="50" charset="-128"/>
              </a:rPr>
              <a:t>の</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種類</a:t>
            </a:r>
            <a:endParaRPr lang="en-US" altLang="ja-JP" sz="3600" b="1" dirty="0" smtClean="0">
              <a:solidFill>
                <a:schemeClr val="tx1"/>
              </a:solidFill>
              <a:latin typeface="BIZ UDPゴシック" panose="020B0400000000000000" pitchFamily="50" charset="-128"/>
              <a:ea typeface="BIZ UDPゴシック" panose="020B0400000000000000" pitchFamily="50" charset="-128"/>
            </a:endParaRPr>
          </a:p>
          <a:p>
            <a:pPr marL="548640" indent="-548640">
              <a:buFont typeface="Wingdings" panose="05000000000000000000" pitchFamily="2" charset="2"/>
              <a:buChar char="l"/>
              <a:tabLst>
                <a:tab pos="3096260" algn="l"/>
              </a:tabLst>
            </a:pPr>
            <a:r>
              <a:rPr lang="ja-JP" altLang="en-US" sz="3600" b="1" dirty="0" smtClean="0">
                <a:solidFill>
                  <a:schemeClr val="tx1"/>
                </a:solidFill>
                <a:latin typeface="BIZ UDPゴシック" panose="020B0400000000000000" pitchFamily="50" charset="-128"/>
                <a:ea typeface="BIZ UDPゴシック" panose="020B0400000000000000" pitchFamily="50" charset="-128"/>
              </a:rPr>
              <a:t>１週間の</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ゲーム頻度</a:t>
            </a:r>
            <a:endParaRPr lang="en-US" altLang="ja-JP" sz="3600" b="1" dirty="0" smtClean="0">
              <a:solidFill>
                <a:schemeClr val="tx1"/>
              </a:solidFill>
              <a:latin typeface="BIZ UDPゴシック" panose="020B0400000000000000" pitchFamily="50" charset="-128"/>
              <a:ea typeface="BIZ UDPゴシック" panose="020B0400000000000000" pitchFamily="50" charset="-128"/>
            </a:endParaRPr>
          </a:p>
          <a:p>
            <a:pPr marL="548640" indent="-548640">
              <a:buFont typeface="Wingdings" panose="05000000000000000000" pitchFamily="2" charset="2"/>
              <a:buChar char="l"/>
              <a:tabLst>
                <a:tab pos="3096260" algn="l"/>
              </a:tabLst>
            </a:pPr>
            <a:r>
              <a:rPr lang="ja-JP" altLang="ja-JP" sz="3600" b="1" dirty="0" smtClean="0">
                <a:solidFill>
                  <a:schemeClr val="tx1"/>
                </a:solidFill>
                <a:latin typeface="BIZ UDPゴシック" panose="020B0400000000000000" pitchFamily="50" charset="-128"/>
                <a:ea typeface="BIZ UDPゴシック" panose="020B0400000000000000" pitchFamily="50" charset="-128"/>
              </a:rPr>
              <a:t>電子</a:t>
            </a:r>
            <a:r>
              <a:rPr lang="ja-JP" altLang="ja-JP" sz="3600" b="1" dirty="0">
                <a:solidFill>
                  <a:schemeClr val="tx1"/>
                </a:solidFill>
                <a:latin typeface="BIZ UDPゴシック" panose="020B0400000000000000" pitchFamily="50" charset="-128"/>
                <a:ea typeface="BIZ UDPゴシック" panose="020B0400000000000000" pitchFamily="50" charset="-128"/>
              </a:rPr>
              <a:t>機器の</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所持</a:t>
            </a:r>
            <a:endParaRPr lang="en-US" altLang="ja-JP" sz="3600" b="1" dirty="0" smtClean="0">
              <a:solidFill>
                <a:schemeClr val="tx1"/>
              </a:solidFill>
              <a:latin typeface="BIZ UDPゴシック" panose="020B0400000000000000" pitchFamily="50" charset="-128"/>
              <a:ea typeface="BIZ UDPゴシック" panose="020B0400000000000000" pitchFamily="50" charset="-128"/>
            </a:endParaRPr>
          </a:p>
          <a:p>
            <a:pPr marL="548640" indent="-548640">
              <a:buFont typeface="Wingdings" panose="05000000000000000000" pitchFamily="2" charset="2"/>
              <a:buChar char="l"/>
              <a:tabLst>
                <a:tab pos="3096260" algn="l"/>
              </a:tabLst>
            </a:pPr>
            <a:r>
              <a:rPr lang="ja-JP" altLang="ja-JP" sz="3600" b="1" dirty="0" smtClean="0">
                <a:solidFill>
                  <a:schemeClr val="tx1"/>
                </a:solidFill>
                <a:latin typeface="BIZ UDPゴシック" panose="020B0400000000000000" pitchFamily="50" charset="-128"/>
                <a:ea typeface="BIZ UDPゴシック" panose="020B0400000000000000" pitchFamily="50" charset="-128"/>
              </a:rPr>
              <a:t>ゲーム</a:t>
            </a:r>
            <a:r>
              <a:rPr lang="ja-JP" altLang="ja-JP" sz="3600" b="1" dirty="0">
                <a:solidFill>
                  <a:schemeClr val="tx1"/>
                </a:solidFill>
                <a:latin typeface="BIZ UDPゴシック" panose="020B0400000000000000" pitchFamily="50" charset="-128"/>
                <a:ea typeface="BIZ UDPゴシック" panose="020B0400000000000000" pitchFamily="50" charset="-128"/>
              </a:rPr>
              <a:t>時の使用機器に</a:t>
            </a:r>
            <a:r>
              <a:rPr lang="ja-JP" altLang="ja-JP" sz="3600" b="1" dirty="0" smtClean="0">
                <a:solidFill>
                  <a:schemeClr val="tx1"/>
                </a:solidFill>
                <a:latin typeface="BIZ UDPゴシック" panose="020B0400000000000000" pitchFamily="50" charset="-128"/>
                <a:ea typeface="BIZ UDPゴシック" panose="020B0400000000000000" pitchFamily="50" charset="-128"/>
              </a:rPr>
              <a:t>ついて</a:t>
            </a:r>
            <a:endParaRPr lang="en-US" altLang="ja-JP" sz="3600" b="1" dirty="0" smtClean="0">
              <a:solidFill>
                <a:schemeClr val="tx1"/>
              </a:solidFill>
              <a:latin typeface="BIZ UDPゴシック" panose="020B0400000000000000" pitchFamily="50" charset="-128"/>
              <a:ea typeface="BIZ UDPゴシック" panose="020B0400000000000000" pitchFamily="50" charset="-128"/>
            </a:endParaRPr>
          </a:p>
          <a:p>
            <a:pPr>
              <a:tabLst>
                <a:tab pos="3096260" algn="l"/>
              </a:tabLst>
            </a:pPr>
            <a:r>
              <a:rPr lang="ja-JP" altLang="en-US" sz="3600" dirty="0" smtClean="0">
                <a:solidFill>
                  <a:schemeClr val="tx1"/>
                </a:solidFill>
                <a:latin typeface="+mn-ea"/>
              </a:rPr>
              <a:t>の他</a:t>
            </a:r>
            <a:r>
              <a:rPr lang="en-US" altLang="ja-JP" sz="3600" dirty="0" smtClean="0">
                <a:solidFill>
                  <a:schemeClr val="tx1"/>
                </a:solidFill>
                <a:latin typeface="+mn-ea"/>
              </a:rPr>
              <a:t>, </a:t>
            </a:r>
            <a:r>
              <a:rPr lang="ja-JP" altLang="en-US" sz="3600" dirty="0" smtClean="0">
                <a:solidFill>
                  <a:schemeClr val="tx1"/>
                </a:solidFill>
                <a:latin typeface="+mn-ea"/>
              </a:rPr>
              <a:t>これらの項目との関わり方を見るための</a:t>
            </a:r>
            <a:r>
              <a:rPr lang="ja-JP" altLang="en-US" sz="3600" dirty="0" smtClean="0">
                <a:solidFill>
                  <a:schemeClr val="tx1"/>
                </a:solidFill>
                <a:latin typeface="+mn-ea"/>
              </a:rPr>
              <a:t>項目として</a:t>
            </a:r>
            <a:r>
              <a:rPr lang="en-US" altLang="ja-JP" sz="3600" dirty="0" smtClean="0">
                <a:solidFill>
                  <a:schemeClr val="tx1"/>
                </a:solidFill>
                <a:latin typeface="+mn-ea"/>
              </a:rPr>
              <a:t>, </a:t>
            </a:r>
            <a:endParaRPr lang="en-US" altLang="ja-JP" sz="3600" dirty="0" smtClean="0">
              <a:solidFill>
                <a:schemeClr val="tx1"/>
              </a:solidFill>
              <a:latin typeface="+mn-ea"/>
            </a:endParaRPr>
          </a:p>
          <a:p>
            <a:pPr marL="571500" indent="-571500">
              <a:buFont typeface="Wingdings" panose="05000000000000000000" pitchFamily="2" charset="2"/>
              <a:buChar char="l"/>
              <a:tabLst>
                <a:tab pos="3096260" algn="l"/>
              </a:tabLst>
            </a:pPr>
            <a:r>
              <a:rPr lang="ja-JP" altLang="en-US" sz="3600" b="1" dirty="0" smtClean="0">
                <a:solidFill>
                  <a:schemeClr val="tx1"/>
                </a:solidFill>
                <a:latin typeface="BIZ UDPゴシック" panose="020B0400000000000000" pitchFamily="50" charset="-128"/>
                <a:ea typeface="BIZ UDPゴシック" panose="020B0400000000000000" pitchFamily="50" charset="-128"/>
              </a:rPr>
              <a:t>タイピングスキルの熟練度</a:t>
            </a:r>
            <a:endParaRPr lang="en-US" altLang="ja-JP" sz="3600" b="1" dirty="0" smtClean="0">
              <a:solidFill>
                <a:schemeClr val="tx1"/>
              </a:solidFill>
              <a:latin typeface="BIZ UDPゴシック" panose="020B0400000000000000" pitchFamily="50" charset="-128"/>
              <a:ea typeface="BIZ UDPゴシック" panose="020B0400000000000000" pitchFamily="50" charset="-128"/>
            </a:endParaRPr>
          </a:p>
          <a:p>
            <a:pPr marL="571500" indent="-571500">
              <a:buFont typeface="Wingdings" panose="05000000000000000000" pitchFamily="2" charset="2"/>
              <a:buChar char="l"/>
              <a:tabLst>
                <a:tab pos="3096260" algn="l"/>
              </a:tabLst>
            </a:pPr>
            <a:r>
              <a:rPr lang="ja-JP" altLang="ja-JP" sz="4000" b="1" dirty="0" smtClean="0">
                <a:solidFill>
                  <a:schemeClr val="tx1"/>
                </a:solidFill>
                <a:latin typeface="BIZ UDPゴシック" panose="020B0400000000000000" pitchFamily="50" charset="-128"/>
                <a:ea typeface="BIZ UDPゴシック" panose="020B0400000000000000" pitchFamily="50" charset="-128"/>
              </a:rPr>
              <a:t>プログラミング</a:t>
            </a:r>
            <a:r>
              <a:rPr lang="ja-JP" altLang="ja-JP" sz="4000" b="1" dirty="0">
                <a:solidFill>
                  <a:schemeClr val="tx1"/>
                </a:solidFill>
                <a:latin typeface="BIZ UDPゴシック" panose="020B0400000000000000" pitchFamily="50" charset="-128"/>
                <a:ea typeface="BIZ UDPゴシック" panose="020B0400000000000000" pitchFamily="50" charset="-128"/>
              </a:rPr>
              <a:t>の職業</a:t>
            </a:r>
            <a:r>
              <a:rPr lang="ja-JP" altLang="ja-JP" sz="4000" b="1" dirty="0" smtClean="0">
                <a:solidFill>
                  <a:schemeClr val="tx1"/>
                </a:solidFill>
                <a:latin typeface="BIZ UDPゴシック" panose="020B0400000000000000" pitchFamily="50" charset="-128"/>
                <a:ea typeface="BIZ UDPゴシック" panose="020B0400000000000000" pitchFamily="50" charset="-128"/>
              </a:rPr>
              <a:t>志望度</a:t>
            </a:r>
            <a:endParaRPr lang="en-US" altLang="ja-JP" sz="4000" b="1" dirty="0" smtClean="0">
              <a:solidFill>
                <a:schemeClr val="tx1"/>
              </a:solidFill>
              <a:latin typeface="BIZ UDPゴシック" panose="020B0400000000000000" pitchFamily="50" charset="-128"/>
              <a:ea typeface="BIZ UDPゴシック" panose="020B0400000000000000" pitchFamily="50" charset="-128"/>
            </a:endParaRPr>
          </a:p>
          <a:p>
            <a:pPr>
              <a:tabLst>
                <a:tab pos="3096260" algn="l"/>
              </a:tabLst>
            </a:pPr>
            <a:r>
              <a:rPr lang="ja-JP" altLang="en-US" sz="4000" dirty="0" smtClean="0">
                <a:solidFill>
                  <a:schemeClr val="tx1"/>
                </a:solidFill>
              </a:rPr>
              <a:t>についてデータを採集した</a:t>
            </a:r>
            <a:r>
              <a:rPr lang="en-US" altLang="ja-JP" sz="4000" dirty="0" smtClean="0">
                <a:solidFill>
                  <a:schemeClr val="tx1"/>
                </a:solidFill>
              </a:rPr>
              <a:t>.</a:t>
            </a:r>
            <a:r>
              <a:rPr lang="ja-JP" altLang="en-US" sz="4000" dirty="0" smtClean="0">
                <a:solidFill>
                  <a:schemeClr val="tx1"/>
                </a:solidFill>
              </a:rPr>
              <a:t>　</a:t>
            </a:r>
            <a:endParaRPr lang="en-US" altLang="ja-JP" sz="4000" dirty="0">
              <a:solidFill>
                <a:schemeClr val="tx1"/>
              </a:solidFill>
              <a:latin typeface="+mn-ea"/>
            </a:endParaRPr>
          </a:p>
          <a:p>
            <a:endParaRPr lang="en-US" altLang="ja-JP" sz="4000" dirty="0">
              <a:solidFill>
                <a:schemeClr val="tx1"/>
              </a:solidFill>
              <a:latin typeface="+mn-ea"/>
            </a:endParaRPr>
          </a:p>
        </p:txBody>
      </p:sp>
      <p:sp>
        <p:nvSpPr>
          <p:cNvPr id="10" name="正方形/長方形 9"/>
          <p:cNvSpPr/>
          <p:nvPr/>
        </p:nvSpPr>
        <p:spPr>
          <a:xfrm>
            <a:off x="12417959" y="4603304"/>
            <a:ext cx="3967682" cy="864097"/>
          </a:xfrm>
          <a:prstGeom prst="roundRect">
            <a:avLst/>
          </a:prstGeom>
          <a:solidFill>
            <a:srgbClr val="028812"/>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87810" tIns="43905" rIns="87810" bIns="43905" numCol="1" spcCol="0" rtlCol="0" fromWordArt="0" anchor="ctr" anchorCtr="0" forceAA="0" compatLnSpc="1">
            <a:noAutofit/>
          </a:bodyPr>
          <a:lstStyle/>
          <a:p>
            <a:pPr lvl="0" algn="ctr">
              <a:buClrTx/>
              <a:buSzTx/>
              <a:buFontTx/>
            </a:pPr>
            <a:r>
              <a:rPr lang="ja-JP" altLang="en-US" sz="5800" dirty="0">
                <a:latin typeface="Hiragino Maru Gothic Pro" panose="020F0400000000000000" charset="-128"/>
                <a:ea typeface="Hiragino Maru Gothic Pro" panose="020F0400000000000000" charset="-128"/>
                <a:sym typeface="+mn-ea"/>
              </a:rPr>
              <a:t>背景と目的</a:t>
            </a:r>
          </a:p>
        </p:txBody>
      </p:sp>
      <p:sp>
        <p:nvSpPr>
          <p:cNvPr id="11" name="正方形/長方形 10"/>
          <p:cNvSpPr/>
          <p:nvPr/>
        </p:nvSpPr>
        <p:spPr>
          <a:xfrm>
            <a:off x="2420127" y="10045403"/>
            <a:ext cx="6636515" cy="1008000"/>
          </a:xfrm>
          <a:prstGeom prst="roundRect">
            <a:avLst/>
          </a:prstGeom>
          <a:solidFill>
            <a:srgbClr val="028812"/>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87810" tIns="43905" rIns="87810" bIns="43905" numCol="1" spcCol="0" rtlCol="0" fromWordArt="0" anchor="ctr" anchorCtr="0" forceAA="0" compatLnSpc="1">
            <a:noAutofit/>
          </a:bodyPr>
          <a:lstStyle/>
          <a:p>
            <a:pPr lvl="0" algn="ctr">
              <a:buClrTx/>
              <a:buSzTx/>
              <a:buFontTx/>
            </a:pPr>
            <a:r>
              <a:rPr lang="ja-JP" altLang="en-US" sz="5800" dirty="0" smtClean="0">
                <a:latin typeface="Hiragino Maru Gothic Pro" panose="020F0400000000000000" charset="-128"/>
                <a:ea typeface="Hiragino Maru Gothic Pro" panose="020F0400000000000000" charset="-128"/>
                <a:sym typeface="+mn-ea"/>
              </a:rPr>
              <a:t>データ収集</a:t>
            </a:r>
            <a:endParaRPr lang="ja-JP" altLang="en-US" sz="5800" dirty="0">
              <a:latin typeface="Hiragino Maru Gothic Pro" panose="020F0400000000000000" charset="-128"/>
              <a:ea typeface="Hiragino Maru Gothic Pro" panose="020F0400000000000000" charset="-128"/>
              <a:sym typeface="+mn-ea"/>
            </a:endParaRPr>
          </a:p>
        </p:txBody>
      </p:sp>
      <p:sp>
        <p:nvSpPr>
          <p:cNvPr id="12" name="正方形/長方形 11"/>
          <p:cNvSpPr/>
          <p:nvPr/>
        </p:nvSpPr>
        <p:spPr>
          <a:xfrm>
            <a:off x="14539332" y="9904731"/>
            <a:ext cx="10124727" cy="904439"/>
          </a:xfrm>
          <a:prstGeom prst="roundRect">
            <a:avLst/>
          </a:prstGeom>
          <a:solidFill>
            <a:srgbClr val="028812"/>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ctr"/>
          <a:lstStyle/>
          <a:p>
            <a:pPr algn="ctr"/>
            <a:r>
              <a:rPr lang="ja-JP" altLang="en-US" sz="5800" dirty="0" smtClean="0"/>
              <a:t>分析結果</a:t>
            </a:r>
            <a:r>
              <a:rPr lang="ja-JP" altLang="en-US" sz="5800" dirty="0"/>
              <a:t>と</a:t>
            </a:r>
            <a:r>
              <a:rPr lang="ja-JP" altLang="en-US" sz="5800" dirty="0" smtClean="0"/>
              <a:t>考察</a:t>
            </a:r>
            <a:endParaRPr lang="en-US" altLang="ja-JP" sz="5800" dirty="0"/>
          </a:p>
        </p:txBody>
      </p:sp>
      <p:sp>
        <p:nvSpPr>
          <p:cNvPr id="13" name="角丸四角形 12"/>
          <p:cNvSpPr/>
          <p:nvPr/>
        </p:nvSpPr>
        <p:spPr>
          <a:xfrm>
            <a:off x="1053341" y="35536714"/>
            <a:ext cx="27152658" cy="5472129"/>
          </a:xfrm>
          <a:prstGeom prst="roundRect">
            <a:avLst>
              <a:gd name="adj" fmla="val 11078"/>
            </a:avLst>
          </a:prstGeom>
          <a:solidFill>
            <a:schemeClr val="bg1"/>
          </a:solidFill>
          <a:ln w="127000">
            <a:solidFill>
              <a:srgbClr val="028812"/>
            </a:solidFill>
          </a:ln>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t"/>
          <a:lstStyle/>
          <a:p>
            <a:pPr>
              <a:spcBef>
                <a:spcPts val="1200"/>
              </a:spcBef>
            </a:pPr>
            <a:endParaRPr lang="en-US" altLang="ja-JP" sz="6600" dirty="0">
              <a:solidFill>
                <a:schemeClr val="tx1"/>
              </a:solidFill>
            </a:endParaRPr>
          </a:p>
          <a:p>
            <a:pPr>
              <a:spcBef>
                <a:spcPts val="1200"/>
              </a:spcBef>
            </a:pPr>
            <a:r>
              <a:rPr lang="ja-JP" altLang="ja-JP" sz="3600" dirty="0">
                <a:solidFill>
                  <a:schemeClr val="tx1"/>
                </a:solidFill>
              </a:rPr>
              <a:t>今回の結果でも同様に</a:t>
            </a:r>
            <a:r>
              <a:rPr lang="en-US" altLang="ja-JP" sz="3600" dirty="0">
                <a:solidFill>
                  <a:schemeClr val="tx1"/>
                </a:solidFill>
              </a:rPr>
              <a:t>YouTube</a:t>
            </a:r>
            <a:r>
              <a:rPr lang="ja-JP" altLang="ja-JP" sz="3600" dirty="0">
                <a:solidFill>
                  <a:schemeClr val="tx1"/>
                </a:solidFill>
              </a:rPr>
              <a:t>の閲覧頻度・ゲーム頻度が大きく寄与しており</a:t>
            </a:r>
            <a:r>
              <a:rPr lang="en-US" altLang="ja-JP" sz="3600" dirty="0">
                <a:solidFill>
                  <a:schemeClr val="tx1"/>
                </a:solidFill>
              </a:rPr>
              <a:t>, </a:t>
            </a:r>
            <a:r>
              <a:rPr lang="ja-JP" altLang="ja-JP" sz="3600" dirty="0">
                <a:solidFill>
                  <a:schemeClr val="tx1"/>
                </a:solidFill>
              </a:rPr>
              <a:t>その結果が同じところが散見される</a:t>
            </a:r>
            <a:r>
              <a:rPr lang="en-US" altLang="ja-JP" sz="3600" dirty="0">
                <a:solidFill>
                  <a:schemeClr val="tx1"/>
                </a:solidFill>
              </a:rPr>
              <a:t>. </a:t>
            </a:r>
            <a:r>
              <a:rPr lang="ja-JP" altLang="ja-JP" sz="3600" dirty="0">
                <a:solidFill>
                  <a:schemeClr val="tx1"/>
                </a:solidFill>
              </a:rPr>
              <a:t>新たに得られた傾向としては</a:t>
            </a:r>
            <a:r>
              <a:rPr lang="en-US" altLang="ja-JP" sz="3600" dirty="0">
                <a:solidFill>
                  <a:schemeClr val="tx1"/>
                </a:solidFill>
              </a:rPr>
              <a:t>, </a:t>
            </a:r>
            <a:r>
              <a:rPr lang="ja-JP" altLang="ja-JP" sz="3600" dirty="0">
                <a:solidFill>
                  <a:schemeClr val="tx1"/>
                </a:solidFill>
              </a:rPr>
              <a:t>タイピングスキル・プログラミング職業志望度において</a:t>
            </a:r>
            <a:r>
              <a:rPr lang="en-US" altLang="ja-JP" sz="3600" dirty="0">
                <a:solidFill>
                  <a:schemeClr val="tx1"/>
                </a:solidFill>
              </a:rPr>
              <a:t>, </a:t>
            </a:r>
            <a:r>
              <a:rPr lang="ja-JP" altLang="ja-JP" sz="3600" dirty="0">
                <a:solidFill>
                  <a:schemeClr val="tx1"/>
                </a:solidFill>
              </a:rPr>
              <a:t>ゲーム専用機の所持・使用が大きく影響を与えている点</a:t>
            </a:r>
            <a:r>
              <a:rPr lang="en-US" altLang="ja-JP" sz="3600" dirty="0">
                <a:solidFill>
                  <a:schemeClr val="tx1"/>
                </a:solidFill>
              </a:rPr>
              <a:t>, </a:t>
            </a:r>
            <a:r>
              <a:rPr lang="ja-JP" altLang="ja-JP" sz="3600" dirty="0">
                <a:solidFill>
                  <a:schemeClr val="tx1"/>
                </a:solidFill>
              </a:rPr>
              <a:t>その他</a:t>
            </a:r>
            <a:r>
              <a:rPr lang="en-US" altLang="ja-JP" sz="3600" dirty="0">
                <a:solidFill>
                  <a:schemeClr val="tx1"/>
                </a:solidFill>
              </a:rPr>
              <a:t>, </a:t>
            </a:r>
            <a:r>
              <a:rPr lang="ja-JP" altLang="ja-JP" sz="3600" dirty="0">
                <a:solidFill>
                  <a:schemeClr val="tx1"/>
                </a:solidFill>
              </a:rPr>
              <a:t>作成したいゲームの種類において</a:t>
            </a:r>
            <a:r>
              <a:rPr lang="en-US" altLang="ja-JP" sz="3600" dirty="0">
                <a:solidFill>
                  <a:schemeClr val="tx1"/>
                </a:solidFill>
              </a:rPr>
              <a:t>, </a:t>
            </a:r>
            <a:r>
              <a:rPr lang="ja-JP" altLang="ja-JP" sz="3600" dirty="0">
                <a:solidFill>
                  <a:schemeClr val="tx1"/>
                </a:solidFill>
              </a:rPr>
              <a:t>格闘・音楽ゲーム等の複雑な操作を要するゲームがタイピングスキルへの影響を示唆する結果を示した</a:t>
            </a:r>
            <a:r>
              <a:rPr lang="en-US" altLang="ja-JP" sz="3600" dirty="0">
                <a:solidFill>
                  <a:schemeClr val="tx1"/>
                </a:solidFill>
              </a:rPr>
              <a:t>. </a:t>
            </a:r>
            <a:r>
              <a:rPr lang="ja-JP" altLang="ja-JP" sz="3600" dirty="0">
                <a:solidFill>
                  <a:schemeClr val="tx1"/>
                </a:solidFill>
              </a:rPr>
              <a:t>更なる研究を続けていきたい</a:t>
            </a:r>
            <a:r>
              <a:rPr lang="en-US" altLang="ja-JP" sz="3600" dirty="0">
                <a:solidFill>
                  <a:schemeClr val="tx1"/>
                </a:solidFill>
              </a:rPr>
              <a:t>. </a:t>
            </a:r>
            <a:endParaRPr lang="en-US" altLang="ja-JP" sz="2800" dirty="0">
              <a:solidFill>
                <a:schemeClr val="tx1"/>
              </a:solidFill>
            </a:endParaRPr>
          </a:p>
          <a:p>
            <a:endParaRPr lang="en-US" altLang="ja-JP" sz="2800" dirty="0" smtClean="0">
              <a:solidFill>
                <a:schemeClr val="tx1"/>
              </a:solidFill>
            </a:endParaRPr>
          </a:p>
          <a:p>
            <a:r>
              <a:rPr lang="en-US" altLang="ja-JP" sz="2800" dirty="0" smtClean="0">
                <a:solidFill>
                  <a:schemeClr val="tx1"/>
                </a:solidFill>
              </a:rPr>
              <a:t>[1]</a:t>
            </a:r>
            <a:r>
              <a:rPr lang="ja-JP" altLang="ja-JP" sz="2800" dirty="0">
                <a:solidFill>
                  <a:schemeClr val="tx1"/>
                </a:solidFill>
              </a:rPr>
              <a:t>小酒井亮太</a:t>
            </a:r>
            <a:r>
              <a:rPr lang="en-US" altLang="ja-JP" sz="2800" dirty="0">
                <a:solidFill>
                  <a:schemeClr val="tx1"/>
                </a:solidFill>
              </a:rPr>
              <a:t>, </a:t>
            </a:r>
            <a:r>
              <a:rPr lang="ja-JP" altLang="ja-JP" sz="2800" dirty="0">
                <a:solidFill>
                  <a:schemeClr val="tx1"/>
                </a:solidFill>
              </a:rPr>
              <a:t>原匠一郎</a:t>
            </a:r>
            <a:r>
              <a:rPr lang="en-US" altLang="ja-JP" sz="2800" dirty="0">
                <a:solidFill>
                  <a:schemeClr val="tx1"/>
                </a:solidFill>
              </a:rPr>
              <a:t>, </a:t>
            </a:r>
            <a:r>
              <a:rPr lang="ja-JP" altLang="ja-JP" sz="2800" dirty="0">
                <a:solidFill>
                  <a:schemeClr val="tx1"/>
                </a:solidFill>
              </a:rPr>
              <a:t>渡邊裕司</a:t>
            </a:r>
            <a:r>
              <a:rPr lang="en-US" altLang="ja-JP" sz="2800" dirty="0">
                <a:solidFill>
                  <a:schemeClr val="tx1"/>
                </a:solidFill>
              </a:rPr>
              <a:t>, </a:t>
            </a:r>
            <a:r>
              <a:rPr lang="ja-JP" altLang="ja-JP" sz="2800" dirty="0">
                <a:solidFill>
                  <a:schemeClr val="tx1"/>
                </a:solidFill>
              </a:rPr>
              <a:t>小学生のタイピングスキルとプログラミング興味</a:t>
            </a:r>
            <a:r>
              <a:rPr lang="en-US" altLang="ja-JP" sz="2800" dirty="0">
                <a:solidFill>
                  <a:schemeClr val="tx1"/>
                </a:solidFill>
              </a:rPr>
              <a:t>,</a:t>
            </a:r>
            <a:r>
              <a:rPr lang="ja-JP" altLang="ja-JP" sz="2800" dirty="0">
                <a:solidFill>
                  <a:schemeClr val="tx1"/>
                </a:solidFill>
              </a:rPr>
              <a:t>ゲーム活動における傾向分析</a:t>
            </a:r>
            <a:r>
              <a:rPr lang="en-US" altLang="ja-JP" sz="2800" dirty="0">
                <a:solidFill>
                  <a:schemeClr val="tx1"/>
                </a:solidFill>
              </a:rPr>
              <a:t>, </a:t>
            </a:r>
            <a:r>
              <a:rPr lang="ja-JP" altLang="ja-JP" sz="2800" dirty="0">
                <a:solidFill>
                  <a:schemeClr val="tx1"/>
                </a:solidFill>
              </a:rPr>
              <a:t>信学技報</a:t>
            </a:r>
            <a:r>
              <a:rPr lang="en-US" altLang="ja-JP" sz="2800" dirty="0">
                <a:solidFill>
                  <a:schemeClr val="tx1"/>
                </a:solidFill>
              </a:rPr>
              <a:t>, ET2024-2, pp.7-12, 2024</a:t>
            </a:r>
            <a:r>
              <a:rPr lang="en-US" altLang="ja-JP" sz="2800" dirty="0" smtClean="0">
                <a:solidFill>
                  <a:schemeClr val="tx1"/>
                </a:solidFill>
              </a:rPr>
              <a:t>.</a:t>
            </a:r>
          </a:p>
          <a:p>
            <a:r>
              <a:rPr lang="en-US" altLang="ja-JP" sz="2800" dirty="0" smtClean="0">
                <a:solidFill>
                  <a:schemeClr val="tx1"/>
                </a:solidFill>
              </a:rPr>
              <a:t>[2]</a:t>
            </a:r>
            <a:r>
              <a:rPr lang="ja-JP" altLang="ja-JP" sz="2800" dirty="0">
                <a:solidFill>
                  <a:schemeClr val="tx1"/>
                </a:solidFill>
              </a:rPr>
              <a:t>河野弘</a:t>
            </a:r>
            <a:r>
              <a:rPr lang="en-US" altLang="ja-JP" sz="2800" dirty="0">
                <a:solidFill>
                  <a:schemeClr val="tx1"/>
                </a:solidFill>
              </a:rPr>
              <a:t>, </a:t>
            </a:r>
            <a:r>
              <a:rPr lang="ja-JP" altLang="ja-JP" sz="2800" dirty="0">
                <a:solidFill>
                  <a:schemeClr val="tx1"/>
                </a:solidFill>
              </a:rPr>
              <a:t>石井博昭</a:t>
            </a:r>
            <a:r>
              <a:rPr lang="en-US" altLang="ja-JP" sz="2800" dirty="0">
                <a:solidFill>
                  <a:schemeClr val="tx1"/>
                </a:solidFill>
              </a:rPr>
              <a:t>, </a:t>
            </a:r>
            <a:r>
              <a:rPr lang="ja-JP" altLang="ja-JP" sz="2800" dirty="0">
                <a:solidFill>
                  <a:schemeClr val="tx1"/>
                </a:solidFill>
              </a:rPr>
              <a:t>コンジョイント分析手法</a:t>
            </a:r>
            <a:r>
              <a:rPr lang="en-US" altLang="ja-JP" sz="2800" dirty="0">
                <a:solidFill>
                  <a:schemeClr val="tx1"/>
                </a:solidFill>
              </a:rPr>
              <a:t>MONANOVA</a:t>
            </a:r>
            <a:r>
              <a:rPr lang="ja-JP" altLang="ja-JP" sz="2800" dirty="0">
                <a:solidFill>
                  <a:schemeClr val="tx1"/>
                </a:solidFill>
              </a:rPr>
              <a:t>と</a:t>
            </a:r>
            <a:r>
              <a:rPr lang="en-US" altLang="ja-JP" sz="2800" dirty="0">
                <a:solidFill>
                  <a:schemeClr val="tx1"/>
                </a:solidFill>
              </a:rPr>
              <a:t>OLS</a:t>
            </a:r>
            <a:r>
              <a:rPr lang="ja-JP" altLang="ja-JP" sz="2800" dirty="0">
                <a:solidFill>
                  <a:schemeClr val="tx1"/>
                </a:solidFill>
              </a:rPr>
              <a:t>の比較研究</a:t>
            </a:r>
            <a:r>
              <a:rPr lang="en-US" altLang="ja-JP" sz="2800" dirty="0">
                <a:solidFill>
                  <a:schemeClr val="tx1"/>
                </a:solidFill>
              </a:rPr>
              <a:t>,</a:t>
            </a:r>
            <a:r>
              <a:rPr lang="ja-JP" altLang="ja-JP" sz="2800" dirty="0">
                <a:solidFill>
                  <a:schemeClr val="tx1"/>
                </a:solidFill>
              </a:rPr>
              <a:t>数理解析研究所講究録</a:t>
            </a:r>
            <a:r>
              <a:rPr lang="en-US" altLang="ja-JP" sz="2800" dirty="0">
                <a:solidFill>
                  <a:schemeClr val="tx1"/>
                </a:solidFill>
              </a:rPr>
              <a:t>1526</a:t>
            </a:r>
            <a:r>
              <a:rPr lang="ja-JP" altLang="ja-JP" sz="2800" dirty="0">
                <a:solidFill>
                  <a:schemeClr val="tx1"/>
                </a:solidFill>
              </a:rPr>
              <a:t>巻</a:t>
            </a:r>
            <a:r>
              <a:rPr lang="en-US" altLang="ja-JP" sz="2800" dirty="0">
                <a:solidFill>
                  <a:schemeClr val="tx1"/>
                </a:solidFill>
              </a:rPr>
              <a:t>, pp.61-68, 2006</a:t>
            </a:r>
            <a:endParaRPr lang="ja-JP" altLang="ja-JP" sz="2800" dirty="0">
              <a:solidFill>
                <a:schemeClr val="tx1"/>
              </a:solidFill>
            </a:endParaRPr>
          </a:p>
          <a:p>
            <a:r>
              <a:rPr lang="en-US" altLang="ja-JP" sz="2800" dirty="0"/>
              <a:t/>
            </a:r>
            <a:br>
              <a:rPr lang="en-US" altLang="ja-JP" sz="2800" dirty="0"/>
            </a:br>
            <a:endParaRPr lang="ja-JP" altLang="en-US" sz="2800" dirty="0">
              <a:solidFill>
                <a:schemeClr val="tx1"/>
              </a:solidFill>
            </a:endParaRPr>
          </a:p>
        </p:txBody>
      </p:sp>
      <p:sp>
        <p:nvSpPr>
          <p:cNvPr id="79" name="角丸四角形 78"/>
          <p:cNvSpPr/>
          <p:nvPr/>
        </p:nvSpPr>
        <p:spPr>
          <a:xfrm>
            <a:off x="1104663" y="23078851"/>
            <a:ext cx="9075146" cy="12166235"/>
          </a:xfrm>
          <a:prstGeom prst="roundRect">
            <a:avLst>
              <a:gd name="adj" fmla="val 5576"/>
            </a:avLst>
          </a:prstGeom>
          <a:solidFill>
            <a:schemeClr val="bg1"/>
          </a:solidFill>
          <a:ln w="127000">
            <a:solidFill>
              <a:srgbClr val="028812"/>
            </a:solidFill>
          </a:ln>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t"/>
          <a:lstStyle/>
          <a:p>
            <a:endParaRPr lang="en-US" altLang="ja-JP" sz="6900" dirty="0"/>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a:p>
            <a:pPr>
              <a:tabLst>
                <a:tab pos="2750185" algn="l"/>
              </a:tabLst>
            </a:pPr>
            <a:endParaRPr lang="en-US" altLang="ja-JP" sz="4200" dirty="0">
              <a:solidFill>
                <a:schemeClr val="tx1"/>
              </a:solidFill>
            </a:endParaRPr>
          </a:p>
          <a:p>
            <a:pPr marL="548640" indent="-548640">
              <a:buFont typeface="Wingdings" panose="05000000000000000000" pitchFamily="2" charset="2"/>
              <a:buChar char="l"/>
              <a:tabLst>
                <a:tab pos="2750185" algn="l"/>
              </a:tabLst>
            </a:pPr>
            <a:endParaRPr lang="en-US" altLang="ja-JP" sz="4200" dirty="0">
              <a:solidFill>
                <a:schemeClr val="tx1"/>
              </a:solidFill>
            </a:endParaRPr>
          </a:p>
        </p:txBody>
      </p:sp>
      <p:sp>
        <p:nvSpPr>
          <p:cNvPr id="119" name="正方形/長方形 118"/>
          <p:cNvSpPr/>
          <p:nvPr/>
        </p:nvSpPr>
        <p:spPr>
          <a:xfrm>
            <a:off x="11924865" y="35752259"/>
            <a:ext cx="4896951" cy="865726"/>
          </a:xfrm>
          <a:prstGeom prst="roundRect">
            <a:avLst/>
          </a:prstGeom>
          <a:solidFill>
            <a:srgbClr val="028812"/>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ctr"/>
          <a:lstStyle/>
          <a:p>
            <a:pPr algn="ctr"/>
            <a:r>
              <a:rPr lang="ja-JP" altLang="en-US" sz="5800" dirty="0"/>
              <a:t>まとめ</a:t>
            </a:r>
            <a:endParaRPr lang="en-US" altLang="ja-JP" sz="5800" dirty="0"/>
          </a:p>
        </p:txBody>
      </p:sp>
      <p:pic>
        <p:nvPicPr>
          <p:cNvPr id="14" name="图片 13" descr="12-19NCUシステム＋英ロゴ"/>
          <p:cNvPicPr>
            <a:picLocks noChangeAspect="1"/>
          </p:cNvPicPr>
          <p:nvPr/>
        </p:nvPicPr>
        <p:blipFill>
          <a:blip r:embed="rId3"/>
          <a:srcRect r="50137"/>
          <a:stretch>
            <a:fillRect/>
          </a:stretch>
        </p:blipFill>
        <p:spPr>
          <a:xfrm>
            <a:off x="865806" y="450922"/>
            <a:ext cx="2679095" cy="3622842"/>
          </a:xfrm>
          <a:prstGeom prst="rect">
            <a:avLst/>
          </a:prstGeom>
        </p:spPr>
      </p:pic>
      <p:sp>
        <p:nvSpPr>
          <p:cNvPr id="6" name="AutoShape 2" descr="Untitled">
            <a:extLst>
              <a:ext uri="{FF2B5EF4-FFF2-40B4-BE49-F238E27FC236}">
                <a16:creationId xmlns:a16="http://schemas.microsoft.com/office/drawing/2014/main" xmlns="" id="{FE745F50-6AC2-36A2-423F-235B3B7FD78C}"/>
              </a:ext>
            </a:extLst>
          </p:cNvPr>
          <p:cNvSpPr>
            <a:spLocks noChangeAspect="1" noChangeArrowheads="1"/>
          </p:cNvSpPr>
          <p:nvPr/>
        </p:nvSpPr>
        <p:spPr bwMode="auto">
          <a:xfrm>
            <a:off x="14249400" y="205501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mc:AlternateContent xmlns:mc="http://schemas.openxmlformats.org/markup-compatibility/2006">
        <mc:Choice xmlns:a14="http://schemas.microsoft.com/office/drawing/2010/main" Requires="a14">
          <p:sp>
            <p:nvSpPr>
              <p:cNvPr id="27" name="テキスト ボックス 26">
                <a:extLst>
                  <a:ext uri="{FF2B5EF4-FFF2-40B4-BE49-F238E27FC236}">
                    <a16:creationId xmlns:a16="http://schemas.microsoft.com/office/drawing/2014/main" xmlns="" id="{5DD65950-67F8-22AF-03DC-31DB35086AD7}"/>
                  </a:ext>
                </a:extLst>
              </p:cNvPr>
              <p:cNvSpPr txBox="1"/>
              <p:nvPr/>
            </p:nvSpPr>
            <p:spPr>
              <a:xfrm>
                <a:off x="1417410" y="24502320"/>
                <a:ext cx="8762399" cy="11249939"/>
              </a:xfrm>
              <a:prstGeom prst="rect">
                <a:avLst/>
              </a:prstGeom>
              <a:noFill/>
            </p:spPr>
            <p:txBody>
              <a:bodyPr wrap="square">
                <a:spAutoFit/>
              </a:bodyPr>
              <a:lstStyle/>
              <a:p>
                <a:r>
                  <a:rPr lang="ja-JP" altLang="en-US" sz="3600" dirty="0" smtClean="0"/>
                  <a:t>　各特徴量の項目が</a:t>
                </a:r>
                <a:r>
                  <a:rPr lang="ja-JP" altLang="ja-JP" sz="3600" dirty="0" smtClean="0"/>
                  <a:t>タイピングスキル</a:t>
                </a:r>
                <a:r>
                  <a:rPr lang="ja-JP" altLang="en-US" sz="3600" dirty="0" smtClean="0"/>
                  <a:t>の熟練度</a:t>
                </a:r>
                <a:r>
                  <a:rPr lang="ja-JP" altLang="ja-JP" sz="3600" dirty="0" smtClean="0"/>
                  <a:t>や</a:t>
                </a:r>
                <a:r>
                  <a:rPr lang="ja-JP" altLang="ja-JP" sz="3600" dirty="0"/>
                  <a:t>プログラミングの職業志望度にどう影響を及ぼしているかを明らかに</a:t>
                </a:r>
                <a:r>
                  <a:rPr lang="ja-JP" altLang="ja-JP" sz="3600" dirty="0" smtClean="0"/>
                  <a:t>する</a:t>
                </a:r>
                <a:r>
                  <a:rPr lang="ja-JP" altLang="en-US" sz="3600" dirty="0" smtClean="0"/>
                  <a:t>ため</a:t>
                </a:r>
                <a:r>
                  <a:rPr lang="en-US" altLang="ja-JP" sz="3600" dirty="0" smtClean="0"/>
                  <a:t>, </a:t>
                </a:r>
                <a:r>
                  <a:rPr lang="ja-JP" altLang="en-US" sz="3600" dirty="0" smtClean="0"/>
                  <a:t>コンジョイント分析を行った</a:t>
                </a:r>
                <a:r>
                  <a:rPr lang="en-US" altLang="ja-JP" sz="3600" dirty="0" smtClean="0"/>
                  <a:t>.</a:t>
                </a:r>
                <a:r>
                  <a:rPr lang="ja-JP" altLang="ja-JP" sz="3600" dirty="0"/>
                  <a:t>反復アルゴリズム</a:t>
                </a:r>
                <a:r>
                  <a:rPr lang="en-US" altLang="ja-JP" sz="3600" dirty="0"/>
                  <a:t>(</a:t>
                </a:r>
                <a:r>
                  <a:rPr lang="ja-JP" altLang="ja-JP" sz="3600" dirty="0"/>
                  <a:t>最急降下法</a:t>
                </a:r>
                <a:r>
                  <a:rPr lang="en-US" altLang="ja-JP" sz="3600" dirty="0"/>
                  <a:t>)</a:t>
                </a:r>
                <a:r>
                  <a:rPr lang="ja-JP" altLang="ja-JP" sz="3600" dirty="0"/>
                  <a:t>で計算する際のコストはストレス値</a:t>
                </a:r>
                <a14:m>
                  <m:oMath xmlns:m="http://schemas.openxmlformats.org/officeDocument/2006/math">
                    <m:r>
                      <a:rPr lang="en-US" altLang="ja-JP" sz="3600" i="1"/>
                      <m:t>𝑆</m:t>
                    </m:r>
                  </m:oMath>
                </a14:m>
                <a:endParaRPr lang="ja-JP" altLang="ja-JP" sz="3600" dirty="0"/>
              </a:p>
              <a:p>
                <a:pPr algn="ctr"/>
                <a14:m>
                  <m:oMathPara xmlns:m="http://schemas.openxmlformats.org/officeDocument/2006/math">
                    <m:oMathParaPr>
                      <m:jc m:val="centerGroup"/>
                    </m:oMathParaPr>
                    <m:oMath xmlns:m="http://schemas.openxmlformats.org/officeDocument/2006/math">
                      <m:r>
                        <a:rPr lang="en-US" altLang="ja-JP" sz="3600" i="1"/>
                        <m:t>𝑆</m:t>
                      </m:r>
                      <m:r>
                        <a:rPr lang="en-US" altLang="ja-JP" sz="3600" i="1"/>
                        <m:t>=</m:t>
                      </m:r>
                      <m:sSup>
                        <m:sSupPr>
                          <m:ctrlPr>
                            <a:rPr lang="ja-JP" altLang="ja-JP" sz="3600" i="1"/>
                          </m:ctrlPr>
                        </m:sSupPr>
                        <m:e>
                          <m:r>
                            <a:rPr lang="en-US" altLang="ja-JP" sz="3600" i="1"/>
                            <m:t>𝑉</m:t>
                          </m:r>
                        </m:e>
                        <m:sup>
                          <m:f>
                            <m:fPr>
                              <m:ctrlPr>
                                <a:rPr lang="ja-JP" altLang="ja-JP" sz="3600" i="1"/>
                              </m:ctrlPr>
                            </m:fPr>
                            <m:num>
                              <m:r>
                                <a:rPr lang="en-US" altLang="ja-JP" sz="3600" i="1"/>
                                <m:t>1</m:t>
                              </m:r>
                            </m:num>
                            <m:den>
                              <m:r>
                                <a:rPr lang="en-US" altLang="ja-JP" sz="3600" i="1"/>
                                <m:t>2</m:t>
                              </m:r>
                            </m:den>
                          </m:f>
                        </m:sup>
                      </m:sSup>
                      <m:r>
                        <a:rPr lang="en-US" altLang="ja-JP" sz="3600" i="1"/>
                        <m:t>/</m:t>
                      </m:r>
                      <m:sSup>
                        <m:sSupPr>
                          <m:ctrlPr>
                            <a:rPr lang="ja-JP" altLang="ja-JP" sz="3600" i="1"/>
                          </m:ctrlPr>
                        </m:sSupPr>
                        <m:e>
                          <m:r>
                            <a:rPr lang="en-US" altLang="ja-JP" sz="3600" i="1"/>
                            <m:t>𝑊</m:t>
                          </m:r>
                        </m:e>
                        <m:sup>
                          <m:f>
                            <m:fPr>
                              <m:ctrlPr>
                                <a:rPr lang="ja-JP" altLang="ja-JP" sz="3600" i="1"/>
                              </m:ctrlPr>
                            </m:fPr>
                            <m:num>
                              <m:r>
                                <a:rPr lang="en-US" altLang="ja-JP" sz="3600" i="1"/>
                                <m:t>1</m:t>
                              </m:r>
                            </m:num>
                            <m:den>
                              <m:r>
                                <a:rPr lang="en-US" altLang="ja-JP" sz="3600" i="1"/>
                                <m:t>2</m:t>
                              </m:r>
                            </m:den>
                          </m:f>
                        </m:sup>
                      </m:sSup>
                    </m:oMath>
                  </m:oMathPara>
                </a14:m>
                <a:endParaRPr lang="ja-JP" altLang="ja-JP" sz="3600" dirty="0"/>
              </a:p>
              <a:p>
                <a:pPr algn="ctr"/>
                <a14:m>
                  <m:oMathPara xmlns:m="http://schemas.openxmlformats.org/officeDocument/2006/math">
                    <m:oMathParaPr>
                      <m:jc m:val="centerGroup"/>
                    </m:oMathParaPr>
                    <m:oMath xmlns:m="http://schemas.openxmlformats.org/officeDocument/2006/math">
                      <m:r>
                        <a:rPr lang="en-US" altLang="ja-JP" sz="3600" i="1"/>
                        <m:t>𝑉</m:t>
                      </m:r>
                      <m:r>
                        <a:rPr lang="en-US" altLang="ja-JP" sz="3600" i="1"/>
                        <m:t>=(</m:t>
                      </m:r>
                      <m:r>
                        <a:rPr lang="en-US" altLang="ja-JP" sz="3600" i="1"/>
                        <m:t>𝑍</m:t>
                      </m:r>
                      <m:r>
                        <a:rPr lang="en-US" altLang="ja-JP" sz="3600" i="1"/>
                        <m:t>−</m:t>
                      </m:r>
                      <m:r>
                        <a:rPr lang="en-US" altLang="ja-JP" sz="3600" i="1"/>
                        <m:t>𝐷𝑏</m:t>
                      </m:r>
                      <m:sSup>
                        <m:sSupPr>
                          <m:ctrlPr>
                            <a:rPr lang="ja-JP" altLang="ja-JP" sz="3600" i="1"/>
                          </m:ctrlPr>
                        </m:sSupPr>
                        <m:e>
                          <m:r>
                            <a:rPr lang="en-US" altLang="ja-JP" sz="3600" i="1"/>
                            <m:t>)</m:t>
                          </m:r>
                        </m:e>
                        <m:sup>
                          <m:r>
                            <a:rPr lang="en-US" altLang="ja-JP" sz="3600" i="1"/>
                            <m:t>′</m:t>
                          </m:r>
                        </m:sup>
                      </m:sSup>
                      <m:r>
                        <a:rPr lang="en-US" altLang="ja-JP" sz="3600" i="1"/>
                        <m:t>(</m:t>
                      </m:r>
                      <m:r>
                        <a:rPr lang="en-US" altLang="ja-JP" sz="3600" i="1"/>
                        <m:t>𝑍</m:t>
                      </m:r>
                      <m:r>
                        <a:rPr lang="en-US" altLang="ja-JP" sz="3600" i="1"/>
                        <m:t>−</m:t>
                      </m:r>
                      <m:r>
                        <a:rPr lang="en-US" altLang="ja-JP" sz="3600" i="1"/>
                        <m:t>𝐷𝑏</m:t>
                      </m:r>
                      <m:r>
                        <a:rPr lang="en-US" altLang="ja-JP" sz="3600" i="1"/>
                        <m:t>)</m:t>
                      </m:r>
                    </m:oMath>
                  </m:oMathPara>
                </a14:m>
                <a:endParaRPr lang="ja-JP" altLang="ja-JP" sz="3600" dirty="0"/>
              </a:p>
              <a:p>
                <a:pPr algn="ctr"/>
                <a14:m>
                  <m:oMathPara xmlns:m="http://schemas.openxmlformats.org/officeDocument/2006/math">
                    <m:oMathParaPr>
                      <m:jc m:val="centerGroup"/>
                    </m:oMathParaPr>
                    <m:oMath xmlns:m="http://schemas.openxmlformats.org/officeDocument/2006/math">
                      <m:r>
                        <a:rPr lang="en-US" altLang="ja-JP" sz="3600" i="1"/>
                        <m:t>𝑊</m:t>
                      </m:r>
                      <m:r>
                        <a:rPr lang="en-US" altLang="ja-JP" sz="3600" i="1"/>
                        <m:t>=(</m:t>
                      </m:r>
                      <m:acc>
                        <m:accPr>
                          <m:chr m:val="̂"/>
                          <m:ctrlPr>
                            <a:rPr lang="ja-JP" altLang="ja-JP" sz="3600" i="1"/>
                          </m:ctrlPr>
                        </m:accPr>
                        <m:e>
                          <m:r>
                            <a:rPr lang="en-US" altLang="ja-JP" sz="3600" i="1"/>
                            <m:t>𝑍</m:t>
                          </m:r>
                        </m:e>
                      </m:acc>
                      <m:r>
                        <a:rPr lang="en-US" altLang="ja-JP" sz="3600" i="1"/>
                        <m:t>−</m:t>
                      </m:r>
                      <m:sSub>
                        <m:sSubPr>
                          <m:ctrlPr>
                            <a:rPr lang="ja-JP" altLang="ja-JP" sz="3600" i="1"/>
                          </m:ctrlPr>
                        </m:sSubPr>
                        <m:e>
                          <m:acc>
                            <m:accPr>
                              <m:chr m:val="̂"/>
                              <m:ctrlPr>
                                <a:rPr lang="ja-JP" altLang="ja-JP" sz="3600" i="1"/>
                              </m:ctrlPr>
                            </m:accPr>
                            <m:e>
                              <m:r>
                                <a:rPr lang="en-US" altLang="ja-JP" sz="3600" i="1"/>
                                <m:t>𝑍</m:t>
                              </m:r>
                            </m:e>
                          </m:acc>
                        </m:e>
                        <m:sub>
                          <m:r>
                            <a:rPr lang="en-US" altLang="ja-JP" sz="3600" i="1"/>
                            <m:t>𝑎𝑣𝑒𝑟𝑎𝑔𝑒</m:t>
                          </m:r>
                        </m:sub>
                      </m:sSub>
                      <m:sSup>
                        <m:sSupPr>
                          <m:ctrlPr>
                            <a:rPr lang="ja-JP" altLang="ja-JP" sz="3600" i="1"/>
                          </m:ctrlPr>
                        </m:sSupPr>
                        <m:e>
                          <m:r>
                            <a:rPr lang="en-US" altLang="ja-JP" sz="3600" i="1"/>
                            <m:t>)</m:t>
                          </m:r>
                        </m:e>
                        <m:sup>
                          <m:r>
                            <a:rPr lang="en-US" altLang="ja-JP" sz="3600" i="1"/>
                            <m:t>′</m:t>
                          </m:r>
                        </m:sup>
                      </m:sSup>
                      <m:r>
                        <a:rPr lang="en-US" altLang="ja-JP" sz="3600" i="1"/>
                        <m:t>(</m:t>
                      </m:r>
                      <m:acc>
                        <m:accPr>
                          <m:chr m:val="̂"/>
                          <m:ctrlPr>
                            <a:rPr lang="ja-JP" altLang="ja-JP" sz="3600" i="1"/>
                          </m:ctrlPr>
                        </m:accPr>
                        <m:e>
                          <m:r>
                            <a:rPr lang="en-US" altLang="ja-JP" sz="3600" i="1"/>
                            <m:t>𝑍</m:t>
                          </m:r>
                        </m:e>
                      </m:acc>
                      <m:r>
                        <a:rPr lang="en-US" altLang="ja-JP" sz="3600" i="1"/>
                        <m:t>−</m:t>
                      </m:r>
                      <m:sSub>
                        <m:sSubPr>
                          <m:ctrlPr>
                            <a:rPr lang="ja-JP" altLang="ja-JP" sz="3600" i="1"/>
                          </m:ctrlPr>
                        </m:sSubPr>
                        <m:e>
                          <m:acc>
                            <m:accPr>
                              <m:chr m:val="̂"/>
                              <m:ctrlPr>
                                <a:rPr lang="ja-JP" altLang="ja-JP" sz="3600" i="1"/>
                              </m:ctrlPr>
                            </m:accPr>
                            <m:e>
                              <m:r>
                                <a:rPr lang="en-US" altLang="ja-JP" sz="3600" i="1"/>
                                <m:t>𝑍</m:t>
                              </m:r>
                            </m:e>
                          </m:acc>
                        </m:e>
                        <m:sub>
                          <m:r>
                            <a:rPr lang="en-US" altLang="ja-JP" sz="3600" i="1"/>
                            <m:t>𝑎𝑣𝑒𝑟𝑎𝑔𝑒</m:t>
                          </m:r>
                        </m:sub>
                      </m:sSub>
                      <m:r>
                        <a:rPr lang="en-US" altLang="ja-JP" sz="3600" i="1"/>
                        <m:t>)</m:t>
                      </m:r>
                    </m:oMath>
                  </m:oMathPara>
                </a14:m>
                <a:endParaRPr lang="ja-JP" altLang="ja-JP" sz="3600" dirty="0"/>
              </a:p>
              <a:p>
                <a:pPr algn="ctr"/>
                <a14:m>
                  <m:oMath xmlns:m="http://schemas.openxmlformats.org/officeDocument/2006/math">
                    <m:r>
                      <a:rPr lang="en-US" altLang="ja-JP" sz="3600" i="1"/>
                      <m:t>𝑏</m:t>
                    </m:r>
                    <m:r>
                      <a:rPr lang="en-US" altLang="ja-JP" sz="3600" i="1"/>
                      <m:t>=</m:t>
                    </m:r>
                    <m:d>
                      <m:dPr>
                        <m:ctrlPr>
                          <a:rPr lang="ja-JP" altLang="ja-JP" sz="3600" i="1"/>
                        </m:ctrlPr>
                      </m:dPr>
                      <m:e>
                        <m:sSub>
                          <m:sSubPr>
                            <m:ctrlPr>
                              <a:rPr lang="ja-JP" altLang="ja-JP" sz="3600" i="1"/>
                            </m:ctrlPr>
                          </m:sSubPr>
                          <m:e>
                            <m:r>
                              <a:rPr lang="en-US" altLang="ja-JP" sz="3600" i="1"/>
                              <m:t>𝑏</m:t>
                            </m:r>
                          </m:e>
                          <m:sub>
                            <m:r>
                              <a:rPr lang="en-US" altLang="ja-JP" sz="3600" i="1"/>
                              <m:t>1</m:t>
                            </m:r>
                          </m:sub>
                        </m:sSub>
                        <m:r>
                          <a:rPr lang="en-US" altLang="ja-JP" sz="3600" i="1"/>
                          <m:t>, </m:t>
                        </m:r>
                        <m:sSub>
                          <m:sSubPr>
                            <m:ctrlPr>
                              <a:rPr lang="ja-JP" altLang="ja-JP" sz="3600" i="1"/>
                            </m:ctrlPr>
                          </m:sSubPr>
                          <m:e>
                            <m:r>
                              <a:rPr lang="en-US" altLang="ja-JP" sz="3600" i="1"/>
                              <m:t>𝑏</m:t>
                            </m:r>
                          </m:e>
                          <m:sub>
                            <m:r>
                              <a:rPr lang="en-US" altLang="ja-JP" sz="3600" i="1"/>
                              <m:t>2</m:t>
                            </m:r>
                          </m:sub>
                        </m:sSub>
                        <m:r>
                          <a:rPr lang="en-US" altLang="ja-JP" sz="3600" i="1"/>
                          <m:t>, …</m:t>
                        </m:r>
                      </m:e>
                    </m:d>
                    <m:r>
                      <a:rPr lang="en-US" altLang="ja-JP" sz="3600" i="1"/>
                      <m:t>:</m:t>
                    </m:r>
                  </m:oMath>
                </a14:m>
                <a:r>
                  <a:rPr lang="en-US" altLang="ja-JP" sz="3600" dirty="0"/>
                  <a:t> </a:t>
                </a:r>
                <a:r>
                  <a:rPr lang="ja-JP" altLang="ja-JP" sz="3600" dirty="0"/>
                  <a:t>効用パラメータ</a:t>
                </a:r>
              </a:p>
              <a:p>
                <a:r>
                  <a:rPr lang="ja-JP" altLang="ja-JP" sz="3600" dirty="0"/>
                  <a:t>を計算し確認する．</a:t>
                </a:r>
                <a:r>
                  <a:rPr lang="en-US" altLang="ja-JP" sz="3600" dirty="0"/>
                  <a:t> </a:t>
                </a:r>
                <a14:m>
                  <m:oMath xmlns:m="http://schemas.openxmlformats.org/officeDocument/2006/math">
                    <m:r>
                      <a:rPr lang="en-US" altLang="ja-JP" sz="3600" i="1">
                        <a:latin typeface="Cambria Math"/>
                      </a:rPr>
                      <m:t>𝑉</m:t>
                    </m:r>
                  </m:oMath>
                </a14:m>
                <a:r>
                  <a:rPr lang="ja-JP" altLang="ja-JP" sz="3600" dirty="0"/>
                  <a:t>と</a:t>
                </a:r>
                <a14:m>
                  <m:oMath xmlns:m="http://schemas.openxmlformats.org/officeDocument/2006/math">
                    <m:r>
                      <a:rPr lang="en-US" altLang="ja-JP" sz="3600" i="1">
                        <a:latin typeface="Cambria Math"/>
                      </a:rPr>
                      <m:t>𝑊</m:t>
                    </m:r>
                  </m:oMath>
                </a14:m>
                <a:r>
                  <a:rPr lang="ja-JP" altLang="ja-JP" sz="3600" dirty="0"/>
                  <a:t>は，アンケート項目の全要因の属性を示す</a:t>
                </a:r>
                <a:r>
                  <a:rPr lang="en-US" altLang="ja-JP" sz="3600" dirty="0"/>
                  <a:t>0-1</a:t>
                </a:r>
                <a:r>
                  <a:rPr lang="ja-JP" altLang="ja-JP" sz="3600" dirty="0"/>
                  <a:t>デザイン行列</a:t>
                </a:r>
                <a14:m>
                  <m:oMath xmlns:m="http://schemas.openxmlformats.org/officeDocument/2006/math">
                    <m:r>
                      <a:rPr lang="en-US" altLang="ja-JP" sz="3600" i="1">
                        <a:latin typeface="Cambria Math"/>
                      </a:rPr>
                      <m:t>𝐷</m:t>
                    </m:r>
                  </m:oMath>
                </a14:m>
                <a:r>
                  <a:rPr lang="ja-JP" altLang="ja-JP" sz="3600" dirty="0"/>
                  <a:t>と評価</a:t>
                </a:r>
                <a14:m>
                  <m:oMath xmlns:m="http://schemas.openxmlformats.org/officeDocument/2006/math">
                    <m:r>
                      <a:rPr lang="en-US" altLang="ja-JP" sz="3600" i="1">
                        <a:latin typeface="Cambria Math"/>
                      </a:rPr>
                      <m:t>𝑍</m:t>
                    </m:r>
                  </m:oMath>
                </a14:m>
                <a:r>
                  <a:rPr lang="en-US" altLang="ja-JP" sz="3600" dirty="0"/>
                  <a:t>(</a:t>
                </a:r>
                <a:r>
                  <a:rPr lang="ja-JP" altLang="ja-JP" sz="3600" dirty="0"/>
                  <a:t>タイピングスキルおよびプログラミングへの職業志望度の</a:t>
                </a:r>
                <a:r>
                  <a:rPr lang="en-US" altLang="ja-JP" sz="3600" dirty="0"/>
                  <a:t>5</a:t>
                </a:r>
                <a:r>
                  <a:rPr lang="ja-JP" altLang="ja-JP" sz="3600" dirty="0"/>
                  <a:t>段階評価</a:t>
                </a:r>
                <a:r>
                  <a:rPr lang="en-US" altLang="ja-JP" sz="3600" dirty="0" smtClean="0"/>
                  <a:t>)</a:t>
                </a:r>
                <a:r>
                  <a:rPr lang="en-US" altLang="ja-JP" sz="3600" i="1" dirty="0" smtClean="0"/>
                  <a:t> </a:t>
                </a:r>
                <a:r>
                  <a:rPr lang="ja-JP" altLang="ja-JP" sz="3600" dirty="0" smtClean="0"/>
                  <a:t>と</a:t>
                </a:r>
                <a:r>
                  <a:rPr lang="ja-JP" altLang="ja-JP" sz="3600" dirty="0"/>
                  <a:t>効用パラメータ</a:t>
                </a:r>
                <a14:m>
                  <m:oMath xmlns:m="http://schemas.openxmlformats.org/officeDocument/2006/math">
                    <m:r>
                      <a:rPr lang="en-US" altLang="ja-JP" sz="3600" i="1"/>
                      <m:t>𝑏</m:t>
                    </m:r>
                    <m:r>
                      <a:rPr lang="en-US" altLang="ja-JP" sz="3600" i="1"/>
                      <m:t> </m:t>
                    </m:r>
                  </m:oMath>
                </a14:m>
                <a:r>
                  <a:rPr lang="ja-JP" altLang="ja-JP" sz="3600" dirty="0"/>
                  <a:t>により表される．ただし，</a:t>
                </a:r>
                <a14:m>
                  <m:oMath xmlns:m="http://schemas.openxmlformats.org/officeDocument/2006/math">
                    <m:acc>
                      <m:accPr>
                        <m:chr m:val="̂"/>
                        <m:ctrlPr>
                          <a:rPr lang="ja-JP" altLang="ja-JP" sz="3600" i="1"/>
                        </m:ctrlPr>
                      </m:accPr>
                      <m:e>
                        <m:r>
                          <a:rPr lang="en-US" altLang="ja-JP" sz="3600" i="1"/>
                          <m:t>𝑍</m:t>
                        </m:r>
                      </m:e>
                    </m:acc>
                    <m:r>
                      <a:rPr lang="en-US" altLang="ja-JP" sz="3600" i="1"/>
                      <m:t>=</m:t>
                    </m:r>
                    <m:r>
                      <a:rPr lang="en-US" altLang="ja-JP" sz="3600" i="1"/>
                      <m:t>𝐷</m:t>
                    </m:r>
                    <m:acc>
                      <m:accPr>
                        <m:chr m:val="̂"/>
                        <m:ctrlPr>
                          <a:rPr lang="en-US" altLang="ja-JP" sz="3600" i="1" smtClean="0">
                            <a:latin typeface="Cambria Math"/>
                          </a:rPr>
                        </m:ctrlPr>
                      </m:accPr>
                      <m:e>
                        <m:r>
                          <a:rPr lang="en-US" altLang="ja-JP" sz="3600" b="0" i="1" smtClean="0">
                            <a:latin typeface="Cambria Math"/>
                          </a:rPr>
                          <m:t>𝑏</m:t>
                        </m:r>
                      </m:e>
                    </m:acc>
                  </m:oMath>
                </a14:m>
                <a:r>
                  <a:rPr lang="en-US" altLang="ja-JP" sz="3600" dirty="0"/>
                  <a:t>(</a:t>
                </a:r>
                <a:r>
                  <a:rPr lang="ja-JP" altLang="ja-JP" sz="3600" dirty="0"/>
                  <a:t>予測子</a:t>
                </a:r>
                <a:r>
                  <a:rPr lang="en-US" altLang="ja-JP" sz="3600" dirty="0"/>
                  <a:t>)</a:t>
                </a:r>
                <a:r>
                  <a:rPr lang="ja-JP" altLang="ja-JP" sz="3600" dirty="0"/>
                  <a:t>で</a:t>
                </a:r>
                <a14:m>
                  <m:oMath xmlns:m="http://schemas.openxmlformats.org/officeDocument/2006/math">
                    <m:sSub>
                      <m:sSubPr>
                        <m:ctrlPr>
                          <a:rPr lang="ja-JP" altLang="ja-JP" sz="3600" i="1"/>
                        </m:ctrlPr>
                      </m:sSubPr>
                      <m:e>
                        <m:acc>
                          <m:accPr>
                            <m:chr m:val="̂"/>
                            <m:ctrlPr>
                              <a:rPr lang="ja-JP" altLang="ja-JP" sz="3600" i="1"/>
                            </m:ctrlPr>
                          </m:accPr>
                          <m:e>
                            <m:r>
                              <a:rPr lang="en-US" altLang="ja-JP" sz="3600" i="1"/>
                              <m:t>𝑍</m:t>
                            </m:r>
                          </m:e>
                        </m:acc>
                      </m:e>
                      <m:sub>
                        <m:r>
                          <a:rPr lang="en-US" altLang="ja-JP" sz="3600" i="1"/>
                          <m:t>𝑎𝑣𝑒𝑟𝑎𝑔𝑒</m:t>
                        </m:r>
                      </m:sub>
                    </m:sSub>
                  </m:oMath>
                </a14:m>
                <a:r>
                  <a:rPr lang="ja-JP" altLang="ja-JP" sz="3600" dirty="0"/>
                  <a:t>は</a:t>
                </a:r>
                <a14:m>
                  <m:oMath xmlns:m="http://schemas.openxmlformats.org/officeDocument/2006/math">
                    <m:acc>
                      <m:accPr>
                        <m:chr m:val="̂"/>
                        <m:ctrlPr>
                          <a:rPr lang="ja-JP" altLang="ja-JP" sz="3600" i="1"/>
                        </m:ctrlPr>
                      </m:accPr>
                      <m:e>
                        <m:r>
                          <a:rPr lang="en-US" altLang="ja-JP" sz="3600" i="1"/>
                          <m:t>𝑍</m:t>
                        </m:r>
                      </m:e>
                    </m:acc>
                  </m:oMath>
                </a14:m>
                <a:r>
                  <a:rPr lang="ja-JP" altLang="ja-JP" sz="3600" dirty="0"/>
                  <a:t>の平均値を要素とする列ベクトルである．収束判定の確認方法として</a:t>
                </a:r>
                <a:r>
                  <a:rPr lang="en-US" altLang="ja-JP" sz="3600" dirty="0" err="1"/>
                  <a:t>Dinkelbach</a:t>
                </a:r>
                <a:r>
                  <a:rPr lang="ja-JP" altLang="ja-JP" sz="3600" dirty="0"/>
                  <a:t>のアルゴリズムを採用</a:t>
                </a:r>
                <a:r>
                  <a:rPr lang="ja-JP" altLang="ja-JP" sz="3600" dirty="0" smtClean="0"/>
                  <a:t>した</a:t>
                </a:r>
                <a:r>
                  <a:rPr lang="en-US" altLang="ja-JP" sz="3600" dirty="0" smtClean="0"/>
                  <a:t>.</a:t>
                </a:r>
                <a:endParaRPr lang="ja-JP" altLang="ja-JP" sz="3600" dirty="0"/>
              </a:p>
              <a:p>
                <a:endParaRPr lang="ja-JP" altLang="en-US" sz="3600" dirty="0"/>
              </a:p>
            </p:txBody>
          </p:sp>
        </mc:Choice>
        <mc:Fallback>
          <p:sp>
            <p:nvSpPr>
              <p:cNvPr id="27" name="テキスト ボックス 26">
                <a:extLst>
                  <a:ext uri="{FF2B5EF4-FFF2-40B4-BE49-F238E27FC236}">
                    <a16:creationId xmlns:a16="http://schemas.microsoft.com/office/drawing/2014/main" xmlns="" id="{5DD65950-67F8-22AF-03DC-31DB35086AD7}"/>
                  </a:ext>
                </a:extLst>
              </p:cNvPr>
              <p:cNvSpPr txBox="1">
                <a:spLocks noRot="1" noChangeAspect="1" noMove="1" noResize="1" noEditPoints="1" noAdjustHandles="1" noChangeArrowheads="1" noChangeShapeType="1" noTextEdit="1"/>
              </p:cNvSpPr>
              <p:nvPr/>
            </p:nvSpPr>
            <p:spPr>
              <a:xfrm>
                <a:off x="1417410" y="24502320"/>
                <a:ext cx="8762399" cy="11249939"/>
              </a:xfrm>
              <a:prstGeom prst="rect">
                <a:avLst/>
              </a:prstGeom>
              <a:blipFill rotWithShape="1">
                <a:blip r:embed="rId4"/>
                <a:stretch>
                  <a:fillRect l="-2157" t="-813" r="-1809"/>
                </a:stretch>
              </a:blipFill>
            </p:spPr>
            <p:txBody>
              <a:bodyPr/>
              <a:lstStyle/>
              <a:p>
                <a:r>
                  <a:rPr lang="ja-JP" altLang="en-US">
                    <a:noFill/>
                  </a:rPr>
                  <a:t> </a:t>
                </a:r>
              </a:p>
            </p:txBody>
          </p:sp>
        </mc:Fallback>
      </mc:AlternateContent>
      <p:sp>
        <p:nvSpPr>
          <p:cNvPr id="28" name="正方形/長方形 79">
            <a:extLst>
              <a:ext uri="{FF2B5EF4-FFF2-40B4-BE49-F238E27FC236}">
                <a16:creationId xmlns:a16="http://schemas.microsoft.com/office/drawing/2014/main" xmlns="" id="{0ABE7E29-76D7-54E1-15D9-13719C07A2D2}"/>
              </a:ext>
            </a:extLst>
          </p:cNvPr>
          <p:cNvSpPr/>
          <p:nvPr/>
        </p:nvSpPr>
        <p:spPr>
          <a:xfrm>
            <a:off x="3110498" y="23299882"/>
            <a:ext cx="5273830" cy="1008000"/>
          </a:xfrm>
          <a:prstGeom prst="roundRect">
            <a:avLst/>
          </a:prstGeom>
          <a:solidFill>
            <a:srgbClr val="028812"/>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87810" tIns="43905" rIns="87810" bIns="43905" rtlCol="0" anchor="ctr"/>
          <a:lstStyle/>
          <a:p>
            <a:pPr algn="ctr"/>
            <a:r>
              <a:rPr lang="ja-JP" altLang="en-US" sz="5800" dirty="0"/>
              <a:t>分析方法</a:t>
            </a:r>
            <a:endParaRPr lang="ja-JP" altLang="en-US" sz="5800" dirty="0"/>
          </a:p>
        </p:txBody>
      </p:sp>
      <p:graphicFrame>
        <p:nvGraphicFramePr>
          <p:cNvPr id="25" name="表 24"/>
          <p:cNvGraphicFramePr>
            <a:graphicFrameLocks noGrp="1"/>
          </p:cNvGraphicFramePr>
          <p:nvPr>
            <p:extLst>
              <p:ext uri="{D42A27DB-BD31-4B8C-83A1-F6EECF244321}">
                <p14:modId xmlns:p14="http://schemas.microsoft.com/office/powerpoint/2010/main" val="614650126"/>
              </p:ext>
            </p:extLst>
          </p:nvPr>
        </p:nvGraphicFramePr>
        <p:xfrm>
          <a:off x="12851064" y="16324415"/>
          <a:ext cx="6680533" cy="3600400"/>
        </p:xfrm>
        <a:graphic>
          <a:graphicData uri="http://schemas.openxmlformats.org/drawingml/2006/table">
            <a:tbl>
              <a:tblPr firstRow="1" firstCol="1" bandRow="1"/>
              <a:tblGrid>
                <a:gridCol w="5240373"/>
                <a:gridCol w="1440160"/>
              </a:tblGrid>
              <a:tr h="666830">
                <a:tc>
                  <a:txBody>
                    <a:bodyPr/>
                    <a:lstStyle/>
                    <a:p>
                      <a:pPr indent="114300" algn="ctr">
                        <a:spcAft>
                          <a:spcPts val="0"/>
                        </a:spcAft>
                      </a:pPr>
                      <a:r>
                        <a:rPr lang="ja-JP" sz="3600" kern="100" dirty="0">
                          <a:effectLst/>
                          <a:latin typeface="Century"/>
                          <a:ea typeface="ＭＳ 明朝"/>
                          <a:cs typeface="Century"/>
                        </a:rPr>
                        <a:t>アンケート項目回答</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indent="114300" algn="ctr">
                        <a:spcAft>
                          <a:spcPts val="0"/>
                        </a:spcAft>
                      </a:pPr>
                      <a:r>
                        <a:rPr lang="ja-JP" sz="3600" kern="100">
                          <a:effectLst/>
                          <a:latin typeface="Century"/>
                          <a:ea typeface="ＭＳ 明朝"/>
                          <a:cs typeface="Century"/>
                        </a:rPr>
                        <a:t>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r>
              <a:tr h="575680">
                <a:tc>
                  <a:txBody>
                    <a:bodyPr/>
                    <a:lstStyle/>
                    <a:p>
                      <a:pPr indent="114300" algn="ctr">
                        <a:spcAft>
                          <a:spcPts val="0"/>
                        </a:spcAft>
                      </a:pPr>
                      <a:r>
                        <a:rPr lang="ja-JP" sz="3600" kern="100">
                          <a:effectLst/>
                          <a:latin typeface="Century"/>
                          <a:ea typeface="ＭＳ 明朝"/>
                          <a:cs typeface="Century"/>
                        </a:rPr>
                        <a:t>ゲーム専用機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1.94</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30850">
                <a:tc>
                  <a:txBody>
                    <a:bodyPr/>
                    <a:lstStyle/>
                    <a:p>
                      <a:pPr indent="114300" algn="ctr">
                        <a:spcAft>
                          <a:spcPts val="0"/>
                        </a:spcAft>
                      </a:pPr>
                      <a:r>
                        <a:rPr lang="ja-JP" sz="3600" kern="100">
                          <a:effectLst/>
                          <a:latin typeface="Century"/>
                          <a:ea typeface="ＭＳ 明朝"/>
                          <a:cs typeface="Century"/>
                        </a:rPr>
                        <a:t>週に</a:t>
                      </a:r>
                      <a:r>
                        <a:rPr lang="en-US" sz="3600" kern="100">
                          <a:effectLst/>
                          <a:latin typeface="Century"/>
                          <a:ea typeface="ＭＳ 明朝"/>
                          <a:cs typeface="Century"/>
                        </a:rPr>
                        <a:t>1</a:t>
                      </a:r>
                      <a:r>
                        <a:rPr lang="ja-JP" sz="3600" kern="100">
                          <a:effectLst/>
                          <a:latin typeface="Century"/>
                          <a:ea typeface="ＭＳ 明朝"/>
                          <a:cs typeface="Century"/>
                        </a:rPr>
                        <a:t>回するかしないか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0.98</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5680">
                <a:tc>
                  <a:txBody>
                    <a:bodyPr/>
                    <a:lstStyle/>
                    <a:p>
                      <a:pPr indent="114300" algn="ctr">
                        <a:spcAft>
                          <a:spcPts val="0"/>
                        </a:spcAft>
                      </a:pPr>
                      <a:r>
                        <a:rPr lang="ja-JP" sz="3600" kern="100" dirty="0">
                          <a:effectLst/>
                          <a:latin typeface="Century"/>
                          <a:ea typeface="ＭＳ 明朝"/>
                          <a:cs typeface="Century"/>
                        </a:rPr>
                        <a:t>シューティングゲーム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0.77</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5680">
                <a:tc>
                  <a:txBody>
                    <a:bodyPr/>
                    <a:lstStyle/>
                    <a:p>
                      <a:pPr indent="114300" algn="ctr">
                        <a:spcAft>
                          <a:spcPts val="0"/>
                        </a:spcAft>
                      </a:pPr>
                      <a:r>
                        <a:rPr lang="ja-JP" sz="3600" kern="100">
                          <a:effectLst/>
                          <a:latin typeface="Century"/>
                          <a:ea typeface="ＭＳ 明朝"/>
                          <a:cs typeface="Century"/>
                        </a:rPr>
                        <a:t>タブレット</a:t>
                      </a:r>
                      <a:r>
                        <a:rPr lang="en-US" sz="3600" kern="100">
                          <a:effectLst/>
                          <a:latin typeface="Century"/>
                          <a:ea typeface="ＭＳ 明朝"/>
                          <a:cs typeface="Century"/>
                        </a:rPr>
                        <a:t>(</a:t>
                      </a:r>
                      <a:r>
                        <a:rPr lang="ja-JP" sz="3600" kern="100">
                          <a:effectLst/>
                          <a:latin typeface="Century"/>
                          <a:ea typeface="ＭＳ 明朝"/>
                          <a:cs typeface="Century"/>
                        </a:rPr>
                        <a:t>使用機器</a:t>
                      </a:r>
                      <a:r>
                        <a:rPr lang="en-US" sz="3600" kern="100">
                          <a:effectLst/>
                          <a:latin typeface="Century"/>
                          <a:ea typeface="ＭＳ 明朝"/>
                          <a:cs typeface="Century"/>
                        </a:rPr>
                        <a:t>)</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0.68</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5680">
                <a:tc>
                  <a:txBody>
                    <a:bodyPr/>
                    <a:lstStyle/>
                    <a:p>
                      <a:pPr indent="114300" algn="ctr">
                        <a:spcAft>
                          <a:spcPts val="0"/>
                        </a:spcAft>
                      </a:pPr>
                      <a:r>
                        <a:rPr lang="ja-JP" sz="3600" kern="100" dirty="0">
                          <a:effectLst/>
                          <a:latin typeface="Century"/>
                          <a:ea typeface="ＭＳ 明朝"/>
                          <a:cs typeface="Century"/>
                        </a:rPr>
                        <a:t>毎日</a:t>
                      </a:r>
                      <a:r>
                        <a:rPr lang="en-US" sz="3600" kern="100" dirty="0">
                          <a:effectLst/>
                          <a:latin typeface="Century"/>
                          <a:ea typeface="ＭＳ 明朝"/>
                          <a:cs typeface="Century"/>
                        </a:rPr>
                        <a:t>(1</a:t>
                      </a:r>
                      <a:r>
                        <a:rPr lang="ja-JP" sz="3600" kern="100" dirty="0">
                          <a:effectLst/>
                          <a:latin typeface="Century"/>
                          <a:ea typeface="ＭＳ 明朝"/>
                          <a:cs typeface="Century"/>
                        </a:rPr>
                        <a:t>週間のうち</a:t>
                      </a:r>
                      <a:r>
                        <a:rPr lang="en-US" sz="3600" kern="100" dirty="0">
                          <a:effectLst/>
                          <a:latin typeface="Century"/>
                          <a:ea typeface="ＭＳ 明朝"/>
                          <a:cs typeface="Century"/>
                        </a:rPr>
                        <a:t>)</a:t>
                      </a:r>
                      <a:endParaRPr lang="ja-JP" sz="3600" kern="100" dirty="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dirty="0">
                          <a:effectLst/>
                          <a:latin typeface="ＭＳ 明朝"/>
                          <a:ea typeface="ＭＳ 明朝"/>
                          <a:cs typeface="Century"/>
                        </a:rPr>
                        <a:t>0.64</a:t>
                      </a:r>
                      <a:endParaRPr lang="ja-JP" sz="3600" kern="100" dirty="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6" name="表 25"/>
          <p:cNvGraphicFramePr>
            <a:graphicFrameLocks noGrp="1"/>
          </p:cNvGraphicFramePr>
          <p:nvPr>
            <p:extLst>
              <p:ext uri="{D42A27DB-BD31-4B8C-83A1-F6EECF244321}">
                <p14:modId xmlns:p14="http://schemas.microsoft.com/office/powerpoint/2010/main" val="3344922187"/>
              </p:ext>
            </p:extLst>
          </p:nvPr>
        </p:nvGraphicFramePr>
        <p:xfrm>
          <a:off x="20277776" y="16372510"/>
          <a:ext cx="7050408" cy="3465981"/>
        </p:xfrm>
        <a:graphic>
          <a:graphicData uri="http://schemas.openxmlformats.org/drawingml/2006/table">
            <a:tbl>
              <a:tblPr firstRow="1" firstCol="1" bandRow="1"/>
              <a:tblGrid>
                <a:gridCol w="5826272"/>
                <a:gridCol w="1224136"/>
              </a:tblGrid>
              <a:tr h="751406">
                <a:tc>
                  <a:txBody>
                    <a:bodyPr/>
                    <a:lstStyle/>
                    <a:p>
                      <a:pPr indent="127000" algn="ctr">
                        <a:spcAft>
                          <a:spcPts val="0"/>
                        </a:spcAft>
                      </a:pPr>
                      <a:r>
                        <a:rPr lang="ja-JP" sz="3600" kern="100" dirty="0">
                          <a:effectLst/>
                          <a:latin typeface="Century"/>
                          <a:ea typeface="ＭＳ 明朝"/>
                          <a:cs typeface="Century"/>
                        </a:rPr>
                        <a:t>アンケート項目回答</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indent="127000" algn="ctr">
                        <a:spcAft>
                          <a:spcPts val="0"/>
                        </a:spcAft>
                      </a:pPr>
                      <a:r>
                        <a:rPr lang="ja-JP" sz="3600" kern="100" dirty="0" smtClean="0">
                          <a:effectLst/>
                          <a:latin typeface="Century"/>
                          <a:ea typeface="ＭＳ 明朝"/>
                          <a:cs typeface="Century"/>
                        </a:rPr>
                        <a:t>値</a:t>
                      </a:r>
                      <a:endParaRPr lang="ja-JP" sz="3600" kern="100" dirty="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r>
              <a:tr h="707206">
                <a:tc>
                  <a:txBody>
                    <a:bodyPr/>
                    <a:lstStyle/>
                    <a:p>
                      <a:pPr indent="127000" algn="ctr">
                        <a:spcAft>
                          <a:spcPts val="0"/>
                        </a:spcAft>
                      </a:pPr>
                      <a:r>
                        <a:rPr lang="ja-JP" sz="3600" kern="100" dirty="0">
                          <a:effectLst/>
                          <a:latin typeface="Century"/>
                          <a:ea typeface="ＭＳ 明朝"/>
                          <a:cs typeface="Century"/>
                        </a:rPr>
                        <a:t>自分専用のゲーム専用機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spcAft>
                          <a:spcPts val="0"/>
                        </a:spcAft>
                      </a:pPr>
                      <a:r>
                        <a:rPr lang="en-US" sz="3600" kern="100" dirty="0">
                          <a:effectLst/>
                          <a:latin typeface="ＭＳ 明朝"/>
                          <a:ea typeface="ＭＳ 明朝"/>
                          <a:cs typeface="Century"/>
                        </a:rPr>
                        <a:t>1.42</a:t>
                      </a:r>
                      <a:endParaRPr lang="ja-JP" sz="3600" kern="100" dirty="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7206">
                <a:tc>
                  <a:txBody>
                    <a:bodyPr/>
                    <a:lstStyle/>
                    <a:p>
                      <a:pPr indent="127000" algn="ctr">
                        <a:spcAft>
                          <a:spcPts val="0"/>
                        </a:spcAft>
                      </a:pPr>
                      <a:r>
                        <a:rPr lang="ja-JP" sz="3600" kern="100" dirty="0">
                          <a:effectLst/>
                          <a:latin typeface="Century"/>
                          <a:ea typeface="ＭＳ 明朝"/>
                          <a:cs typeface="Century"/>
                        </a:rPr>
                        <a:t>家族と共用のゲーム専用機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spcAft>
                          <a:spcPts val="0"/>
                        </a:spcAft>
                      </a:pPr>
                      <a:r>
                        <a:rPr lang="en-US" sz="3600" kern="100" dirty="0">
                          <a:effectLst/>
                          <a:latin typeface="ＭＳ 明朝"/>
                          <a:ea typeface="ＭＳ 明朝"/>
                          <a:cs typeface="Century"/>
                        </a:rPr>
                        <a:t>0.72</a:t>
                      </a:r>
                      <a:endParaRPr lang="ja-JP" sz="3600" kern="100" dirty="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07206">
                <a:tc>
                  <a:txBody>
                    <a:bodyPr/>
                    <a:lstStyle/>
                    <a:p>
                      <a:pPr indent="127000" algn="ctr">
                        <a:spcAft>
                          <a:spcPts val="0"/>
                        </a:spcAft>
                      </a:pPr>
                      <a:r>
                        <a:rPr lang="ja-JP" sz="3600" kern="100">
                          <a:effectLst/>
                          <a:latin typeface="Century"/>
                          <a:ea typeface="ＭＳ 明朝"/>
                          <a:cs typeface="Century"/>
                        </a:rPr>
                        <a:t>シューティングゲーム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spcAft>
                          <a:spcPts val="0"/>
                        </a:spcAft>
                      </a:pPr>
                      <a:r>
                        <a:rPr lang="en-US" sz="3600" kern="100" dirty="0">
                          <a:effectLst/>
                          <a:latin typeface="ＭＳ 明朝"/>
                          <a:ea typeface="ＭＳ 明朝"/>
                          <a:cs typeface="Century"/>
                        </a:rPr>
                        <a:t>1.03</a:t>
                      </a:r>
                      <a:endParaRPr lang="ja-JP" sz="3600" kern="100" dirty="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92957">
                <a:tc>
                  <a:txBody>
                    <a:bodyPr/>
                    <a:lstStyle/>
                    <a:p>
                      <a:pPr indent="127000" algn="ctr">
                        <a:spcAft>
                          <a:spcPts val="0"/>
                        </a:spcAft>
                      </a:pPr>
                      <a:r>
                        <a:rPr lang="ja-JP" sz="3600" kern="100" dirty="0">
                          <a:effectLst/>
                          <a:latin typeface="Century"/>
                          <a:ea typeface="ＭＳ 明朝"/>
                          <a:cs typeface="Century"/>
                        </a:rPr>
                        <a:t>アクションゲーム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spcAft>
                          <a:spcPts val="0"/>
                        </a:spcAft>
                      </a:pPr>
                      <a:r>
                        <a:rPr lang="en-US" sz="3600" kern="100" dirty="0">
                          <a:effectLst/>
                          <a:latin typeface="ＭＳ 明朝"/>
                          <a:ea typeface="ＭＳ 明朝"/>
                          <a:cs typeface="Century"/>
                        </a:rPr>
                        <a:t>0.84</a:t>
                      </a:r>
                      <a:endParaRPr lang="ja-JP" sz="3600" kern="100" dirty="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29" name="テキスト ボックス 28"/>
          <p:cNvSpPr txBox="1"/>
          <p:nvPr/>
        </p:nvSpPr>
        <p:spPr>
          <a:xfrm>
            <a:off x="12986975" y="15157971"/>
            <a:ext cx="6408712" cy="954107"/>
          </a:xfrm>
          <a:prstGeom prst="rect">
            <a:avLst/>
          </a:prstGeom>
          <a:noFill/>
        </p:spPr>
        <p:txBody>
          <a:bodyPr wrap="square" rtlCol="0">
            <a:spAutoFit/>
          </a:bodyPr>
          <a:lstStyle/>
          <a:p>
            <a:pPr algn="ctr"/>
            <a:r>
              <a:rPr lang="ja-JP" altLang="ja-JP" sz="2800" dirty="0"/>
              <a:t>表</a:t>
            </a:r>
            <a:r>
              <a:rPr lang="en-US" altLang="ja-JP" sz="2800" dirty="0" smtClean="0"/>
              <a:t>1</a:t>
            </a:r>
            <a:r>
              <a:rPr lang="ja-JP" altLang="en-US" sz="2800" dirty="0" smtClean="0"/>
              <a:t>：</a:t>
            </a:r>
            <a:r>
              <a:rPr lang="en-US" altLang="ja-JP" sz="2800" dirty="0" smtClean="0"/>
              <a:t> </a:t>
            </a:r>
            <a:r>
              <a:rPr lang="ja-JP" altLang="ja-JP" sz="2800" dirty="0"/>
              <a:t>普段プレイするゲーム・ゲーム使用機器・ゲーム頻度の項目</a:t>
            </a:r>
            <a:r>
              <a:rPr lang="en-US" altLang="ja-JP" sz="2800" dirty="0"/>
              <a:t>(</a:t>
            </a:r>
            <a:r>
              <a:rPr lang="ja-JP" altLang="ja-JP" sz="2800" dirty="0"/>
              <a:t>効用パラメータ</a:t>
            </a:r>
            <a:r>
              <a:rPr lang="en-US" altLang="ja-JP" sz="2800" dirty="0"/>
              <a:t>)</a:t>
            </a:r>
            <a:endParaRPr kumimoji="1" lang="ja-JP" altLang="en-US" sz="2800" dirty="0"/>
          </a:p>
        </p:txBody>
      </p:sp>
      <p:sp>
        <p:nvSpPr>
          <p:cNvPr id="56" name="テキスト ボックス 55"/>
          <p:cNvSpPr txBox="1"/>
          <p:nvPr/>
        </p:nvSpPr>
        <p:spPr>
          <a:xfrm>
            <a:off x="20306456" y="15153286"/>
            <a:ext cx="6408712" cy="954107"/>
          </a:xfrm>
          <a:prstGeom prst="rect">
            <a:avLst/>
          </a:prstGeom>
          <a:noFill/>
        </p:spPr>
        <p:txBody>
          <a:bodyPr wrap="square" rtlCol="0">
            <a:spAutoFit/>
          </a:bodyPr>
          <a:lstStyle/>
          <a:p>
            <a:pPr algn="ctr"/>
            <a:r>
              <a:rPr lang="ja-JP" altLang="ja-JP" sz="2800" dirty="0" smtClean="0"/>
              <a:t>表</a:t>
            </a:r>
            <a:r>
              <a:rPr lang="en-US" altLang="ja-JP" sz="2800" dirty="0"/>
              <a:t>2</a:t>
            </a:r>
            <a:r>
              <a:rPr lang="ja-JP" altLang="en-US" sz="2800" dirty="0" smtClean="0"/>
              <a:t>： </a:t>
            </a:r>
            <a:r>
              <a:rPr lang="ja-JP" altLang="ja-JP" sz="2800" dirty="0" smtClean="0"/>
              <a:t>電子</a:t>
            </a:r>
            <a:r>
              <a:rPr lang="ja-JP" altLang="ja-JP" sz="2800" dirty="0"/>
              <a:t>機器所持・ゲーム作成</a:t>
            </a:r>
            <a:r>
              <a:rPr lang="ja-JP" altLang="ja-JP" sz="2800" dirty="0" smtClean="0"/>
              <a:t>の</a:t>
            </a:r>
            <a:endParaRPr lang="en-US" altLang="ja-JP" sz="2800" dirty="0" smtClean="0"/>
          </a:p>
          <a:p>
            <a:pPr algn="ctr"/>
            <a:r>
              <a:rPr lang="ja-JP" altLang="ja-JP" sz="2800" dirty="0" smtClean="0"/>
              <a:t>項目</a:t>
            </a:r>
            <a:r>
              <a:rPr lang="en-US" altLang="ja-JP" sz="2800" dirty="0"/>
              <a:t>(</a:t>
            </a:r>
            <a:r>
              <a:rPr lang="ja-JP" altLang="ja-JP" sz="2800" dirty="0"/>
              <a:t>効用パラメータ</a:t>
            </a:r>
            <a:r>
              <a:rPr lang="en-US" altLang="ja-JP" sz="2800" dirty="0"/>
              <a:t>)</a:t>
            </a:r>
            <a:endParaRPr kumimoji="1" lang="ja-JP" altLang="en-US" sz="2800" dirty="0"/>
          </a:p>
        </p:txBody>
      </p:sp>
      <p:graphicFrame>
        <p:nvGraphicFramePr>
          <p:cNvPr id="32" name="表 31"/>
          <p:cNvGraphicFramePr>
            <a:graphicFrameLocks noGrp="1"/>
          </p:cNvGraphicFramePr>
          <p:nvPr>
            <p:extLst>
              <p:ext uri="{D42A27DB-BD31-4B8C-83A1-F6EECF244321}">
                <p14:modId xmlns:p14="http://schemas.microsoft.com/office/powerpoint/2010/main" val="3813720006"/>
              </p:ext>
            </p:extLst>
          </p:nvPr>
        </p:nvGraphicFramePr>
        <p:xfrm>
          <a:off x="19082320" y="31195238"/>
          <a:ext cx="8337873" cy="3840480"/>
        </p:xfrm>
        <a:graphic>
          <a:graphicData uri="http://schemas.openxmlformats.org/drawingml/2006/table">
            <a:tbl>
              <a:tblPr firstRow="1" firstCol="1" bandRow="1"/>
              <a:tblGrid>
                <a:gridCol w="6251301"/>
                <a:gridCol w="2086572"/>
              </a:tblGrid>
              <a:tr h="510669">
                <a:tc>
                  <a:txBody>
                    <a:bodyPr/>
                    <a:lstStyle/>
                    <a:p>
                      <a:pPr indent="114300" algn="ctr">
                        <a:spcAft>
                          <a:spcPts val="0"/>
                        </a:spcAft>
                      </a:pPr>
                      <a:r>
                        <a:rPr lang="ja-JP" sz="3600" kern="100" dirty="0">
                          <a:effectLst/>
                          <a:latin typeface="Century"/>
                          <a:ea typeface="ＭＳ 明朝"/>
                          <a:cs typeface="Century"/>
                        </a:rPr>
                        <a:t>アンケート項目回答</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indent="114300" algn="ctr">
                        <a:spcAft>
                          <a:spcPts val="0"/>
                        </a:spcAft>
                      </a:pPr>
                      <a:r>
                        <a:rPr lang="ja-JP" sz="3600" kern="100">
                          <a:effectLst/>
                          <a:latin typeface="Century"/>
                          <a:ea typeface="ＭＳ 明朝"/>
                          <a:cs typeface="Century"/>
                        </a:rPr>
                        <a:t>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r>
              <a:tr h="440865">
                <a:tc>
                  <a:txBody>
                    <a:bodyPr/>
                    <a:lstStyle/>
                    <a:p>
                      <a:pPr indent="114300" algn="ctr">
                        <a:spcAft>
                          <a:spcPts val="0"/>
                        </a:spcAft>
                      </a:pPr>
                      <a:r>
                        <a:rPr lang="ja-JP" sz="3600" kern="100" dirty="0">
                          <a:effectLst/>
                          <a:latin typeface="Century"/>
                          <a:ea typeface="ＭＳ 明朝"/>
                          <a:cs typeface="Century"/>
                        </a:rPr>
                        <a:t>週に１回するかしないか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2.7</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3115">
                <a:tc>
                  <a:txBody>
                    <a:bodyPr/>
                    <a:lstStyle/>
                    <a:p>
                      <a:pPr indent="114300" algn="ctr">
                        <a:spcAft>
                          <a:spcPts val="0"/>
                        </a:spcAft>
                      </a:pPr>
                      <a:r>
                        <a:rPr lang="ja-JP" sz="3600" kern="100" dirty="0">
                          <a:effectLst/>
                          <a:latin typeface="Century"/>
                          <a:ea typeface="ＭＳ 明朝"/>
                          <a:cs typeface="Century"/>
                        </a:rPr>
                        <a:t>全く見ない</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1.91</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0865">
                <a:tc>
                  <a:txBody>
                    <a:bodyPr/>
                    <a:lstStyle/>
                    <a:p>
                      <a:pPr indent="114300" algn="ctr">
                        <a:spcAft>
                          <a:spcPts val="0"/>
                        </a:spcAft>
                      </a:pPr>
                      <a:r>
                        <a:rPr lang="ja-JP" sz="3600" kern="100" dirty="0">
                          <a:effectLst/>
                          <a:latin typeface="Century"/>
                          <a:ea typeface="ＭＳ 明朝"/>
                          <a:cs typeface="Century"/>
                        </a:rPr>
                        <a:t>週</a:t>
                      </a:r>
                      <a:r>
                        <a:rPr lang="en-US" sz="3600" kern="100" dirty="0">
                          <a:effectLst/>
                          <a:latin typeface="Century"/>
                          <a:ea typeface="ＭＳ 明朝"/>
                          <a:cs typeface="Century"/>
                        </a:rPr>
                        <a:t>3</a:t>
                      </a:r>
                      <a:r>
                        <a:rPr lang="ja-JP" sz="3600" kern="100" dirty="0">
                          <a:effectLst/>
                          <a:latin typeface="Century"/>
                          <a:ea typeface="ＭＳ 明朝"/>
                          <a:cs typeface="Century"/>
                        </a:rPr>
                        <a:t>～</a:t>
                      </a:r>
                      <a:r>
                        <a:rPr lang="en-US" sz="3600" kern="100" dirty="0">
                          <a:effectLst/>
                          <a:latin typeface="Century"/>
                          <a:ea typeface="ＭＳ 明朝"/>
                          <a:cs typeface="Century"/>
                        </a:rPr>
                        <a:t>6</a:t>
                      </a:r>
                      <a:r>
                        <a:rPr lang="ja-JP" sz="3600" kern="100" dirty="0">
                          <a:effectLst/>
                          <a:latin typeface="Century"/>
                          <a:ea typeface="ＭＳ 明朝"/>
                          <a:cs typeface="Century"/>
                        </a:rPr>
                        <a:t>回</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1.84</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0865">
                <a:tc>
                  <a:txBody>
                    <a:bodyPr/>
                    <a:lstStyle/>
                    <a:p>
                      <a:pPr indent="114300" algn="ctr">
                        <a:spcAft>
                          <a:spcPts val="0"/>
                        </a:spcAft>
                      </a:pPr>
                      <a:r>
                        <a:rPr lang="ja-JP" sz="3600" kern="100" dirty="0">
                          <a:effectLst/>
                          <a:latin typeface="Century"/>
                          <a:ea typeface="ＭＳ 明朝"/>
                          <a:cs typeface="Century"/>
                        </a:rPr>
                        <a:t>毎日</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1.35</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0865">
                <a:tc>
                  <a:txBody>
                    <a:bodyPr/>
                    <a:lstStyle/>
                    <a:p>
                      <a:pPr algn="ctr">
                        <a:spcAft>
                          <a:spcPts val="0"/>
                        </a:spcAft>
                      </a:pPr>
                      <a:r>
                        <a:rPr lang="ja-JP" sz="3600" kern="100" dirty="0">
                          <a:effectLst/>
                          <a:latin typeface="Century"/>
                          <a:ea typeface="ＭＳ 明朝"/>
                          <a:cs typeface="Century"/>
                        </a:rPr>
                        <a:t>ディズニーのアトラクション</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2.17</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3115">
                <a:tc>
                  <a:txBody>
                    <a:bodyPr/>
                    <a:lstStyle/>
                    <a:p>
                      <a:pPr algn="ctr">
                        <a:spcAft>
                          <a:spcPts val="0"/>
                        </a:spcAft>
                      </a:pPr>
                      <a:r>
                        <a:rPr lang="ja-JP" sz="3600" kern="100" dirty="0">
                          <a:effectLst/>
                          <a:latin typeface="Century"/>
                          <a:ea typeface="ＭＳ 明朝"/>
                          <a:cs typeface="Century"/>
                        </a:rPr>
                        <a:t>マイクラ</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dirty="0">
                          <a:effectLst/>
                          <a:latin typeface="ＭＳ 明朝"/>
                          <a:ea typeface="ＭＳ 明朝"/>
                          <a:cs typeface="Century"/>
                        </a:rPr>
                        <a:t>1.18</a:t>
                      </a:r>
                      <a:endParaRPr lang="ja-JP" sz="3600" kern="100" dirty="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37" name="表 36"/>
          <p:cNvGraphicFramePr>
            <a:graphicFrameLocks noGrp="1"/>
          </p:cNvGraphicFramePr>
          <p:nvPr>
            <p:extLst>
              <p:ext uri="{D42A27DB-BD31-4B8C-83A1-F6EECF244321}">
                <p14:modId xmlns:p14="http://schemas.microsoft.com/office/powerpoint/2010/main" val="3020845856"/>
              </p:ext>
            </p:extLst>
          </p:nvPr>
        </p:nvGraphicFramePr>
        <p:xfrm>
          <a:off x="11593488" y="31215755"/>
          <a:ext cx="6949798" cy="3816424"/>
        </p:xfrm>
        <a:graphic>
          <a:graphicData uri="http://schemas.openxmlformats.org/drawingml/2006/table">
            <a:tbl>
              <a:tblPr firstRow="1" firstCol="1" bandRow="1"/>
              <a:tblGrid>
                <a:gridCol w="5472608"/>
                <a:gridCol w="1477190"/>
              </a:tblGrid>
              <a:tr h="997262">
                <a:tc>
                  <a:txBody>
                    <a:bodyPr/>
                    <a:lstStyle/>
                    <a:p>
                      <a:pPr indent="114300" algn="ctr">
                        <a:spcAft>
                          <a:spcPts val="0"/>
                        </a:spcAft>
                      </a:pPr>
                      <a:r>
                        <a:rPr lang="ja-JP" sz="3600" kern="100" dirty="0">
                          <a:effectLst/>
                          <a:latin typeface="Century"/>
                          <a:ea typeface="ＭＳ 明朝"/>
                          <a:cs typeface="Century"/>
                        </a:rPr>
                        <a:t>アンケート項目回答</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c>
                  <a:txBody>
                    <a:bodyPr/>
                    <a:lstStyle/>
                    <a:p>
                      <a:pPr indent="114300" algn="ctr">
                        <a:spcAft>
                          <a:spcPts val="0"/>
                        </a:spcAft>
                      </a:pPr>
                      <a:r>
                        <a:rPr lang="ja-JP" sz="3600" kern="100" dirty="0">
                          <a:effectLst/>
                          <a:latin typeface="Century"/>
                          <a:ea typeface="ＭＳ 明朝"/>
                          <a:cs typeface="Century"/>
                        </a:rPr>
                        <a:t>値</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DD6EE"/>
                    </a:solidFill>
                  </a:tcPr>
                </a:tc>
              </a:tr>
              <a:tr h="860946">
                <a:tc>
                  <a:txBody>
                    <a:bodyPr/>
                    <a:lstStyle/>
                    <a:p>
                      <a:pPr indent="114300" algn="ctr">
                        <a:spcAft>
                          <a:spcPts val="0"/>
                        </a:spcAft>
                      </a:pPr>
                      <a:r>
                        <a:rPr lang="ja-JP" sz="3600" kern="100" dirty="0">
                          <a:effectLst/>
                          <a:latin typeface="Century"/>
                          <a:ea typeface="ＭＳ 明朝"/>
                          <a:cs typeface="Century"/>
                        </a:rPr>
                        <a:t>サバイバルゲーム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1.04</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43453">
                <a:tc>
                  <a:txBody>
                    <a:bodyPr/>
                    <a:lstStyle/>
                    <a:p>
                      <a:pPr indent="114300" algn="ctr">
                        <a:spcAft>
                          <a:spcPts val="0"/>
                        </a:spcAft>
                      </a:pPr>
                      <a:r>
                        <a:rPr lang="ja-JP" sz="3600" kern="100" dirty="0">
                          <a:effectLst/>
                          <a:latin typeface="Century"/>
                          <a:ea typeface="ＭＳ 明朝"/>
                          <a:cs typeface="Century"/>
                        </a:rPr>
                        <a:t>音楽ゲーム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a:effectLst/>
                          <a:latin typeface="ＭＳ 明朝"/>
                          <a:ea typeface="ＭＳ 明朝"/>
                          <a:cs typeface="Century"/>
                        </a:rPr>
                        <a:t>0.99</a:t>
                      </a:r>
                      <a:endParaRPr lang="ja-JP" sz="3600" kern="10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014763">
                <a:tc>
                  <a:txBody>
                    <a:bodyPr/>
                    <a:lstStyle/>
                    <a:p>
                      <a:pPr indent="114300" algn="ctr">
                        <a:spcAft>
                          <a:spcPts val="0"/>
                        </a:spcAft>
                      </a:pPr>
                      <a:r>
                        <a:rPr lang="ja-JP" sz="3600" kern="100" dirty="0">
                          <a:effectLst/>
                          <a:latin typeface="Century"/>
                          <a:ea typeface="ＭＳ 明朝"/>
                          <a:cs typeface="Century"/>
                        </a:rPr>
                        <a:t>シュミレーションゲーム</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ctr">
                        <a:spcAft>
                          <a:spcPts val="0"/>
                        </a:spcAft>
                      </a:pPr>
                      <a:r>
                        <a:rPr lang="en-US" sz="3600" kern="100" dirty="0">
                          <a:effectLst/>
                          <a:latin typeface="ＭＳ 明朝"/>
                          <a:ea typeface="ＭＳ 明朝"/>
                          <a:cs typeface="Century"/>
                        </a:rPr>
                        <a:t>0.81</a:t>
                      </a:r>
                      <a:endParaRPr lang="ja-JP" sz="3600" kern="100" dirty="0">
                        <a:effectLst/>
                        <a:latin typeface="Century"/>
                        <a:ea typeface="ＭＳ 明朝"/>
                        <a:cs typeface="Century"/>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9" name="テキスト ボックス 58"/>
          <p:cNvSpPr txBox="1"/>
          <p:nvPr/>
        </p:nvSpPr>
        <p:spPr>
          <a:xfrm>
            <a:off x="12417958" y="30119732"/>
            <a:ext cx="5656249" cy="954107"/>
          </a:xfrm>
          <a:prstGeom prst="rect">
            <a:avLst/>
          </a:prstGeom>
          <a:noFill/>
        </p:spPr>
        <p:txBody>
          <a:bodyPr wrap="square" rtlCol="0">
            <a:spAutoFit/>
          </a:bodyPr>
          <a:lstStyle/>
          <a:p>
            <a:pPr algn="ctr"/>
            <a:r>
              <a:rPr lang="ja-JP" altLang="ja-JP" sz="2800" dirty="0" smtClean="0"/>
              <a:t>表</a:t>
            </a:r>
            <a:r>
              <a:rPr lang="en-US" altLang="ja-JP" sz="2800" dirty="0"/>
              <a:t>3</a:t>
            </a:r>
            <a:r>
              <a:rPr lang="ja-JP" altLang="en-US" sz="2800" dirty="0" smtClean="0"/>
              <a:t>：</a:t>
            </a:r>
            <a:r>
              <a:rPr lang="en-US" altLang="ja-JP" sz="2800" dirty="0" smtClean="0"/>
              <a:t> </a:t>
            </a:r>
            <a:r>
              <a:rPr lang="ja-JP" altLang="ja-JP" sz="2800" dirty="0"/>
              <a:t>普段プレイする</a:t>
            </a:r>
            <a:r>
              <a:rPr lang="ja-JP" altLang="ja-JP" sz="2800" dirty="0" smtClean="0"/>
              <a:t>ゲーム</a:t>
            </a:r>
            <a:endParaRPr lang="en-US" altLang="ja-JP" sz="2800" dirty="0" smtClean="0"/>
          </a:p>
          <a:p>
            <a:pPr algn="ctr"/>
            <a:r>
              <a:rPr lang="ja-JP" altLang="ja-JP" sz="2800" dirty="0" smtClean="0"/>
              <a:t>の</a:t>
            </a:r>
            <a:r>
              <a:rPr lang="ja-JP" altLang="ja-JP" sz="2800" dirty="0"/>
              <a:t>項目</a:t>
            </a:r>
            <a:r>
              <a:rPr lang="en-US" altLang="ja-JP" sz="2800" dirty="0"/>
              <a:t>(</a:t>
            </a:r>
            <a:r>
              <a:rPr lang="ja-JP" altLang="ja-JP" sz="2800" dirty="0"/>
              <a:t>効用パラメータ</a:t>
            </a:r>
            <a:r>
              <a:rPr lang="en-US" altLang="ja-JP" sz="2800" dirty="0"/>
              <a:t>)</a:t>
            </a:r>
            <a:endParaRPr kumimoji="1" lang="ja-JP" altLang="en-US" sz="2800" dirty="0"/>
          </a:p>
        </p:txBody>
      </p:sp>
      <p:sp>
        <p:nvSpPr>
          <p:cNvPr id="60" name="テキスト ボックス 59"/>
          <p:cNvSpPr txBox="1"/>
          <p:nvPr/>
        </p:nvSpPr>
        <p:spPr>
          <a:xfrm>
            <a:off x="19621411" y="30119731"/>
            <a:ext cx="6408712" cy="954107"/>
          </a:xfrm>
          <a:prstGeom prst="rect">
            <a:avLst/>
          </a:prstGeom>
          <a:noFill/>
        </p:spPr>
        <p:txBody>
          <a:bodyPr wrap="square" rtlCol="0">
            <a:spAutoFit/>
          </a:bodyPr>
          <a:lstStyle/>
          <a:p>
            <a:pPr algn="ctr"/>
            <a:r>
              <a:rPr lang="ja-JP" altLang="ja-JP" sz="2800" dirty="0" smtClean="0"/>
              <a:t>表</a:t>
            </a:r>
            <a:r>
              <a:rPr lang="en-US" altLang="ja-JP" sz="2800" dirty="0"/>
              <a:t>4</a:t>
            </a:r>
            <a:r>
              <a:rPr lang="ja-JP" altLang="en-US" sz="2800" dirty="0" smtClean="0"/>
              <a:t>：</a:t>
            </a:r>
            <a:r>
              <a:rPr lang="en-US" altLang="ja-JP" sz="2800" dirty="0" smtClean="0"/>
              <a:t> </a:t>
            </a:r>
            <a:r>
              <a:rPr lang="en-US" altLang="ja-JP" sz="2800" dirty="0"/>
              <a:t>1</a:t>
            </a:r>
            <a:r>
              <a:rPr lang="ja-JP" altLang="ja-JP" sz="2800" dirty="0"/>
              <a:t>週間の</a:t>
            </a:r>
            <a:r>
              <a:rPr lang="en-US" altLang="ja-JP" sz="2800" dirty="0"/>
              <a:t>YouTube</a:t>
            </a:r>
            <a:r>
              <a:rPr lang="ja-JP" altLang="ja-JP" sz="2800" dirty="0"/>
              <a:t>閲覧頻度</a:t>
            </a:r>
            <a:r>
              <a:rPr lang="ja-JP" altLang="ja-JP" sz="2800" dirty="0" smtClean="0"/>
              <a:t>と</a:t>
            </a:r>
            <a:endParaRPr lang="en-US" altLang="ja-JP" sz="2800" dirty="0" smtClean="0"/>
          </a:p>
          <a:p>
            <a:pPr algn="ctr"/>
            <a:r>
              <a:rPr lang="ja-JP" altLang="ja-JP" sz="2800" dirty="0" smtClean="0"/>
              <a:t>コンテンツ</a:t>
            </a:r>
            <a:r>
              <a:rPr lang="ja-JP" altLang="ja-JP" sz="2800" dirty="0"/>
              <a:t>の項目</a:t>
            </a:r>
            <a:r>
              <a:rPr lang="en-US" altLang="ja-JP" sz="2800" dirty="0"/>
              <a:t>(</a:t>
            </a:r>
            <a:r>
              <a:rPr lang="ja-JP" altLang="ja-JP" sz="2800" dirty="0"/>
              <a:t>効用パラメータ</a:t>
            </a:r>
            <a:r>
              <a:rPr lang="en-US" altLang="ja-JP" sz="2800" dirty="0"/>
              <a:t>)</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9947</TotalTime>
  <Words>403</Words>
  <Application>Microsoft Office PowerPoint</Application>
  <PresentationFormat>ユーザー設定</PresentationFormat>
  <Paragraphs>129</Paragraphs>
  <Slides>1</Slides>
  <Notes>1</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vt:i4>
      </vt:variant>
    </vt:vector>
  </HeadingPairs>
  <TitlesOfParts>
    <vt:vector size="12" baseType="lpstr">
      <vt:lpstr>Arial</vt:lpstr>
      <vt:lpstr>ＭＳ Ｐゴシック</vt:lpstr>
      <vt:lpstr>ＭＳ 明朝</vt:lpstr>
      <vt:lpstr>Wingdings</vt:lpstr>
      <vt:lpstr>Hiragino Maru Gothic Pro</vt:lpstr>
      <vt:lpstr>Cambria Math</vt:lpstr>
      <vt:lpstr>Calibri</vt:lpstr>
      <vt:lpstr>Century</vt:lpstr>
      <vt:lpstr>BIZ UDPゴシック</vt:lpstr>
      <vt:lpstr>宋体</vt:lpstr>
      <vt:lpstr>Office ​​テーマ</vt:lpstr>
      <vt:lpstr>PowerPoint プレゼンテーション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SBRA2015_S-2-13</dc:title>
  <dc:creator>fujita</dc:creator>
  <cp:lastModifiedBy>user</cp:lastModifiedBy>
  <cp:revision>314</cp:revision>
  <cp:lastPrinted>2023-11-13T10:55:46Z</cp:lastPrinted>
  <dcterms:created xsi:type="dcterms:W3CDTF">2023-11-13T10:55:46Z</dcterms:created>
  <dcterms:modified xsi:type="dcterms:W3CDTF">2024-08-07T07:57:56Z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AF699869D03E6601F3F24D659183F771_43</vt:lpwstr>
  </property>
  <property fmtid="{D5CDD505-2E9C-101B-9397-08002B2CF9AE}" pid="3" name="KSOProductBuildVer">
    <vt:lpwstr>2052-6.2.2.8394</vt:lpwstr>
  </property>
</Properties>
</file>